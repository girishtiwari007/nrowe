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Ordinary Working Expenses (OWE) Portal - Fresh Export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Financial Year 2026-27 | Moradabad Division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Generated: 25 Sept 2026, 04:11 pm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Actual data through: SEP 2026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Validation ID: 20260925-history-compare19-autoexports-b5442eaa0504-eb3dc300-20260925104108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Rule: live data reconciled before export; minimum font 10 pt; all content within 0.5 inch margins.</a:t>
            </a:r>
            <a:endParaRPr lang="en-I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Executive Summary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Active expenditure PUs: 56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Gross budget: 3414.53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Actual / committed: 1893.17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Balance: 1521.36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Utilisation: 55.4%</a:t>
            </a:r>
            <a:endParaRPr lang="en-I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Month-wise Actuals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APR: 452.17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MAY: 375.17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JUN: 340.88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JUL: 395.97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AUG: 294.06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SEP: 34.92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Total actual: 1893.17 Cr</a:t>
            </a:r>
            <a:endParaRPr lang="en-I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PU Utilisation - Highest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PU-44 | ARR OTH ALW | 1939.3% | Actual 22.47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PU-49 | O/S OF MAN POWER FOR TRACK MNT | 1173.2% | Actual 0.64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PU-29 | Remu. Re-engaged Staff | No budget | Actual 0.05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PU-39 | ATD | 460.0% | Actual 0.00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PU-53 | All India LTC | 292.8% | Actual 0.18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PU-99 | Other Expenses/Misc | 128.1% | Actual 230.26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PU-25 | Children Edu. Allow | 98.9% | Actual 37.51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PU-31 | Direct Purchase of Fuel | 85.8% | Actual 8.17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PU-27 | Materials from stock | 80.5% | Actual 86.02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PU-11 | OT | 77.1% | Actual 5.96 Cr</a:t>
            </a:r>
            <a:endParaRPr lang="en-I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AE vs BP PU Summary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Logic: BP = BG / 12 x 5; AE-BP = cumulative actual minus BP.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Reporting through: AUG 2026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HQ list: PU-01, PU-02, PU-10, PU-11, PU-12, PU-16, PU-25, PU-27, PU-30, PU-31, PU-32, PU-38, PU-44, PU-60, PU-72, PU-73, PU-75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PU-60 | AE 271.54 Cr | BP 195.97 Cr | Variance +75.57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PU-32 | AE 182.41 Cr | BP 135.60 Cr | Variance +46.82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PU-27 | AE 86.01 Cr | BP 44.53 Cr | Variance +41.48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PU-30 | AE 191.65 Cr | BP 161.61 Cr | Variance +30.04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PU-01 | AE 307.18 Cr | BP 279.43 Cr | Variance +27.75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PU-02 | AE 196.66 Cr | BP 170.85 Cr | Variance +25.81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PU-44 | AE 22.47 Cr | BP 0.48 Cr | Variance +21.99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PU-25 | AE 37.50 Cr | BP 15.81 Cr | Variance +21.69 Cr</a:t>
            </a:r>
            <a:endParaRPr lang="en-I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Validation and Fixed Export Rules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Current year PU budget - 41 active PUs, 3414.53 Cr gross budget, 1893.17 Cr actual till date.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PU actual/month reconciliation - Every loaded PU actual-till value equals the sum of its actual month values.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Grand-total reconciliation - Budget and month grand totals reconcile with all loaded PU rows.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Month-wise CY actuals - 34 active PUs have actuals through SEP 2026.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Demand / SMH Summary - 11 main rows, 3259.59 Cr OBA/BG_ISL; Suspense kept separate.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Department wise detail - 914 detail rows available, 3414.53 Cr detail budget.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Display exclusions - Department 00, PU-98 recoveries, and PU-72/73/74/75 display exclusions remain active.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Excel: landscape, fit-to-one-page-wide, print margins, minimum 10 pt.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PDF: landscape A4, repeating headers, horizontal page breaks, minimum 10 pt.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PowerPoint: 16:9, 0.5 inch safe margins, minimum 10 pt.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Exports are created on demand from current portal memory; old downloaded files are not reused.</a:t>
            </a:r>
            <a:endParaRPr lang="en-I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al">
  <a:themeElements>
    <a:clrScheme name="Portal">
      <a:dk1>
        <a:srgbClr val="0A1628"/>
      </a:dk1>
      <a:lt1>
        <a:srgbClr val="FFFFFF"/>
      </a:lt1>
      <a:dk2>
        <a:srgbClr val="203040"/>
      </a:dk2>
      <a:lt2>
        <a:srgbClr val="F3F7FB"/>
      </a:lt2>
      <a:accent1>
        <a:srgbClr val="1A3A6A"/>
      </a:accent1>
      <a:accent2>
        <a:srgbClr val="1A7A4A"/>
      </a:accent2>
      <a:accent3>
        <a:srgbClr val="C9A84C"/>
      </a:accent3>
      <a:accent4>
        <a:srgbClr val="60708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ort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ort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Ordinary Working Expenses (OWE) Portal</Application>
  <Slides>6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Ordinary Working Expenses (OWE) Portal Fresh Report</dc:title>
  <dc:creator>Ordinary Working Expenses (OWE) Portal</dc:creator>
  <dcterms:created xsi:type="dcterms:W3CDTF">2026-09-25T10:41:08.626Z</dcterms:created>
</cp:coreProperties>
</file>