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Layouts/slideLayout1.xml" ContentType="application/vnd.openxmlformats-officedocument.presentationml.slideLayout+xml"/>
  <Override PartName="/ppt/theme/theme1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</Types>
</file>

<file path=_rels/.rels><?xml version="1.0" encoding="UTF-8" standalone="yes"?>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</p:sldIdLst>
  <p:sldSz cx="12192000" cy="6858000" type="screen16x9"/>
  <p:notesSz cx="6858000" cy="9144000"/>
</p:presentation>
</file>

<file path=ppt/_rels/presentation.xml.rels><?xml version="1.0" encoding="UTF-8" standalone="yes"?>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/Relationships>
</file>

<file path=ppt/slideLayouts/_rels/slideLayout1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>
  <p:cSld name="Blank">
    <p:spTree>
      <p:nvGrpSpPr>
        <p:cNvPr id="1" name=""/>
        <p:cNvGrpSpPr/>
        <p:nvPr/>
      </p:nvGrpSpPr>
      <p:grpSpPr/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</p:spTree>
  </p:cSld>
  <p:clrMap accent1="accent1" accent2="accent2" accent3="accent3" accent4="accent4" accent5="accent5" accent6="accent6" bg1="lt1" bg2="lt2" folHlink="folHlink" hlink="hlink" tx1="dk1" tx2="dk2"/>
  <p:sldLayoutIdLst>
    <p:sldLayoutId id="2147483649" r:id="rId1"/>
  </p:sldLayoutIdLst>
  <p:txStyles>
    <p:titleStyle/>
    <p:bodyStyle/>
    <p:otherStyle/>
  </p:txStyles>
</p:sldMaster>
</file>

<file path=ppt/slides/_rels/slide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Header band"/>
          <p:cNvSpPr/>
          <p:nvPr/>
        </p:nvSpPr>
        <p:spPr>
          <a:xfrm>
            <a:off x="0" y="0"/>
            <a:ext cx="12192000" cy="900000"/>
          </a:xfrm>
          <a:prstGeom prst="rect">
            <a:avLst/>
          </a:prstGeom>
          <a:solidFill>
            <a:srgbClr val="0A1628"/>
          </a:solidFill>
          <a:ln>
            <a:noFill/>
          </a:ln>
        </p:spPr>
      </p:sp>
      <p:sp>
        <p:nvSpPr>
          <p:cNvPr id="3" name="Title"/>
          <p:cNvSpPr txBox="1"/>
          <p:nvPr/>
        </p:nvSpPr>
        <p:spPr>
          <a:xfrm>
            <a:off x="457200" y="170000"/>
            <a:ext cx="11277600" cy="60000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anchor="t"/>
          <a:lstStyle/>
          <a:p>
            <a:r>
              <a:rPr lang="en-IN" sz="2200" b="1" dirty="0">
                <a:solidFill>
                  <a:srgbClr val="FFFFFF"/>
                </a:solidFill>
                <a:latin typeface="Arial"/>
              </a:rPr>
              <a:t>Revenue Liability Portal - Fresh Export</a:t>
            </a:r>
            <a:endParaRPr lang="en-IN" sz="2200"/>
          </a:p>
        </p:txBody>
      </p:sp>
      <p:sp>
        <p:nvSpPr>
          <p:cNvPr id="4" name="Content"/>
          <p:cNvSpPr txBox="1"/>
          <p:nvPr/>
        </p:nvSpPr>
        <p:spPr>
          <a:xfrm>
            <a:off x="548640" y="1120000"/>
            <a:ext cx="11094720" cy="500000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anchor="t"/>
          <a:lstStyle/>
          <a:p>
            <a:r>
              <a:rPr lang="en-IN" sz="1000" b="0" dirty="0">
                <a:solidFill>
                  <a:srgbClr val="203040"/>
                </a:solidFill>
                <a:latin typeface="Arial"/>
              </a:rPr>
              <a:t>Financial Year 2026-27 | Moradabad Division</a:t>
            </a:r>
            <a:endParaRPr lang="en-IN" sz="1000"/>
          </a:p>
          <a:p>
            <a:r>
              <a:rPr lang="en-IN" sz="1000" b="0" dirty="0">
                <a:solidFill>
                  <a:srgbClr val="203040"/>
                </a:solidFill>
                <a:latin typeface="Arial"/>
              </a:rPr>
              <a:t>Generated: 16 Sept 2026, 10:58 am</a:t>
            </a:r>
            <a:endParaRPr lang="en-IN" sz="1000"/>
          </a:p>
          <a:p>
            <a:r>
              <a:rPr lang="en-IN" sz="1000" b="0" dirty="0">
                <a:solidFill>
                  <a:srgbClr val="203040"/>
                </a:solidFill>
                <a:latin typeface="Arial"/>
              </a:rPr>
              <a:t>Actual data through: SEP 2026</a:t>
            </a:r>
            <a:endParaRPr lang="en-IN" sz="1000"/>
          </a:p>
          <a:p>
            <a:r>
              <a:rPr lang="en-IN" sz="1000" b="0" dirty="0">
                <a:solidFill>
                  <a:srgbClr val="203040"/>
                </a:solidFill>
                <a:latin typeface="Arial"/>
              </a:rPr>
              <a:t>Validation ID: 20260916-office-integrity16-autoexports-5932b9e68b04-f060d85a-20260916052849</a:t>
            </a:r>
            <a:endParaRPr lang="en-IN" sz="1000"/>
          </a:p>
          <a:p>
            <a:r>
              <a:rPr lang="en-IN" sz="1000" b="0" dirty="0">
                <a:solidFill>
                  <a:srgbClr val="203040"/>
                </a:solidFill>
                <a:latin typeface="Arial"/>
              </a:rPr>
              <a:t>Rule: live data reconciled before export; minimum font 10 pt; all content within 0.5 inch margins.</a:t>
            </a:r>
            <a:endParaRPr lang="en-IN" sz="100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Header band"/>
          <p:cNvSpPr/>
          <p:nvPr/>
        </p:nvSpPr>
        <p:spPr>
          <a:xfrm>
            <a:off x="0" y="0"/>
            <a:ext cx="12192000" cy="900000"/>
          </a:xfrm>
          <a:prstGeom prst="rect">
            <a:avLst/>
          </a:prstGeom>
          <a:solidFill>
            <a:srgbClr val="0A1628"/>
          </a:solidFill>
          <a:ln>
            <a:noFill/>
          </a:ln>
        </p:spPr>
      </p:sp>
      <p:sp>
        <p:nvSpPr>
          <p:cNvPr id="3" name="Title"/>
          <p:cNvSpPr txBox="1"/>
          <p:nvPr/>
        </p:nvSpPr>
        <p:spPr>
          <a:xfrm>
            <a:off x="457200" y="170000"/>
            <a:ext cx="11277600" cy="60000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anchor="t"/>
          <a:lstStyle/>
          <a:p>
            <a:r>
              <a:rPr lang="en-IN" sz="2200" b="1" dirty="0">
                <a:solidFill>
                  <a:srgbClr val="FFFFFF"/>
                </a:solidFill>
                <a:latin typeface="Arial"/>
              </a:rPr>
              <a:t>Executive Summary</a:t>
            </a:r>
            <a:endParaRPr lang="en-IN" sz="2200"/>
          </a:p>
        </p:txBody>
      </p:sp>
      <p:sp>
        <p:nvSpPr>
          <p:cNvPr id="4" name="Content"/>
          <p:cNvSpPr txBox="1"/>
          <p:nvPr/>
        </p:nvSpPr>
        <p:spPr>
          <a:xfrm>
            <a:off x="548640" y="1120000"/>
            <a:ext cx="11094720" cy="500000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anchor="t"/>
          <a:lstStyle/>
          <a:p>
            <a:r>
              <a:rPr lang="en-IN" sz="1000" b="0" dirty="0">
                <a:solidFill>
                  <a:srgbClr val="203040"/>
                </a:solidFill>
                <a:latin typeface="Arial"/>
              </a:rPr>
              <a:t>Active expenditure PUs: 56</a:t>
            </a:r>
            <a:endParaRPr lang="en-IN" sz="1000"/>
          </a:p>
          <a:p>
            <a:r>
              <a:rPr lang="en-IN" sz="1000" b="0" dirty="0">
                <a:solidFill>
                  <a:srgbClr val="203040"/>
                </a:solidFill>
                <a:latin typeface="Arial"/>
              </a:rPr>
              <a:t>Gross budget: 3414.53 Cr</a:t>
            </a:r>
            <a:endParaRPr lang="en-IN" sz="1000"/>
          </a:p>
          <a:p>
            <a:r>
              <a:rPr lang="en-IN" sz="1000" b="0" dirty="0">
                <a:solidFill>
                  <a:srgbClr val="203040"/>
                </a:solidFill>
                <a:latin typeface="Arial"/>
              </a:rPr>
              <a:t>Actual / committed: 1883.52 Cr</a:t>
            </a:r>
            <a:endParaRPr lang="en-IN" sz="1000"/>
          </a:p>
          <a:p>
            <a:r>
              <a:rPr lang="en-IN" sz="1000" b="0" dirty="0">
                <a:solidFill>
                  <a:srgbClr val="203040"/>
                </a:solidFill>
                <a:latin typeface="Arial"/>
              </a:rPr>
              <a:t>Balance: 1531.01 Cr</a:t>
            </a:r>
            <a:endParaRPr lang="en-IN" sz="1000"/>
          </a:p>
          <a:p>
            <a:r>
              <a:rPr lang="en-IN" sz="1000" b="0" dirty="0">
                <a:solidFill>
                  <a:srgbClr val="203040"/>
                </a:solidFill>
                <a:latin typeface="Arial"/>
              </a:rPr>
              <a:t>Utilisation: 55.2%</a:t>
            </a:r>
            <a:endParaRPr lang="en-IN" sz="100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Header band"/>
          <p:cNvSpPr/>
          <p:nvPr/>
        </p:nvSpPr>
        <p:spPr>
          <a:xfrm>
            <a:off x="0" y="0"/>
            <a:ext cx="12192000" cy="900000"/>
          </a:xfrm>
          <a:prstGeom prst="rect">
            <a:avLst/>
          </a:prstGeom>
          <a:solidFill>
            <a:srgbClr val="0A1628"/>
          </a:solidFill>
          <a:ln>
            <a:noFill/>
          </a:ln>
        </p:spPr>
      </p:sp>
      <p:sp>
        <p:nvSpPr>
          <p:cNvPr id="3" name="Title"/>
          <p:cNvSpPr txBox="1"/>
          <p:nvPr/>
        </p:nvSpPr>
        <p:spPr>
          <a:xfrm>
            <a:off x="457200" y="170000"/>
            <a:ext cx="11277600" cy="60000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anchor="t"/>
          <a:lstStyle/>
          <a:p>
            <a:r>
              <a:rPr lang="en-IN" sz="2200" b="1" dirty="0">
                <a:solidFill>
                  <a:srgbClr val="FFFFFF"/>
                </a:solidFill>
                <a:latin typeface="Arial"/>
              </a:rPr>
              <a:t>Month-wise Actuals</a:t>
            </a:r>
            <a:endParaRPr lang="en-IN" sz="2200"/>
          </a:p>
        </p:txBody>
      </p:sp>
      <p:sp>
        <p:nvSpPr>
          <p:cNvPr id="4" name="Content"/>
          <p:cNvSpPr txBox="1"/>
          <p:nvPr/>
        </p:nvSpPr>
        <p:spPr>
          <a:xfrm>
            <a:off x="548640" y="1120000"/>
            <a:ext cx="11094720" cy="500000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anchor="t"/>
          <a:lstStyle/>
          <a:p>
            <a:r>
              <a:rPr lang="en-IN" sz="1000" b="0" dirty="0">
                <a:solidFill>
                  <a:srgbClr val="203040"/>
                </a:solidFill>
                <a:latin typeface="Arial"/>
              </a:rPr>
              <a:t>APR: 452.17 Cr</a:t>
            </a:r>
            <a:endParaRPr lang="en-IN" sz="1000"/>
          </a:p>
          <a:p>
            <a:r>
              <a:rPr lang="en-IN" sz="1000" b="0" dirty="0">
                <a:solidFill>
                  <a:srgbClr val="203040"/>
                </a:solidFill>
                <a:latin typeface="Arial"/>
              </a:rPr>
              <a:t>MAY: 375.17 Cr</a:t>
            </a:r>
            <a:endParaRPr lang="en-IN" sz="1000"/>
          </a:p>
          <a:p>
            <a:r>
              <a:rPr lang="en-IN" sz="1000" b="0" dirty="0">
                <a:solidFill>
                  <a:srgbClr val="203040"/>
                </a:solidFill>
                <a:latin typeface="Arial"/>
              </a:rPr>
              <a:t>JUN: 340.88 Cr</a:t>
            </a:r>
            <a:endParaRPr lang="en-IN" sz="1000"/>
          </a:p>
          <a:p>
            <a:r>
              <a:rPr lang="en-IN" sz="1000" b="0" dirty="0">
                <a:solidFill>
                  <a:srgbClr val="203040"/>
                </a:solidFill>
                <a:latin typeface="Arial"/>
              </a:rPr>
              <a:t>JUL: 395.97 Cr</a:t>
            </a:r>
            <a:endParaRPr lang="en-IN" sz="1000"/>
          </a:p>
          <a:p>
            <a:r>
              <a:rPr lang="en-IN" sz="1000" b="0" dirty="0">
                <a:solidFill>
                  <a:srgbClr val="203040"/>
                </a:solidFill>
                <a:latin typeface="Arial"/>
              </a:rPr>
              <a:t>AUG: 294.06 Cr</a:t>
            </a:r>
            <a:endParaRPr lang="en-IN" sz="1000"/>
          </a:p>
          <a:p>
            <a:r>
              <a:rPr lang="en-IN" sz="1000" b="0" dirty="0">
                <a:solidFill>
                  <a:srgbClr val="203040"/>
                </a:solidFill>
                <a:latin typeface="Arial"/>
              </a:rPr>
              <a:t>SEP: 25.28 Cr</a:t>
            </a:r>
            <a:endParaRPr lang="en-IN" sz="1000"/>
          </a:p>
          <a:p>
            <a:r>
              <a:rPr lang="en-IN" sz="1000" b="0" dirty="0">
                <a:solidFill>
                  <a:srgbClr val="203040"/>
                </a:solidFill>
                <a:latin typeface="Arial"/>
              </a:rPr>
              <a:t>Total actual: 1883.52 Cr</a:t>
            </a:r>
            <a:endParaRPr lang="en-IN" sz="100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Header band"/>
          <p:cNvSpPr/>
          <p:nvPr/>
        </p:nvSpPr>
        <p:spPr>
          <a:xfrm>
            <a:off x="0" y="0"/>
            <a:ext cx="12192000" cy="900000"/>
          </a:xfrm>
          <a:prstGeom prst="rect">
            <a:avLst/>
          </a:prstGeom>
          <a:solidFill>
            <a:srgbClr val="0A1628"/>
          </a:solidFill>
          <a:ln>
            <a:noFill/>
          </a:ln>
        </p:spPr>
      </p:sp>
      <p:sp>
        <p:nvSpPr>
          <p:cNvPr id="3" name="Title"/>
          <p:cNvSpPr txBox="1"/>
          <p:nvPr/>
        </p:nvSpPr>
        <p:spPr>
          <a:xfrm>
            <a:off x="457200" y="170000"/>
            <a:ext cx="11277600" cy="60000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anchor="t"/>
          <a:lstStyle/>
          <a:p>
            <a:r>
              <a:rPr lang="en-IN" sz="2200" b="1" dirty="0">
                <a:solidFill>
                  <a:srgbClr val="FFFFFF"/>
                </a:solidFill>
                <a:latin typeface="Arial"/>
              </a:rPr>
              <a:t>PU Utilisation - Highest</a:t>
            </a:r>
            <a:endParaRPr lang="en-IN" sz="2200"/>
          </a:p>
        </p:txBody>
      </p:sp>
      <p:sp>
        <p:nvSpPr>
          <p:cNvPr id="4" name="Content"/>
          <p:cNvSpPr txBox="1"/>
          <p:nvPr/>
        </p:nvSpPr>
        <p:spPr>
          <a:xfrm>
            <a:off x="548640" y="1120000"/>
            <a:ext cx="11094720" cy="500000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anchor="t"/>
          <a:lstStyle/>
          <a:p>
            <a:r>
              <a:rPr lang="en-IN" sz="1000" b="0" dirty="0">
                <a:solidFill>
                  <a:srgbClr val="203040"/>
                </a:solidFill>
                <a:latin typeface="Arial"/>
              </a:rPr>
              <a:t>PU-44 | ARR OTH ALW | 1939.3% | Actual 22.47 Cr</a:t>
            </a:r>
            <a:endParaRPr lang="en-IN" sz="1000"/>
          </a:p>
          <a:p>
            <a:r>
              <a:rPr lang="en-IN" sz="1000" b="0" dirty="0">
                <a:solidFill>
                  <a:srgbClr val="203040"/>
                </a:solidFill>
                <a:latin typeface="Arial"/>
              </a:rPr>
              <a:t>PU-49 | O/S OF MAN POWER FOR TRACK MNT | 1173.2% | Actual 0.64 Cr</a:t>
            </a:r>
            <a:endParaRPr lang="en-IN" sz="1000"/>
          </a:p>
          <a:p>
            <a:r>
              <a:rPr lang="en-IN" sz="1000" b="0" dirty="0">
                <a:solidFill>
                  <a:srgbClr val="203040"/>
                </a:solidFill>
                <a:latin typeface="Arial"/>
              </a:rPr>
              <a:t>PU-29 | Remu. Re-engaged Staff | No budget | Actual 0.05 Cr</a:t>
            </a:r>
            <a:endParaRPr lang="en-IN" sz="1000"/>
          </a:p>
          <a:p>
            <a:r>
              <a:rPr lang="en-IN" sz="1000" b="0" dirty="0">
                <a:solidFill>
                  <a:srgbClr val="203040"/>
                </a:solidFill>
                <a:latin typeface="Arial"/>
              </a:rPr>
              <a:t>PU-39 | ATD | 460.0% | Actual 0.00 Cr</a:t>
            </a:r>
            <a:endParaRPr lang="en-IN" sz="1000"/>
          </a:p>
          <a:p>
            <a:r>
              <a:rPr lang="en-IN" sz="1000" b="0" dirty="0">
                <a:solidFill>
                  <a:srgbClr val="203040"/>
                </a:solidFill>
                <a:latin typeface="Arial"/>
              </a:rPr>
              <a:t>PU-53 | All India LTC | 292.8% | Actual 0.18 Cr</a:t>
            </a:r>
            <a:endParaRPr lang="en-IN" sz="1000"/>
          </a:p>
          <a:p>
            <a:r>
              <a:rPr lang="en-IN" sz="1000" b="0" dirty="0">
                <a:solidFill>
                  <a:srgbClr val="203040"/>
                </a:solidFill>
                <a:latin typeface="Arial"/>
              </a:rPr>
              <a:t>PU-99 | Other Expenses/Misc | 126.9% | Actual 228.08 Cr</a:t>
            </a:r>
            <a:endParaRPr lang="en-IN" sz="1000"/>
          </a:p>
          <a:p>
            <a:r>
              <a:rPr lang="en-IN" sz="1000" b="0" dirty="0">
                <a:solidFill>
                  <a:srgbClr val="203040"/>
                </a:solidFill>
                <a:latin typeface="Arial"/>
              </a:rPr>
              <a:t>PU-25 | Children Edu. Allow | 98.9% | Actual 37.51 Cr</a:t>
            </a:r>
            <a:endParaRPr lang="en-IN" sz="1000"/>
          </a:p>
          <a:p>
            <a:r>
              <a:rPr lang="en-IN" sz="1000" b="0" dirty="0">
                <a:solidFill>
                  <a:srgbClr val="203040"/>
                </a:solidFill>
                <a:latin typeface="Arial"/>
              </a:rPr>
              <a:t>PU-31 | Direct Purchase of Fuel | 85.8% | Actual 8.17 Cr</a:t>
            </a:r>
            <a:endParaRPr lang="en-IN" sz="1000"/>
          </a:p>
          <a:p>
            <a:r>
              <a:rPr lang="en-IN" sz="1000" b="0" dirty="0">
                <a:solidFill>
                  <a:srgbClr val="203040"/>
                </a:solidFill>
                <a:latin typeface="Arial"/>
              </a:rPr>
              <a:t>PU-27 | Materials from stock | 80.5% | Actual 86.02 Cr</a:t>
            </a:r>
            <a:endParaRPr lang="en-IN" sz="1000"/>
          </a:p>
          <a:p>
            <a:r>
              <a:rPr lang="en-IN" sz="1000" b="0" dirty="0">
                <a:solidFill>
                  <a:srgbClr val="203040"/>
                </a:solidFill>
                <a:latin typeface="Arial"/>
              </a:rPr>
              <a:t>PU-11 | OT | 77.1% | Actual 5.96 Cr</a:t>
            </a:r>
            <a:endParaRPr lang="en-IN" sz="100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Header band"/>
          <p:cNvSpPr/>
          <p:nvPr/>
        </p:nvSpPr>
        <p:spPr>
          <a:xfrm>
            <a:off x="0" y="0"/>
            <a:ext cx="12192000" cy="900000"/>
          </a:xfrm>
          <a:prstGeom prst="rect">
            <a:avLst/>
          </a:prstGeom>
          <a:solidFill>
            <a:srgbClr val="0A1628"/>
          </a:solidFill>
          <a:ln>
            <a:noFill/>
          </a:ln>
        </p:spPr>
      </p:sp>
      <p:sp>
        <p:nvSpPr>
          <p:cNvPr id="3" name="Title"/>
          <p:cNvSpPr txBox="1"/>
          <p:nvPr/>
        </p:nvSpPr>
        <p:spPr>
          <a:xfrm>
            <a:off x="457200" y="170000"/>
            <a:ext cx="11277600" cy="60000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anchor="t"/>
          <a:lstStyle/>
          <a:p>
            <a:r>
              <a:rPr lang="en-IN" sz="2200" b="1" dirty="0">
                <a:solidFill>
                  <a:srgbClr val="FFFFFF"/>
                </a:solidFill>
                <a:latin typeface="Arial"/>
              </a:rPr>
              <a:t>AE vs BP - HQ PU Summary</a:t>
            </a:r>
            <a:endParaRPr lang="en-IN" sz="2200"/>
          </a:p>
        </p:txBody>
      </p:sp>
      <p:sp>
        <p:nvSpPr>
          <p:cNvPr id="4" name="Content"/>
          <p:cNvSpPr txBox="1"/>
          <p:nvPr/>
        </p:nvSpPr>
        <p:spPr>
          <a:xfrm>
            <a:off x="548640" y="1120000"/>
            <a:ext cx="11094720" cy="500000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anchor="t"/>
          <a:lstStyle/>
          <a:p>
            <a:r>
              <a:rPr lang="en-IN" sz="1000" b="0" dirty="0">
                <a:solidFill>
                  <a:srgbClr val="203040"/>
                </a:solidFill>
                <a:latin typeface="Arial"/>
              </a:rPr>
              <a:t>Logic: BP = BG / 12 x 5; AE-BP = cumulative actual minus BP.</a:t>
            </a:r>
            <a:endParaRPr lang="en-IN" sz="1000"/>
          </a:p>
          <a:p>
            <a:r>
              <a:rPr lang="en-IN" sz="1000" b="0" dirty="0">
                <a:solidFill>
                  <a:srgbClr val="203040"/>
                </a:solidFill>
                <a:latin typeface="Arial"/>
              </a:rPr>
              <a:t>Reporting through: AUG 2026</a:t>
            </a:r>
            <a:endParaRPr lang="en-IN" sz="1000"/>
          </a:p>
          <a:p>
            <a:r>
              <a:rPr lang="en-IN" sz="1000" b="0" dirty="0">
                <a:solidFill>
                  <a:srgbClr val="203040"/>
                </a:solidFill>
                <a:latin typeface="Arial"/>
              </a:rPr>
              <a:t>HQ list: PU-01, PU-02, PU-10, PU-11, PU-12, PU-16, PU-25, PU-27, PU-30, PU-31, PU-32, PU-38, PU-44, PU-60, PU-72, PU-73, PU-75</a:t>
            </a:r>
            <a:endParaRPr lang="en-IN" sz="1000"/>
          </a:p>
          <a:p>
            <a:r>
              <a:rPr lang="en-IN" sz="1000" b="0" dirty="0">
                <a:solidFill>
                  <a:srgbClr val="203040"/>
                </a:solidFill>
                <a:latin typeface="Arial"/>
              </a:rPr>
              <a:t>PU-60 | AE 271.54 Cr | BP 195.97 Cr | Variance +75.57 Cr</a:t>
            </a:r>
            <a:endParaRPr lang="en-IN" sz="1000"/>
          </a:p>
          <a:p>
            <a:r>
              <a:rPr lang="en-IN" sz="1000" b="0" dirty="0">
                <a:solidFill>
                  <a:srgbClr val="203040"/>
                </a:solidFill>
                <a:latin typeface="Arial"/>
              </a:rPr>
              <a:t>PU-32 | AE 182.41 Cr | BP 135.60 Cr | Variance +46.82 Cr</a:t>
            </a:r>
            <a:endParaRPr lang="en-IN" sz="1000"/>
          </a:p>
          <a:p>
            <a:r>
              <a:rPr lang="en-IN" sz="1000" b="0" dirty="0">
                <a:solidFill>
                  <a:srgbClr val="203040"/>
                </a:solidFill>
                <a:latin typeface="Arial"/>
              </a:rPr>
              <a:t>PU-27 | AE 86.01 Cr | BP 44.53 Cr | Variance +41.48 Cr</a:t>
            </a:r>
            <a:endParaRPr lang="en-IN" sz="1000"/>
          </a:p>
          <a:p>
            <a:r>
              <a:rPr lang="en-IN" sz="1000" b="0" dirty="0">
                <a:solidFill>
                  <a:srgbClr val="203040"/>
                </a:solidFill>
                <a:latin typeface="Arial"/>
              </a:rPr>
              <a:t>PU-30 | AE 191.65 Cr | BP 161.61 Cr | Variance +30.04 Cr</a:t>
            </a:r>
            <a:endParaRPr lang="en-IN" sz="1000"/>
          </a:p>
          <a:p>
            <a:r>
              <a:rPr lang="en-IN" sz="1000" b="0" dirty="0">
                <a:solidFill>
                  <a:srgbClr val="203040"/>
                </a:solidFill>
                <a:latin typeface="Arial"/>
              </a:rPr>
              <a:t>PU-01 | AE 307.18 Cr | BP 279.43 Cr | Variance +27.75 Cr</a:t>
            </a:r>
            <a:endParaRPr lang="en-IN" sz="1000"/>
          </a:p>
          <a:p>
            <a:r>
              <a:rPr lang="en-IN" sz="1000" b="0" dirty="0">
                <a:solidFill>
                  <a:srgbClr val="203040"/>
                </a:solidFill>
                <a:latin typeface="Arial"/>
              </a:rPr>
              <a:t>PU-02 | AE 196.66 Cr | BP 170.85 Cr | Variance +25.81 Cr</a:t>
            </a:r>
            <a:endParaRPr lang="en-IN" sz="1000"/>
          </a:p>
          <a:p>
            <a:r>
              <a:rPr lang="en-IN" sz="1000" b="0" dirty="0">
                <a:solidFill>
                  <a:srgbClr val="203040"/>
                </a:solidFill>
                <a:latin typeface="Arial"/>
              </a:rPr>
              <a:t>PU-44 | AE 22.47 Cr | BP 0.48 Cr | Variance +21.99 Cr</a:t>
            </a:r>
            <a:endParaRPr lang="en-IN" sz="1000"/>
          </a:p>
          <a:p>
            <a:r>
              <a:rPr lang="en-IN" sz="1000" b="0" dirty="0">
                <a:solidFill>
                  <a:srgbClr val="203040"/>
                </a:solidFill>
                <a:latin typeface="Arial"/>
              </a:rPr>
              <a:t>PU-25 | AE 37.50 Cr | BP 15.81 Cr | Variance +21.69 Cr</a:t>
            </a:r>
            <a:endParaRPr lang="en-IN" sz="100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Header band"/>
          <p:cNvSpPr/>
          <p:nvPr/>
        </p:nvSpPr>
        <p:spPr>
          <a:xfrm>
            <a:off x="0" y="0"/>
            <a:ext cx="12192000" cy="900000"/>
          </a:xfrm>
          <a:prstGeom prst="rect">
            <a:avLst/>
          </a:prstGeom>
          <a:solidFill>
            <a:srgbClr val="0A1628"/>
          </a:solidFill>
          <a:ln>
            <a:noFill/>
          </a:ln>
        </p:spPr>
      </p:sp>
      <p:sp>
        <p:nvSpPr>
          <p:cNvPr id="3" name="Title"/>
          <p:cNvSpPr txBox="1"/>
          <p:nvPr/>
        </p:nvSpPr>
        <p:spPr>
          <a:xfrm>
            <a:off x="457200" y="170000"/>
            <a:ext cx="11277600" cy="60000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anchor="t"/>
          <a:lstStyle/>
          <a:p>
            <a:r>
              <a:rPr lang="en-IN" sz="2200" b="1" dirty="0">
                <a:solidFill>
                  <a:srgbClr val="FFFFFF"/>
                </a:solidFill>
                <a:latin typeface="Arial"/>
              </a:rPr>
              <a:t>Validation and Fixed Export Rules</a:t>
            </a:r>
            <a:endParaRPr lang="en-IN" sz="2200"/>
          </a:p>
        </p:txBody>
      </p:sp>
      <p:sp>
        <p:nvSpPr>
          <p:cNvPr id="4" name="Content"/>
          <p:cNvSpPr txBox="1"/>
          <p:nvPr/>
        </p:nvSpPr>
        <p:spPr>
          <a:xfrm>
            <a:off x="548640" y="1120000"/>
            <a:ext cx="11094720" cy="500000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anchor="t"/>
          <a:lstStyle/>
          <a:p>
            <a:r>
              <a:rPr lang="en-IN" sz="1000" b="0" dirty="0">
                <a:solidFill>
                  <a:srgbClr val="203040"/>
                </a:solidFill>
                <a:latin typeface="Arial"/>
              </a:rPr>
              <a:t>OK: Current year PU budget - 41 active PUs, 3414.53 Cr gross budget, 1883.52 Cr actual till date.</a:t>
            </a:r>
            <a:endParaRPr lang="en-IN" sz="1000"/>
          </a:p>
          <a:p>
            <a:r>
              <a:rPr lang="en-IN" sz="1000" b="0" dirty="0">
                <a:solidFill>
                  <a:srgbClr val="203040"/>
                </a:solidFill>
                <a:latin typeface="Arial"/>
              </a:rPr>
              <a:t>OK: PU actual/month reconciliation - Every loaded PU actual-till value equals the sum of its actual month values.</a:t>
            </a:r>
            <a:endParaRPr lang="en-IN" sz="1000"/>
          </a:p>
          <a:p>
            <a:r>
              <a:rPr lang="en-IN" sz="1000" b="0" dirty="0">
                <a:solidFill>
                  <a:srgbClr val="203040"/>
                </a:solidFill>
                <a:latin typeface="Arial"/>
              </a:rPr>
              <a:t>OK: Grand-total reconciliation - Budget and month grand totals reconcile with all loaded PU rows.</a:t>
            </a:r>
            <a:endParaRPr lang="en-IN" sz="1000"/>
          </a:p>
          <a:p>
            <a:r>
              <a:rPr lang="en-IN" sz="1000" b="0" dirty="0">
                <a:solidFill>
                  <a:srgbClr val="203040"/>
                </a:solidFill>
                <a:latin typeface="Arial"/>
              </a:rPr>
              <a:t>OK: Month-wise CY actuals - 34 active PUs have actuals through SEP 2026.</a:t>
            </a:r>
            <a:endParaRPr lang="en-IN" sz="1000"/>
          </a:p>
          <a:p>
            <a:r>
              <a:rPr lang="en-IN" sz="1000" b="0" dirty="0">
                <a:solidFill>
                  <a:srgbClr val="203040"/>
                </a:solidFill>
                <a:latin typeface="Arial"/>
              </a:rPr>
              <a:t>OK: Demand / SMH Summary - 11 main rows, 3259.59 Cr OBA/BG_ISL; Suspense kept separate.</a:t>
            </a:r>
            <a:endParaRPr lang="en-IN" sz="1000"/>
          </a:p>
          <a:p>
            <a:r>
              <a:rPr lang="en-IN" sz="1000" b="0" dirty="0">
                <a:solidFill>
                  <a:srgbClr val="203040"/>
                </a:solidFill>
                <a:latin typeface="Arial"/>
              </a:rPr>
              <a:t>OK: DEPT-Demand detail - 913 detail rows available, 3414.53 Cr detail budget.</a:t>
            </a:r>
            <a:endParaRPr lang="en-IN" sz="1000"/>
          </a:p>
          <a:p>
            <a:r>
              <a:rPr lang="en-IN" sz="1000" b="0" dirty="0">
                <a:solidFill>
                  <a:srgbClr val="203040"/>
                </a:solidFill>
                <a:latin typeface="Arial"/>
              </a:rPr>
              <a:t>OK: Display exclusions - Department 00, PU-98 recoveries, and PU-72/73/74/75 display exclusions remain active.</a:t>
            </a:r>
            <a:endParaRPr lang="en-IN" sz="1000"/>
          </a:p>
          <a:p>
            <a:r>
              <a:rPr lang="en-IN" sz="1000" b="0" dirty="0">
                <a:solidFill>
                  <a:srgbClr val="203040"/>
                </a:solidFill>
                <a:latin typeface="Arial"/>
              </a:rPr>
              <a:t>Excel: landscape, fit-to-one-page-wide, print margins, minimum 10 pt.</a:t>
            </a:r>
            <a:endParaRPr lang="en-IN" sz="1000"/>
          </a:p>
          <a:p>
            <a:r>
              <a:rPr lang="en-IN" sz="1000" b="0" dirty="0">
                <a:solidFill>
                  <a:srgbClr val="203040"/>
                </a:solidFill>
                <a:latin typeface="Arial"/>
              </a:rPr>
              <a:t>PDF: landscape A4, repeating headers, horizontal page breaks, minimum 10 pt.</a:t>
            </a:r>
            <a:endParaRPr lang="en-IN" sz="1000"/>
          </a:p>
          <a:p>
            <a:r>
              <a:rPr lang="en-IN" sz="1000" b="0" dirty="0">
                <a:solidFill>
                  <a:srgbClr val="203040"/>
                </a:solidFill>
                <a:latin typeface="Arial"/>
              </a:rPr>
              <a:t>PowerPoint: 16:9, 0.5 inch safe margins, minimum 10 pt.</a:t>
            </a:r>
            <a:endParaRPr lang="en-IN" sz="1000"/>
          </a:p>
          <a:p>
            <a:r>
              <a:rPr lang="en-IN" sz="1000" b="0" dirty="0">
                <a:solidFill>
                  <a:srgbClr val="203040"/>
                </a:solidFill>
                <a:latin typeface="Arial"/>
              </a:rPr>
              <a:t>Exports are created on demand from current portal memory; old downloaded files are not reused.</a:t>
            </a:r>
            <a:endParaRPr lang="en-IN" sz="100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Portal">
  <a:themeElements>
    <a:clrScheme name="Portal">
      <a:dk1>
        <a:srgbClr val="0A1628"/>
      </a:dk1>
      <a:lt1>
        <a:srgbClr val="FFFFFF"/>
      </a:lt1>
      <a:dk2>
        <a:srgbClr val="203040"/>
      </a:dk2>
      <a:lt2>
        <a:srgbClr val="F3F7FB"/>
      </a:lt2>
      <a:accent1>
        <a:srgbClr val="1A3A6A"/>
      </a:accent1>
      <a:accent2>
        <a:srgbClr val="1A7A4A"/>
      </a:accent2>
      <a:accent3>
        <a:srgbClr val="C9A84C"/>
      </a:accent3>
      <a:accent4>
        <a:srgbClr val="60708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Portal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Portal"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9525">
          <a:solidFill>
            <a:schemeClr val="phClr"/>
          </a:solidFill>
        </a:ln>
        <a:ln w="9525">
          <a:solidFill>
            <a:schemeClr val="phClr"/>
          </a:solidFill>
        </a:ln>
        <a:ln w="9525">
          <a:solidFill>
            <a:schemeClr val="phClr"/>
          </a:solidFill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Application>Revenue Liability Portal</Application>
  <Slides>6</Slides>
  <PresentationFormat>Widescreen</PresentationFormat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:title>Revenue Liability Portal Fresh Report</dc:title>
  <dc:creator>Revenue Liability Portal</dc:creator>
  <dcterms:created xsi:type="dcterms:W3CDTF">2026-09-16T05:28:49.881Z</dcterms:created>
</cp:coreProperties>
</file>