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drawingml.diagramData+xml" PartName="/ppt/diagrams/data2.xml"/>
  <Override ContentType="application/vnd.openxmlformats-officedocument.drawingml.diagramData+xml" PartName="/ppt/diagrams/data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ms-office.drawingml.diagramDrawing+xml" PartName="/ppt/diagrams/drawing2.xml"/>
  <Override ContentType="application/vnd.ms-office.drawingml.diagramDrawing+xml" PartName="/ppt/diagrams/drawing1.xml"/>
  <Override ContentType="application/vnd.ms-office.chartcolorstyle+xml" PartName="/ppt/charts/colors5.xml"/>
  <Override ContentType="application/vnd.ms-office.chartcolorstyle+xml" PartName="/ppt/charts/colors6.xml"/>
  <Override ContentType="application/vnd.ms-office.chartcolorstyle+xml" PartName="/ppt/charts/colors4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ms-office.chartcolorstyle+xml" PartName="/ppt/charts/colors8.xml"/>
  <Override ContentType="application/vnd.ms-office.chartcolorstyle+xml" PartName="/ppt/charts/colors7.xml"/>
  <Override ContentType="application/vnd.ms-office.chartcolorstyle+xml" PartName="/ppt/charts/colors10.xml"/>
  <Override ContentType="application/vnd.ms-office.chartcolorstyle+xml" PartName="/ppt/charts/colors9.xml"/>
  <Override ContentType="application/vnd.openxmlformats-officedocument.drawingml.chart+xml" PartName="/ppt/charts/chart20.xml"/>
  <Override ContentType="application/vnd.openxmlformats-officedocument.drawingml.chart+xml" PartName="/ppt/charts/chart19.xml"/>
  <Override ContentType="application/vnd.openxmlformats-officedocument.drawingml.chart+xml" PartName="/ppt/charts/chart9.xml"/>
  <Override ContentType="application/vnd.openxmlformats-officedocument.drawingml.chart+xml" PartName="/ppt/charts/chart7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6.xml"/>
  <Override ContentType="application/vnd.openxmlformats-officedocument.drawingml.chart+xml" PartName="/ppt/charts/chart6.xml"/>
  <Override ContentType="application/vnd.openxmlformats-officedocument.drawingml.chart+xml" PartName="/ppt/charts/chart10.xml"/>
  <Override ContentType="application/vnd.openxmlformats-officedocument.drawingml.chart+xml" PartName="/ppt/charts/chart1.xml"/>
  <Override ContentType="application/vnd.openxmlformats-officedocument.drawingml.chart+xml" PartName="/ppt/charts/chart12.xml"/>
  <Override ContentType="application/vnd.openxmlformats-officedocument.drawingml.chart+xml" PartName="/ppt/charts/chart14.xml"/>
  <Override ContentType="application/vnd.openxmlformats-officedocument.drawingml.chart+xml" PartName="/ppt/charts/chart3.xml"/>
  <Override ContentType="application/vnd.openxmlformats-officedocument.drawingml.chart+xml" PartName="/ppt/charts/chart8.xml"/>
  <Override ContentType="application/vnd.openxmlformats-officedocument.drawingml.chart+xml" PartName="/ppt/charts/chart18.xml"/>
  <Override ContentType="application/vnd.openxmlformats-officedocument.drawingml.chart+xml" PartName="/ppt/charts/chart21.xml"/>
  <Override ContentType="application/vnd.openxmlformats-officedocument.drawingml.chart+xml" PartName="/ppt/charts/chart5.xml"/>
  <Override ContentType="application/vnd.openxmlformats-officedocument.drawingml.chart+xml" PartName="/ppt/charts/chart11.xml"/>
  <Override ContentType="application/vnd.openxmlformats-officedocument.drawingml.chart+xml" PartName="/ppt/charts/chart17.xml"/>
  <Override ContentType="application/vnd.openxmlformats-officedocument.drawingml.chart+xml" PartName="/ppt/charts/chart15.xml"/>
  <Override ContentType="application/vnd.openxmlformats-officedocument.drawingml.chart+xml" PartName="/ppt/charts/chart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themeOverride+xml" PartName="/ppt/theme/themeOverride3.xml"/>
  <Override ContentType="application/vnd.openxmlformats-officedocument.themeOverride+xml" PartName="/ppt/theme/themeOverride8.xml"/>
  <Override ContentType="application/vnd.openxmlformats-officedocument.themeOverride+xml" PartName="/ppt/theme/themeOverride9.xml"/>
  <Override ContentType="application/vnd.openxmlformats-officedocument.themeOverride+xml" PartName="/ppt/theme/themeOverride2.xml"/>
  <Override ContentType="application/vnd.openxmlformats-officedocument.themeOverride+xml" PartName="/ppt/theme/themeOverride4.xml"/>
  <Override ContentType="application/vnd.openxmlformats-officedocument.themeOverride+xml" PartName="/ppt/theme/themeOverride7.xml"/>
  <Override ContentType="application/vnd.openxmlformats-officedocument.themeOverride+xml" PartName="/ppt/theme/themeOverride5.xml"/>
  <Override ContentType="application/vnd.openxmlformats-officedocument.themeOverride+xml" PartName="/ppt/theme/themeOverride6.xml"/>
  <Override ContentType="application/vnd.openxmlformats-officedocument.themeOverride+xml" PartName="/ppt/theme/themeOverride1.xml"/>
  <Override ContentType="application/vnd.openxmlformats-officedocument.drawingml.diagramLayout+xml" PartName="/ppt/diagrams/layout1.xml"/>
  <Override ContentType="application/vnd.openxmlformats-officedocument.drawingml.diagramLayout+xml" PartName="/ppt/diagrams/layout2.xml"/>
  <Override ContentType="application/vnd.openxmlformats-officedocument.drawingml.diagramStyle+xml" PartName="/ppt/diagrams/quickStyle2.xml"/>
  <Override ContentType="application/vnd.openxmlformats-officedocument.drawingml.diagramStyle+xml" PartName="/ppt/diagrams/quickStyle1.xml"/>
  <Override ContentType="application/vnd.openxmlformats-officedocument.presentationml.notesMaster+xml" PartName="/ppt/notesMasters/notesMaster1.xml"/>
  <Override ContentType="application/vnd.ms-office.chartstyle+xml" PartName="/ppt/charts/style9.xml"/>
  <Override ContentType="application/vnd.ms-office.chartstyle+xml" PartName="/ppt/charts/style3.xml"/>
  <Override ContentType="application/vnd.ms-office.chartstyle+xml" PartName="/ppt/charts/style4.xml"/>
  <Override ContentType="application/vnd.ms-office.chartstyle+xml" PartName="/ppt/charts/style10.xml"/>
  <Override ContentType="application/vnd.ms-office.chartstyle+xml" PartName="/ppt/charts/style5.xml"/>
  <Override ContentType="application/vnd.ms-office.chartstyle+xml" PartName="/ppt/charts/style7.xml"/>
  <Override ContentType="application/vnd.ms-office.chartstyle+xml" PartName="/ppt/charts/style8.xml"/>
  <Override ContentType="application/vnd.ms-office.chartstyle+xml" PartName="/ppt/charts/style6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1.xml"/>
  <Override ContentType="application/vnd.openxmlformats-officedocument.drawingml.diagramColors+xml" PartName="/ppt/diagrams/colors2.xml"/>
  <Override ContentType="application/vnd.openxmlformats-officedocument.drawingml.diagramColors+xml" PartName="/ppt/diagrams/colors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88150" cy="10018700"/>
  <p:defaultTextStyle>
    <a:defPPr lvl="0">
      <a:defRPr lang="en-US"/>
    </a:defPPr>
    <a:lvl1pPr eaLnBrk="0" hangingPunct="0" lvl="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eaLnBrk="0" hangingPunct="0" lvl="1" marL="4572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eaLnBrk="0" hangingPunct="0" lvl="2" marL="9144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eaLnBrk="0" hangingPunct="0" lvl="3" marL="13716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eaLnBrk="0" hangingPunct="0" lvl="4" marL="18288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defTabSz="914400" eaLnBrk="1" hangingPunct="1" latinLnBrk="0" lvl="5" marL="2286000" rtl="0" algn="l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defTabSz="914400" eaLnBrk="1" hangingPunct="1" latinLnBrk="0" lvl="6" marL="2743200" rtl="0" algn="l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defTabSz="914400" eaLnBrk="1" hangingPunct="1" latinLnBrk="0" lvl="7" marL="3200400" rtl="0" algn="l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defTabSz="914400" eaLnBrk="1" hangingPunct="1" latinLnBrk="0" lvl="8" marL="3657600" rtl="0" algn="l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940675A-B579-460E-94D1-54222C63F5DA}" styleName="No Style, Table Grid">
    <a:wholeTbl>
      <a:tcTxStyle>
        <a:fontRef idx="minor">
          <a:scrgbClr b="0" g="0" r="0"/>
        </a:fontRef>
        <a:schemeClr val="tx1"/>
      </a:tcTxStyle>
      <a:tcStyle>
        <a:tcBdr>
          <a:left>
            <a:ln cmpd="sng" w="12700">
              <a:solidFill>
                <a:schemeClr val="tx1"/>
              </a:solidFill>
            </a:ln>
          </a:left>
          <a:right>
            <a:ln cmpd="sng" w="12700">
              <a:solidFill>
                <a:schemeClr val="tx1"/>
              </a:solidFill>
            </a:ln>
          </a:right>
          <a:top>
            <a:ln cmpd="sng" w="12700">
              <a:solidFill>
                <a:schemeClr val="tx1"/>
              </a:solidFill>
            </a:ln>
          </a:top>
          <a:bottom>
            <a:ln cmpd="sng" w="12700">
              <a:solidFill>
                <a:schemeClr val="tx1"/>
              </a:solidFill>
            </a:ln>
          </a:bottom>
          <a:insideH>
            <a:ln cmpd="sng" w="12700">
              <a:solidFill>
                <a:schemeClr val="tx1"/>
              </a:solidFill>
            </a:ln>
          </a:insideH>
          <a:insideV>
            <a:ln cmpd="sng" w="12700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1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2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4.xlsx"/><Relationship Id="rId1" Type="http://schemas.openxmlformats.org/officeDocument/2006/relationships/themeOverride" Target="../theme/themeOverride3.xml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5.xlsx"/><Relationship Id="rId1" Type="http://schemas.openxmlformats.org/officeDocument/2006/relationships/themeOverride" Target="../theme/themeOverride4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6.xlsx"/><Relationship Id="rId1" Type="http://schemas.openxmlformats.org/officeDocument/2006/relationships/themeOverride" Target="../theme/themeOverride5.xml"/></Relationships>
</file>

<file path=ppt/charts/_rels/chart1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7.xlsx"/><Relationship Id="rId1" Type="http://schemas.openxmlformats.org/officeDocument/2006/relationships/themeOverride" Target="../theme/themeOverride6.xml"/></Relationships>
</file>

<file path=ppt/charts/_rels/chart1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8.xlsx"/><Relationship Id="rId1" Type="http://schemas.openxmlformats.org/officeDocument/2006/relationships/themeOverride" Target="../theme/themeOverride7.xml"/></Relationships>
</file>

<file path=ppt/charts/_rels/chart2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9.xlsx"/><Relationship Id="rId1" Type="http://schemas.openxmlformats.org/officeDocument/2006/relationships/themeOverride" Target="../theme/themeOverride8.xml"/></Relationships>
</file>

<file path=ppt/charts/_rels/chart2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0.xlsx"/><Relationship Id="rId1" Type="http://schemas.openxmlformats.org/officeDocument/2006/relationships/themeOverride" Target="../theme/themeOverrid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Chart!$B$1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Chart!$A$2:$A$3</c:f>
              <c:strCache>
                <c:ptCount val="2"/>
                <c:pt idx="0">
                  <c:v>OWE</c:v>
                </c:pt>
                <c:pt idx="1">
                  <c:v>Revenue</c:v>
                </c:pt>
              </c:strCache>
            </c:strRef>
          </c:cat>
          <c:val>
            <c:numRef>
              <c:f>Chart!$B$2:$B$3</c:f>
              <c:numCache>
                <c:formatCode>General</c:formatCode>
                <c:ptCount val="2"/>
                <c:pt idx="0">
                  <c:v>24256.91</c:v>
                </c:pt>
                <c:pt idx="1">
                  <c:v>23568.29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FD72-4BB6-964B-1B44F5A9CE0B}"/>
            </c:ext>
          </c:extLst>
        </c:ser>
        <c:ser>
          <c:idx val="1"/>
          <c:order val="1"/>
          <c:tx>
            <c:strRef>
              <c:f>Chart!$C$1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  <a:effectLst/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Chart!$A$2:$A$3</c:f>
              <c:strCache>
                <c:ptCount val="2"/>
                <c:pt idx="0">
                  <c:v>OWE</c:v>
                </c:pt>
                <c:pt idx="1">
                  <c:v>Revenue</c:v>
                </c:pt>
              </c:strCache>
            </c:strRef>
          </c:cat>
          <c:val>
            <c:numRef>
              <c:f>Chart!$C$2:$C$3</c:f>
              <c:numCache>
                <c:formatCode>General</c:formatCode>
                <c:ptCount val="2"/>
                <c:pt idx="0">
                  <c:v>10992.55</c:v>
                </c:pt>
                <c:pt idx="1">
                  <c:v>9124.3799999999992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1-FD72-4BB6-964B-1B44F5A9CE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35699456"/>
        <c:axId val="135721728"/>
      </c:barChart>
      <c:lineChart>
        <c:grouping val="standard"/>
        <c:varyColors val="1"/>
        <c:ser>
          <c:idx val="2"/>
          <c:order val="2"/>
          <c:tx>
            <c:strRef>
              <c:f>Chart!$D$1</c:f>
              <c:strCache>
                <c:ptCount val="1"/>
                <c:pt idx="0">
                  <c:v>Target Achieved (in %)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Chart!$A$2:$A$3</c:f>
              <c:strCache>
                <c:ptCount val="2"/>
                <c:pt idx="0">
                  <c:v>OWE</c:v>
                </c:pt>
                <c:pt idx="1">
                  <c:v>Revenue</c:v>
                </c:pt>
              </c:strCache>
            </c:strRef>
          </c:cat>
          <c:val>
            <c:numRef>
              <c:f>Chart!$D$2:$D$3</c:f>
              <c:numCache>
                <c:formatCode>0.00%</c:formatCode>
                <c:ptCount val="2"/>
                <c:pt idx="0">
                  <c:v>0.45317190029562709</c:v>
                </c:pt>
                <c:pt idx="1">
                  <c:v>0.38714645822840771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D72-4BB6-964B-1B44F5A9CE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5794688"/>
        <c:axId val="135723264"/>
      </c:lineChart>
      <c:catAx>
        <c:axId val="135699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35721728"/>
        <c:crosses val="autoZero"/>
        <c:auto val="1"/>
        <c:lblAlgn val="ctr"/>
        <c:lblOffset val="100"/>
        <c:noMultiLvlLbl val="1"/>
      </c:catAx>
      <c:valAx>
        <c:axId val="135721728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35699456"/>
        <c:crosses val="max"/>
        <c:crossBetween val="between"/>
      </c:valAx>
      <c:valAx>
        <c:axId val="135723264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35794688"/>
        <c:crosses val="autoZero"/>
        <c:crossBetween val="between"/>
      </c:valAx>
      <c:catAx>
        <c:axId val="1357946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5723264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'OR (2)'!$D$3</c:f>
              <c:strCache>
                <c:ptCount val="1"/>
                <c:pt idx="0">
                  <c:v>Operating Ratio(2025-26)(%)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7795641453092173E-2"/>
                  <c:y val="3.13939403927126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066-45B2-AD85-C07B97CB09C1}"/>
                </c:ext>
              </c:extLst>
            </c:dLbl>
            <c:dLbl>
              <c:idx val="1"/>
              <c:layout>
                <c:manualLayout>
                  <c:x val="-3.7795641453092173E-2"/>
                  <c:y val="3.9878789147499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066-45B2-AD85-C07B97CB09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'OR (2)'!$C$4:$C$15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'OR (2)'!$D$4:$D$15</c:f>
              <c:numCache>
                <c:formatCode>General</c:formatCode>
                <c:ptCount val="12"/>
                <c:pt idx="0">
                  <c:v>222.96</c:v>
                </c:pt>
                <c:pt idx="1">
                  <c:v>176.36</c:v>
                </c:pt>
                <c:pt idx="2">
                  <c:v>175.05</c:v>
                </c:pt>
                <c:pt idx="3">
                  <c:v>165.42</c:v>
                </c:pt>
                <c:pt idx="4">
                  <c:v>167.22</c:v>
                </c:pt>
                <c:pt idx="5">
                  <c:v>177.83</c:v>
                </c:pt>
                <c:pt idx="6">
                  <c:v>180.74</c:v>
                </c:pt>
                <c:pt idx="7">
                  <c:v>177.74</c:v>
                </c:pt>
                <c:pt idx="8">
                  <c:v>175.84</c:v>
                </c:pt>
                <c:pt idx="9">
                  <c:v>172.04</c:v>
                </c:pt>
                <c:pt idx="10">
                  <c:v>172.01</c:v>
                </c:pt>
                <c:pt idx="11">
                  <c:v>149.4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73-45AA-A3BA-DE420E67B573}"/>
            </c:ext>
          </c:extLst>
        </c:ser>
        <c:ser>
          <c:idx val="1"/>
          <c:order val="1"/>
          <c:tx>
            <c:strRef>
              <c:f>'OR (2)'!$E$3</c:f>
              <c:strCache>
                <c:ptCount val="1"/>
                <c:pt idx="0">
                  <c:v>Operating Ratio(2026-27)(%)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3.2918784491402862E-2"/>
                  <c:y val="4.83636379022870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066-45B2-AD85-C07B97CB09C1}"/>
                </c:ext>
              </c:extLst>
            </c:dLbl>
            <c:dLbl>
              <c:idx val="3"/>
              <c:layout>
                <c:manualLayout>
                  <c:x val="-2.6822713289291263E-2"/>
                  <c:y val="3.13939403927126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066-45B2-AD85-C07B97CB09C1}"/>
                </c:ext>
              </c:extLst>
            </c:dLbl>
            <c:dLbl>
              <c:idx val="4"/>
              <c:layout>
                <c:manualLayout>
                  <c:x val="-2.9261141770135921E-2"/>
                  <c:y val="3.705050622923740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066-45B2-AD85-C07B97CB09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'OR (2)'!$C$4:$C$15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'OR (2)'!$E$4:$E$15</c:f>
              <c:numCache>
                <c:formatCode>General</c:formatCode>
                <c:ptCount val="12"/>
                <c:pt idx="0">
                  <c:v>230.59</c:v>
                </c:pt>
                <c:pt idx="1">
                  <c:v>185.76</c:v>
                </c:pt>
                <c:pt idx="2">
                  <c:v>171.33</c:v>
                </c:pt>
                <c:pt idx="3">
                  <c:v>163.9</c:v>
                </c:pt>
                <c:pt idx="4">
                  <c:v>159.97999999999999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73-45AA-A3BA-DE420E67B57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76604816"/>
        <c:axId val="1176620656"/>
      </c:lineChart>
      <c:catAx>
        <c:axId val="1176604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176620656"/>
        <c:crosses val="autoZero"/>
        <c:auto val="1"/>
        <c:lblAlgn val="ctr"/>
        <c:lblOffset val="100"/>
        <c:noMultiLvlLbl val="0"/>
      </c:catAx>
      <c:valAx>
        <c:axId val="1176620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176604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4303509464990555"/>
          <c:y val="2.8282829182624009E-2"/>
          <c:w val="0.51392971469906767"/>
          <c:h val="5.41816608345394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'Apportioned earning'!$B$1</c:f>
              <c:strCache>
                <c:ptCount val="1"/>
                <c:pt idx="0">
                  <c:v>ACTUALS 
 UPTO 
AUGUST 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'Apportioned earning'!$A$2:$A$5</c:f>
              <c:strCache>
                <c:ptCount val="4"/>
                <c:pt idx="0">
                  <c:v>Passenger </c:v>
                </c:pt>
                <c:pt idx="1">
                  <c:v>Other Coaching </c:v>
                </c:pt>
                <c:pt idx="2">
                  <c:v>Goods </c:v>
                </c:pt>
                <c:pt idx="3">
                  <c:v>Sundry </c:v>
                </c:pt>
              </c:strCache>
            </c:strRef>
          </c:cat>
          <c:val>
            <c:numRef>
              <c:f>'Apportioned earning'!$B$2:$B$5</c:f>
              <c:numCache>
                <c:formatCode>General</c:formatCode>
                <c:ptCount val="4"/>
                <c:pt idx="0">
                  <c:v>3596.03</c:v>
                </c:pt>
                <c:pt idx="1">
                  <c:v>534.32000000000005</c:v>
                </c:pt>
                <c:pt idx="2">
                  <c:v>3832.45</c:v>
                </c:pt>
                <c:pt idx="3">
                  <c:v>452.55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7D-4AF2-BDC9-E1C13D747AA9}"/>
            </c:ext>
          </c:extLst>
        </c:ser>
        <c:ser>
          <c:idx val="1"/>
          <c:order val="1"/>
          <c:tx>
            <c:strRef>
              <c:f>'Apportioned earning'!$C$1</c:f>
              <c:strCache>
                <c:ptCount val="1"/>
                <c:pt idx="0">
                  <c:v>TARGET UPTO  
AUGUST 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'Apportioned earning'!$A$2:$A$5</c:f>
              <c:strCache>
                <c:ptCount val="4"/>
                <c:pt idx="0">
                  <c:v>Passenger </c:v>
                </c:pt>
                <c:pt idx="1">
                  <c:v>Other Coaching </c:v>
                </c:pt>
                <c:pt idx="2">
                  <c:v>Goods </c:v>
                </c:pt>
                <c:pt idx="3">
                  <c:v>Sundry </c:v>
                </c:pt>
              </c:strCache>
            </c:strRef>
          </c:cat>
          <c:val>
            <c:numRef>
              <c:f>'Apportioned earning'!$C$2:$C$5</c:f>
              <c:numCache>
                <c:formatCode>General</c:formatCode>
                <c:ptCount val="4"/>
                <c:pt idx="0">
                  <c:v>3969.43</c:v>
                </c:pt>
                <c:pt idx="1">
                  <c:v>670.13</c:v>
                </c:pt>
                <c:pt idx="2">
                  <c:v>4069.27</c:v>
                </c:pt>
                <c:pt idx="3">
                  <c:v>1002.37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7D-4AF2-BDC9-E1C13D747AA9}"/>
            </c:ext>
          </c:extLst>
        </c:ser>
        <c:ser>
          <c:idx val="2"/>
          <c:order val="2"/>
          <c:tx>
            <c:strRef>
              <c:f>'Apportioned earning'!$D$1</c:f>
              <c:strCache>
                <c:ptCount val="1"/>
                <c:pt idx="0">
                  <c:v>ACTUALS 
 UPTO 
AUGUST 2026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'Apportioned earning'!$A$2:$A$5</c:f>
              <c:strCache>
                <c:ptCount val="4"/>
                <c:pt idx="0">
                  <c:v>Passenger </c:v>
                </c:pt>
                <c:pt idx="1">
                  <c:v>Other Coaching </c:v>
                </c:pt>
                <c:pt idx="2">
                  <c:v>Goods </c:v>
                </c:pt>
                <c:pt idx="3">
                  <c:v>Sundry </c:v>
                </c:pt>
              </c:strCache>
            </c:strRef>
          </c:cat>
          <c:val>
            <c:numRef>
              <c:f>'Apportioned earning'!$D$2:$D$5</c:f>
              <c:numCache>
                <c:formatCode>General</c:formatCode>
                <c:ptCount val="4"/>
                <c:pt idx="0">
                  <c:v>4352.92</c:v>
                </c:pt>
                <c:pt idx="1">
                  <c:v>625.78</c:v>
                </c:pt>
                <c:pt idx="2">
                  <c:v>3547.34</c:v>
                </c:pt>
                <c:pt idx="3">
                  <c:v>598.34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7D-4AF2-BDC9-E1C13D747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6645616"/>
        <c:axId val="1176635536"/>
      </c:barChart>
      <c:catAx>
        <c:axId val="1176645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1176635536"/>
        <c:crosses val="autoZero"/>
        <c:auto val="1"/>
        <c:lblAlgn val="ctr"/>
        <c:lblOffset val="100"/>
        <c:noMultiLvlLbl val="0"/>
      </c:catAx>
      <c:valAx>
        <c:axId val="1176635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1176645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92668799"/>
        <c:axId val="592669759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'DD wise'!#REF!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200" b="1" i="0" u="none" strike="noStrik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val>
                  <c:numRef>
                    <c:extLst>
                      <c:ext uri="{02D57815-91ED-43cb-92C2-25804820EDAC}">
                        <c15:formulaRef>
                          <c15:sqref>'DD wise'!#REF!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CDCE-4E5C-819C-22081A101EEC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'DD wise'!#REF!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200" b="1" i="0" u="none" strike="noStrik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'DD wise'!#REF!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CDCE-4E5C-819C-22081A101EEC}"/>
                  </c:ext>
                </c:extLst>
              </c15:ser>
            </c15:filteredBarSeries>
          </c:ext>
        </c:extLst>
      </c:barChart>
      <c:barChart>
        <c:barDir val="col"/>
        <c:grouping val="clustered"/>
        <c:varyColors val="0"/>
        <c:ser>
          <c:idx val="0"/>
          <c:order val="0"/>
          <c:tx>
            <c:strRef>
              <c:f>'DD wise'!$B$2</c:f>
              <c:strCache>
                <c:ptCount val="1"/>
                <c:pt idx="0">
                  <c:v>BG_ISL 
2026-2027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'DD wise'!$A$3:$A$13</c:f>
              <c:strCache>
                <c:ptCount val="11"/>
                <c:pt idx="0">
                  <c:v>03 GEN. SUPDT.&amp; SERVICES </c:v>
                </c:pt>
                <c:pt idx="1">
                  <c:v>04 REP.&amp; MAIN. OF P.WAY &amp; WKS. </c:v>
                </c:pt>
                <c:pt idx="2">
                  <c:v>05 REP.&amp; MAIN. OF MOTIVE POWER </c:v>
                </c:pt>
                <c:pt idx="3">
                  <c:v>06 REP.&amp; MAIN.OF CARR. &amp; WAG. </c:v>
                </c:pt>
                <c:pt idx="4">
                  <c:v>07 REP.&amp; MAIN.OF PLANT &amp; EQUIP. </c:v>
                </c:pt>
                <c:pt idx="5">
                  <c:v>08 OPTG. EXPENSES-ROLL. STOCK </c:v>
                </c:pt>
                <c:pt idx="6">
                  <c:v>09 OPTG.EXPENSES-TRAFFIC </c:v>
                </c:pt>
                <c:pt idx="7">
                  <c:v>10 OPTG. EXPENSES-FUEL </c:v>
                </c:pt>
                <c:pt idx="8">
                  <c:v>11 STAFF WELFARE &amp; AMENITIES </c:v>
                </c:pt>
                <c:pt idx="9">
                  <c:v>12 MISC.  WORKING EXPENSES </c:v>
                </c:pt>
                <c:pt idx="10">
                  <c:v>13 PF,PN &amp; OTHER RET. BENEFITS </c:v>
                </c:pt>
              </c:strCache>
            </c:strRef>
          </c:cat>
          <c:val>
            <c:numRef>
              <c:f>'DD wise'!$B$3:$B$13</c:f>
              <c:numCache>
                <c:formatCode>#####0.00</c:formatCode>
                <c:ptCount val="11"/>
                <c:pt idx="0">
                  <c:v>1015.25</c:v>
                </c:pt>
                <c:pt idx="1">
                  <c:v>2252.81</c:v>
                </c:pt>
                <c:pt idx="2">
                  <c:v>1318.28</c:v>
                </c:pt>
                <c:pt idx="3">
                  <c:v>2329</c:v>
                </c:pt>
                <c:pt idx="4">
                  <c:v>948.23</c:v>
                </c:pt>
                <c:pt idx="5">
                  <c:v>2522.21</c:v>
                </c:pt>
                <c:pt idx="6">
                  <c:v>7784.93</c:v>
                </c:pt>
                <c:pt idx="7">
                  <c:v>2544.3200000000002</c:v>
                </c:pt>
                <c:pt idx="8">
                  <c:v>1295.19</c:v>
                </c:pt>
                <c:pt idx="9">
                  <c:v>1324.1858999999999</c:v>
                </c:pt>
                <c:pt idx="10">
                  <c:v>922.5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CE-4E5C-819C-22081A101EEC}"/>
            </c:ext>
          </c:extLst>
        </c:ser>
        <c:ser>
          <c:idx val="1"/>
          <c:order val="1"/>
          <c:tx>
            <c:strRef>
              <c:f>'DD wise'!$C$2</c:f>
              <c:strCache>
                <c:ptCount val="1"/>
                <c:pt idx="0">
                  <c:v>COPPY 
 UPTO 
AUG 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'DD wise'!$A$3:$A$13</c:f>
              <c:strCache>
                <c:ptCount val="11"/>
                <c:pt idx="0">
                  <c:v>03 GEN. SUPDT.&amp; SERVICES </c:v>
                </c:pt>
                <c:pt idx="1">
                  <c:v>04 REP.&amp; MAIN. OF P.WAY &amp; WKS. </c:v>
                </c:pt>
                <c:pt idx="2">
                  <c:v>05 REP.&amp; MAIN. OF MOTIVE POWER </c:v>
                </c:pt>
                <c:pt idx="3">
                  <c:v>06 REP.&amp; MAIN.OF CARR. &amp; WAG. </c:v>
                </c:pt>
                <c:pt idx="4">
                  <c:v>07 REP.&amp; MAIN.OF PLANT &amp; EQUIP. </c:v>
                </c:pt>
                <c:pt idx="5">
                  <c:v>08 OPTG. EXPENSES-ROLL. STOCK </c:v>
                </c:pt>
                <c:pt idx="6">
                  <c:v>09 OPTG.EXPENSES-TRAFFIC </c:v>
                </c:pt>
                <c:pt idx="7">
                  <c:v>10 OPTG. EXPENSES-FUEL </c:v>
                </c:pt>
                <c:pt idx="8">
                  <c:v>11 STAFF WELFARE &amp; AMENITIES </c:v>
                </c:pt>
                <c:pt idx="9">
                  <c:v>12 MISC.  WORKING EXPENSES </c:v>
                </c:pt>
                <c:pt idx="10">
                  <c:v>13 PF,PN &amp; OTHER RET. BENEFITS </c:v>
                </c:pt>
              </c:strCache>
            </c:strRef>
          </c:cat>
          <c:val>
            <c:numRef>
              <c:f>'DD wise'!$C$3:$C$13</c:f>
              <c:numCache>
                <c:formatCode>#####0.00</c:formatCode>
                <c:ptCount val="11"/>
                <c:pt idx="0">
                  <c:v>444.46100000000001</c:v>
                </c:pt>
                <c:pt idx="1">
                  <c:v>1032.1034999999999</c:v>
                </c:pt>
                <c:pt idx="2">
                  <c:v>557.54849999999999</c:v>
                </c:pt>
                <c:pt idx="3">
                  <c:v>1134.2716</c:v>
                </c:pt>
                <c:pt idx="4">
                  <c:v>554</c:v>
                </c:pt>
                <c:pt idx="5">
                  <c:v>1130.4667999999999</c:v>
                </c:pt>
                <c:pt idx="6">
                  <c:v>2708.1037999999999</c:v>
                </c:pt>
                <c:pt idx="7">
                  <c:v>1324.5914</c:v>
                </c:pt>
                <c:pt idx="8">
                  <c:v>756.82640000000004</c:v>
                </c:pt>
                <c:pt idx="9">
                  <c:v>597.54809999999998</c:v>
                </c:pt>
                <c:pt idx="10">
                  <c:v>364.1028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CE-4E5C-819C-22081A101EEC}"/>
            </c:ext>
          </c:extLst>
        </c:ser>
        <c:ser>
          <c:idx val="3"/>
          <c:order val="3"/>
          <c:tx>
            <c:strRef>
              <c:f>'DD wise'!$D$2</c:f>
              <c:strCache>
                <c:ptCount val="1"/>
                <c:pt idx="0">
                  <c:v>ACTUALS 
 UPTO 
AUG 2026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'DD wise'!$A$3:$A$13</c:f>
              <c:strCache>
                <c:ptCount val="11"/>
                <c:pt idx="0">
                  <c:v>03 GEN. SUPDT.&amp; SERVICES </c:v>
                </c:pt>
                <c:pt idx="1">
                  <c:v>04 REP.&amp; MAIN. OF P.WAY &amp; WKS. </c:v>
                </c:pt>
                <c:pt idx="2">
                  <c:v>05 REP.&amp; MAIN. OF MOTIVE POWER </c:v>
                </c:pt>
                <c:pt idx="3">
                  <c:v>06 REP.&amp; MAIN.OF CARR. &amp; WAG. </c:v>
                </c:pt>
                <c:pt idx="4">
                  <c:v>07 REP.&amp; MAIN.OF PLANT &amp; EQUIP. </c:v>
                </c:pt>
                <c:pt idx="5">
                  <c:v>08 OPTG. EXPENSES-ROLL. STOCK </c:v>
                </c:pt>
                <c:pt idx="6">
                  <c:v>09 OPTG.EXPENSES-TRAFFIC </c:v>
                </c:pt>
                <c:pt idx="7">
                  <c:v>10 OPTG. EXPENSES-FUEL </c:v>
                </c:pt>
                <c:pt idx="8">
                  <c:v>11 STAFF WELFARE &amp; AMENITIES </c:v>
                </c:pt>
                <c:pt idx="9">
                  <c:v>12 MISC.  WORKING EXPENSES </c:v>
                </c:pt>
                <c:pt idx="10">
                  <c:v>13 PF,PN &amp; OTHER RET. BENEFITS </c:v>
                </c:pt>
              </c:strCache>
            </c:strRef>
          </c:cat>
          <c:val>
            <c:numRef>
              <c:f>'DD wise'!$D$3:$D$13</c:f>
              <c:numCache>
                <c:formatCode>#####0.00</c:formatCode>
                <c:ptCount val="11"/>
                <c:pt idx="0">
                  <c:v>437.1309</c:v>
                </c:pt>
                <c:pt idx="1">
                  <c:v>1089.0869</c:v>
                </c:pt>
                <c:pt idx="2">
                  <c:v>643.52149999999995</c:v>
                </c:pt>
                <c:pt idx="3">
                  <c:v>1225.8733999999999</c:v>
                </c:pt>
                <c:pt idx="4">
                  <c:v>250.97059999999999</c:v>
                </c:pt>
                <c:pt idx="5">
                  <c:v>1303.511</c:v>
                </c:pt>
                <c:pt idx="6">
                  <c:v>2581.6478999999999</c:v>
                </c:pt>
                <c:pt idx="7">
                  <c:v>1468.6927000000001</c:v>
                </c:pt>
                <c:pt idx="8">
                  <c:v>809.91089999999997</c:v>
                </c:pt>
                <c:pt idx="9">
                  <c:v>808.04899999999998</c:v>
                </c:pt>
                <c:pt idx="10">
                  <c:v>374.14819999999997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CE-4E5C-819C-22081A101E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92668799"/>
        <c:axId val="592669759"/>
      </c:barChart>
      <c:lineChart>
        <c:grouping val="standard"/>
        <c:varyColors val="0"/>
        <c:ser>
          <c:idx val="5"/>
          <c:order val="5"/>
          <c:tx>
            <c:strRef>
              <c:f>'DD wise'!$E$2</c:f>
              <c:strCache>
                <c:ptCount val="1"/>
                <c:pt idx="0">
                  <c:v>% of BG-SL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4.6214357290656014E-3"/>
                  <c:y val="-5.15976718628144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DCE-4E5C-819C-22081A101EEC}"/>
                </c:ext>
              </c:extLst>
            </c:dLbl>
            <c:dLbl>
              <c:idx val="1"/>
              <c:layout>
                <c:manualLayout>
                  <c:x val="3.4660767967991586E-3"/>
                  <c:y val="-3.51802308155553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DCE-4E5C-819C-22081A101EEC}"/>
                </c:ext>
              </c:extLst>
            </c:dLbl>
            <c:dLbl>
              <c:idx val="2"/>
              <c:layout>
                <c:manualLayout>
                  <c:x val="1.1553589322664004E-3"/>
                  <c:y val="-4.45616256997034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DCE-4E5C-819C-22081A101EEC}"/>
                </c:ext>
              </c:extLst>
            </c:dLbl>
            <c:dLbl>
              <c:idx val="8"/>
              <c:layout>
                <c:manualLayout>
                  <c:x val="3.4660767967991161E-3"/>
                  <c:y val="-4.456162569970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DCE-4E5C-819C-22081A101E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'DD wise'!$E$3:$E$13</c:f>
              <c:numCache>
                <c:formatCode>0.00%</c:formatCode>
                <c:ptCount val="11"/>
                <c:pt idx="0">
                  <c:v>0.43056478699827627</c:v>
                </c:pt>
                <c:pt idx="1">
                  <c:v>0.4834348657898358</c:v>
                </c:pt>
                <c:pt idx="2">
                  <c:v>0.48815236520314348</c:v>
                </c:pt>
                <c:pt idx="3">
                  <c:v>0.52635182481751819</c:v>
                </c:pt>
                <c:pt idx="4">
                  <c:v>0.26467270598905329</c:v>
                </c:pt>
                <c:pt idx="5">
                  <c:v>0.51681303301469739</c:v>
                </c:pt>
                <c:pt idx="6">
                  <c:v>0.33162120918235616</c:v>
                </c:pt>
                <c:pt idx="7">
                  <c:v>0.57724370362218591</c:v>
                </c:pt>
                <c:pt idx="8">
                  <c:v>0.62532207629768599</c:v>
                </c:pt>
                <c:pt idx="9">
                  <c:v>0.61022323225160457</c:v>
                </c:pt>
                <c:pt idx="10">
                  <c:v>0.40558070460704604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DCE-4E5C-819C-22081A101E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85796719"/>
        <c:axId val="685788079"/>
      </c:lineChart>
      <c:catAx>
        <c:axId val="59266879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592669759"/>
        <c:crosses val="autoZero"/>
        <c:auto val="1"/>
        <c:lblAlgn val="ctr"/>
        <c:lblOffset val="100"/>
        <c:noMultiLvlLbl val="0"/>
      </c:catAx>
      <c:valAx>
        <c:axId val="5926697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592668799"/>
        <c:crosses val="autoZero"/>
        <c:crossBetween val="between"/>
      </c:valAx>
      <c:valAx>
        <c:axId val="685788079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85796719"/>
        <c:crosses val="max"/>
        <c:crossBetween val="between"/>
      </c:valAx>
      <c:catAx>
        <c:axId val="685796719"/>
        <c:scaling>
          <c:orientation val="minMax"/>
        </c:scaling>
        <c:delete val="1"/>
        <c:axPos val="b"/>
        <c:majorTickMark val="none"/>
        <c:minorTickMark val="none"/>
        <c:tickLblPos val="nextTo"/>
        <c:crossAx val="685788079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23445693545316"/>
          <c:y val="5.0545572970828713E-2"/>
          <c:w val="0.81805080409298092"/>
          <c:h val="0.3896365069707601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'DLI OWE'!$B$1</c:f>
              <c:strCache>
                <c:ptCount val="1"/>
                <c:pt idx="0">
                  <c:v>BG_ISL 
2026-2027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'DLI OWE'!$A$2:$A$12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'DLI OWE'!$B$2:$B$12</c:f>
              <c:numCache>
                <c:formatCode>#####0.00</c:formatCode>
                <c:ptCount val="11"/>
                <c:pt idx="0">
                  <c:v>113.48650000000001</c:v>
                </c:pt>
                <c:pt idx="1">
                  <c:v>631.02009999999996</c:v>
                </c:pt>
                <c:pt idx="2">
                  <c:v>375.19970000000001</c:v>
                </c:pt>
                <c:pt idx="3">
                  <c:v>761.28129999999999</c:v>
                </c:pt>
                <c:pt idx="4">
                  <c:v>443.07929999999999</c:v>
                </c:pt>
                <c:pt idx="5">
                  <c:v>1118.9232</c:v>
                </c:pt>
                <c:pt idx="6">
                  <c:v>832.01319999999998</c:v>
                </c:pt>
                <c:pt idx="7">
                  <c:v>835.19299999999998</c:v>
                </c:pt>
                <c:pt idx="8">
                  <c:v>332.06009999999998</c:v>
                </c:pt>
                <c:pt idx="9">
                  <c:v>306.22919999999999</c:v>
                </c:pt>
                <c:pt idx="10">
                  <c:v>264.67090000000002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87-4BCA-9F52-5BF2E8B89CAF}"/>
            </c:ext>
          </c:extLst>
        </c:ser>
        <c:ser>
          <c:idx val="1"/>
          <c:order val="1"/>
          <c:tx>
            <c:strRef>
              <c:f>'DLI OWE'!$C$1</c:f>
              <c:strCache>
                <c:ptCount val="1"/>
                <c:pt idx="0">
                  <c:v>COPPY 
 UPTO 
AUGUST 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'DLI OWE'!$A$2:$A$12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'DLI OWE'!$C$2:$C$12</c:f>
              <c:numCache>
                <c:formatCode>#####0.00</c:formatCode>
                <c:ptCount val="11"/>
                <c:pt idx="0">
                  <c:v>49.822600000000001</c:v>
                </c:pt>
                <c:pt idx="1">
                  <c:v>313.99239999999998</c:v>
                </c:pt>
                <c:pt idx="2">
                  <c:v>108.7594</c:v>
                </c:pt>
                <c:pt idx="3">
                  <c:v>326.61840000000001</c:v>
                </c:pt>
                <c:pt idx="4">
                  <c:v>185.2406</c:v>
                </c:pt>
                <c:pt idx="5">
                  <c:v>473.28449999999998</c:v>
                </c:pt>
                <c:pt idx="6">
                  <c:v>359.9622</c:v>
                </c:pt>
                <c:pt idx="7">
                  <c:v>411.464</c:v>
                </c:pt>
                <c:pt idx="8">
                  <c:v>205.13659999999999</c:v>
                </c:pt>
                <c:pt idx="9">
                  <c:v>135.31489999999999</c:v>
                </c:pt>
                <c:pt idx="10">
                  <c:v>99.582599999999999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87-4BCA-9F52-5BF2E8B89CAF}"/>
            </c:ext>
          </c:extLst>
        </c:ser>
        <c:ser>
          <c:idx val="2"/>
          <c:order val="2"/>
          <c:tx>
            <c:strRef>
              <c:f>'DLI OWE'!$D$1</c:f>
              <c:strCache>
                <c:ptCount val="1"/>
                <c:pt idx="0">
                  <c:v>ACTUALS 
 UPTO 
AUGUST 2026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'DLI OWE'!$A$2:$A$12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'DLI OWE'!$D$2:$D$12</c:f>
              <c:numCache>
                <c:formatCode>#####0.00</c:formatCode>
                <c:ptCount val="11"/>
                <c:pt idx="0">
                  <c:v>42.451999999999998</c:v>
                </c:pt>
                <c:pt idx="1">
                  <c:v>305.30200000000002</c:v>
                </c:pt>
                <c:pt idx="2">
                  <c:v>179.68819999999999</c:v>
                </c:pt>
                <c:pt idx="3">
                  <c:v>367.38869999999997</c:v>
                </c:pt>
                <c:pt idx="4">
                  <c:v>195.43109999999999</c:v>
                </c:pt>
                <c:pt idx="5">
                  <c:v>555.88710000000003</c:v>
                </c:pt>
                <c:pt idx="6">
                  <c:v>378.66829999999999</c:v>
                </c:pt>
                <c:pt idx="7">
                  <c:v>460.08670000000001</c:v>
                </c:pt>
                <c:pt idx="8">
                  <c:v>228.00989999999999</c:v>
                </c:pt>
                <c:pt idx="9">
                  <c:v>139.30369999999999</c:v>
                </c:pt>
                <c:pt idx="10">
                  <c:v>107.009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87-4BCA-9F52-5BF2E8B89C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92642399"/>
        <c:axId val="592642879"/>
      </c:barChart>
      <c:lineChart>
        <c:grouping val="standard"/>
        <c:varyColors val="0"/>
        <c:ser>
          <c:idx val="3"/>
          <c:order val="3"/>
          <c:tx>
            <c:strRef>
              <c:f>'DLI OWE'!$E$1</c:f>
              <c:strCache>
                <c:ptCount val="1"/>
                <c:pt idx="0">
                  <c:v>% of BG-SL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7564182930814655E-3"/>
                  <c:y val="-5.40818776205890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587-4BCA-9F52-5BF2E8B89CAF}"/>
                </c:ext>
              </c:extLst>
            </c:dLbl>
            <c:dLbl>
              <c:idx val="1"/>
              <c:layout>
                <c:manualLayout>
                  <c:x val="-1.1512836586162929E-3"/>
                  <c:y val="-4.95750544855399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587-4BCA-9F52-5BF2E8B89CAF}"/>
                </c:ext>
              </c:extLst>
            </c:dLbl>
            <c:dLbl>
              <c:idx val="2"/>
              <c:layout>
                <c:manualLayout>
                  <c:x val="-1.496668756201181E-2"/>
                  <c:y val="4.05614082154417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87-4BCA-9F52-5BF2E8B89CAF}"/>
                </c:ext>
              </c:extLst>
            </c:dLbl>
            <c:dLbl>
              <c:idx val="3"/>
              <c:layout>
                <c:manualLayout>
                  <c:x val="2.3025673172325858E-3"/>
                  <c:y val="-4.95750544855399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587-4BCA-9F52-5BF2E8B89CAF}"/>
                </c:ext>
              </c:extLst>
            </c:dLbl>
            <c:dLbl>
              <c:idx val="4"/>
              <c:layout>
                <c:manualLayout>
                  <c:x val="-4.6051346344652567E-3"/>
                  <c:y val="3.60545850803926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587-4BCA-9F52-5BF2E8B89CAF}"/>
                </c:ext>
              </c:extLst>
            </c:dLbl>
            <c:dLbl>
              <c:idx val="5"/>
              <c:layout>
                <c:manualLayout>
                  <c:x val="3.4538509758487946E-3"/>
                  <c:y val="-6.76023470257362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587-4BCA-9F52-5BF2E8B89CAF}"/>
                </c:ext>
              </c:extLst>
            </c:dLbl>
            <c:dLbl>
              <c:idx val="6"/>
              <c:layout>
                <c:manualLayout>
                  <c:x val="-4.6051346344652567E-3"/>
                  <c:y val="3.3801173512868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587-4BCA-9F52-5BF2E8B89CAF}"/>
                </c:ext>
              </c:extLst>
            </c:dLbl>
            <c:dLbl>
              <c:idx val="9"/>
              <c:layout>
                <c:manualLayout>
                  <c:x val="-2.3025673172325858E-3"/>
                  <c:y val="-5.63352891881135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587-4BCA-9F52-5BF2E8B89C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'DLI OWE'!$A$2:$A$12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'DLI OWE'!$E$2:$E$12</c:f>
              <c:numCache>
                <c:formatCode>0.00%</c:formatCode>
                <c:ptCount val="11"/>
                <c:pt idx="0">
                  <c:v>0.37407092473554121</c:v>
                </c:pt>
                <c:pt idx="1">
                  <c:v>0.48382294002996107</c:v>
                </c:pt>
                <c:pt idx="2">
                  <c:v>0.47891349593296578</c:v>
                </c:pt>
                <c:pt idx="3">
                  <c:v>0.48259257123483784</c:v>
                </c:pt>
                <c:pt idx="4">
                  <c:v>0.44107476923431088</c:v>
                </c:pt>
                <c:pt idx="5">
                  <c:v>0.49680541077350088</c:v>
                </c:pt>
                <c:pt idx="6">
                  <c:v>0.45512294756862032</c:v>
                </c:pt>
                <c:pt idx="7">
                  <c:v>0.55087470800162364</c:v>
                </c:pt>
                <c:pt idx="8">
                  <c:v>0.68665250657938126</c:v>
                </c:pt>
                <c:pt idx="9">
                  <c:v>0.45490012056329049</c:v>
                </c:pt>
                <c:pt idx="10">
                  <c:v>0.40430965398916163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587-4BCA-9F52-5BF2E8B89C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71058255"/>
        <c:axId val="571054895"/>
      </c:lineChart>
      <c:catAx>
        <c:axId val="592642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592642879"/>
        <c:crosses val="autoZero"/>
        <c:auto val="1"/>
        <c:lblAlgn val="ctr"/>
        <c:lblOffset val="100"/>
        <c:noMultiLvlLbl val="0"/>
      </c:catAx>
      <c:valAx>
        <c:axId val="592642879"/>
        <c:scaling>
          <c:orientation val="minMax"/>
        </c:scaling>
        <c:delete val="0"/>
        <c:axPos val="l"/>
        <c:numFmt formatCode="###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592642399"/>
        <c:crosses val="autoZero"/>
        <c:crossBetween val="between"/>
      </c:valAx>
      <c:valAx>
        <c:axId val="571054895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571058255"/>
        <c:crosses val="max"/>
        <c:crossBetween val="between"/>
      </c:valAx>
      <c:catAx>
        <c:axId val="5710582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71054895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0817533778163958"/>
          <c:y val="0.87714329160263516"/>
          <c:w val="0.4413081032264895"/>
          <c:h val="0.104236350828878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060800989449394"/>
          <c:y val="1.9138873761523203E-2"/>
          <c:w val="0.84315600535441804"/>
          <c:h val="0.423504857138063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'FZR OWE'!$B$1</c:f>
              <c:strCache>
                <c:ptCount val="1"/>
                <c:pt idx="0">
                  <c:v>BG_ISL 
2026-2027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'FZR OWE'!$A$2:$A$12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'FZR OWE'!$B$2:$B$12</c:f>
              <c:numCache>
                <c:formatCode>#####0.00</c:formatCode>
                <c:ptCount val="11"/>
                <c:pt idx="0">
                  <c:v>33.860799999999998</c:v>
                </c:pt>
                <c:pt idx="1">
                  <c:v>231.67060000000001</c:v>
                </c:pt>
                <c:pt idx="2">
                  <c:v>200.57490000000001</c:v>
                </c:pt>
                <c:pt idx="3">
                  <c:v>256.6474</c:v>
                </c:pt>
                <c:pt idx="4">
                  <c:v>126.7371</c:v>
                </c:pt>
                <c:pt idx="5">
                  <c:v>286.57580000000002</c:v>
                </c:pt>
                <c:pt idx="6">
                  <c:v>302.63909999999998</c:v>
                </c:pt>
                <c:pt idx="7">
                  <c:v>420.05869999999999</c:v>
                </c:pt>
                <c:pt idx="8">
                  <c:v>131.0933</c:v>
                </c:pt>
                <c:pt idx="9">
                  <c:v>91.006799999999998</c:v>
                </c:pt>
                <c:pt idx="10">
                  <c:v>112.17010000000001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A3-4007-ADAC-8067529394AA}"/>
            </c:ext>
          </c:extLst>
        </c:ser>
        <c:ser>
          <c:idx val="1"/>
          <c:order val="1"/>
          <c:tx>
            <c:strRef>
              <c:f>'FZR OWE'!$C$1</c:f>
              <c:strCache>
                <c:ptCount val="1"/>
                <c:pt idx="0">
                  <c:v>COPPY 
 UPTO 
AUGUST 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'FZR OWE'!$A$2:$A$12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'FZR OWE'!$C$2:$C$12</c:f>
              <c:numCache>
                <c:formatCode>#####0.00</c:formatCode>
                <c:ptCount val="11"/>
                <c:pt idx="0">
                  <c:v>24.1081</c:v>
                </c:pt>
                <c:pt idx="1">
                  <c:v>167.03980000000001</c:v>
                </c:pt>
                <c:pt idx="2">
                  <c:v>91.311899999999994</c:v>
                </c:pt>
                <c:pt idx="3">
                  <c:v>135.02160000000001</c:v>
                </c:pt>
                <c:pt idx="4">
                  <c:v>78.360299999999995</c:v>
                </c:pt>
                <c:pt idx="5">
                  <c:v>169.23429999999999</c:v>
                </c:pt>
                <c:pt idx="6">
                  <c:v>169.7072</c:v>
                </c:pt>
                <c:pt idx="7">
                  <c:v>219.48500000000001</c:v>
                </c:pt>
                <c:pt idx="8">
                  <c:v>92.772000000000006</c:v>
                </c:pt>
                <c:pt idx="9">
                  <c:v>92.834599999999995</c:v>
                </c:pt>
                <c:pt idx="10">
                  <c:v>55.9651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A3-4007-ADAC-8067529394AA}"/>
            </c:ext>
          </c:extLst>
        </c:ser>
        <c:ser>
          <c:idx val="2"/>
          <c:order val="2"/>
          <c:tx>
            <c:strRef>
              <c:f>'FZR OWE'!$D$1</c:f>
              <c:strCache>
                <c:ptCount val="1"/>
                <c:pt idx="0">
                  <c:v>ACTUALS 
 UPTO 
AUGUST 2026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'FZR OWE'!$A$2:$A$12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'FZR OWE'!$D$2:$D$12</c:f>
              <c:numCache>
                <c:formatCode>#####0.00</c:formatCode>
                <c:ptCount val="11"/>
                <c:pt idx="0">
                  <c:v>20.911200000000001</c:v>
                </c:pt>
                <c:pt idx="1">
                  <c:v>103.5474</c:v>
                </c:pt>
                <c:pt idx="2">
                  <c:v>95.663600000000002</c:v>
                </c:pt>
                <c:pt idx="3">
                  <c:v>106.62990000000001</c:v>
                </c:pt>
                <c:pt idx="4">
                  <c:v>57.113</c:v>
                </c:pt>
                <c:pt idx="5">
                  <c:v>126.7915</c:v>
                </c:pt>
                <c:pt idx="6">
                  <c:v>120.08450000000001</c:v>
                </c:pt>
                <c:pt idx="7">
                  <c:v>188.45009999999999</c:v>
                </c:pt>
                <c:pt idx="8">
                  <c:v>99.659099999999995</c:v>
                </c:pt>
                <c:pt idx="9">
                  <c:v>30.258500000000002</c:v>
                </c:pt>
                <c:pt idx="10">
                  <c:v>37.1815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A3-4007-ADAC-8067529394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85813519"/>
        <c:axId val="685806319"/>
      </c:barChart>
      <c:lineChart>
        <c:grouping val="standard"/>
        <c:varyColors val="0"/>
        <c:ser>
          <c:idx val="3"/>
          <c:order val="3"/>
          <c:tx>
            <c:strRef>
              <c:f>'FZR OWE'!$E$1</c:f>
              <c:strCache>
                <c:ptCount val="1"/>
                <c:pt idx="0">
                  <c:v>% of BG-SL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3.5258813106913141E-3"/>
                  <c:y val="-5.96614264382665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8A3-4007-ADAC-8067529394AA}"/>
                </c:ext>
              </c:extLst>
            </c:dLbl>
            <c:dLbl>
              <c:idx val="2"/>
              <c:layout>
                <c:manualLayout>
                  <c:x val="-4.3093607087423003E-17"/>
                  <c:y val="-4.04845393688237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8A3-4007-ADAC-8067529394AA}"/>
                </c:ext>
              </c:extLst>
            </c:dLbl>
            <c:dLbl>
              <c:idx val="3"/>
              <c:layout>
                <c:manualLayout>
                  <c:x val="0"/>
                  <c:y val="3.40922436790094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8A3-4007-ADAC-8067529394AA}"/>
                </c:ext>
              </c:extLst>
            </c:dLbl>
            <c:dLbl>
              <c:idx val="4"/>
              <c:layout>
                <c:manualLayout>
                  <c:x val="-2.350587540460876E-3"/>
                  <c:y val="-7.24460178178950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8A3-4007-ADAC-8067529394AA}"/>
                </c:ext>
              </c:extLst>
            </c:dLbl>
            <c:dLbl>
              <c:idx val="5"/>
              <c:layout>
                <c:manualLayout>
                  <c:x val="-7.0517626213827149E-3"/>
                  <c:y val="-4.47460698286999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8A3-4007-ADAC-8067529394AA}"/>
                </c:ext>
              </c:extLst>
            </c:dLbl>
            <c:dLbl>
              <c:idx val="6"/>
              <c:layout>
                <c:manualLayout>
                  <c:x val="-3.5258813106913141E-3"/>
                  <c:y val="-3.83537741388856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8A3-4007-ADAC-8067529394AA}"/>
                </c:ext>
              </c:extLst>
            </c:dLbl>
            <c:dLbl>
              <c:idx val="9"/>
              <c:layout>
                <c:manualLayout>
                  <c:x val="-4.7011750809219247E-3"/>
                  <c:y val="-4.26153045987618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8A3-4007-ADAC-8067529394AA}"/>
                </c:ext>
              </c:extLst>
            </c:dLbl>
            <c:dLbl>
              <c:idx val="10"/>
              <c:layout>
                <c:manualLayout>
                  <c:x val="-1.6454112783226133E-2"/>
                  <c:y val="-5.75306612083284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47A-43B7-B11F-0DA2F2AE56C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'FZR OWE'!$A$2:$A$12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'FZR OWE'!$E$2:$E$12</c:f>
              <c:numCache>
                <c:formatCode>0.00%</c:formatCode>
                <c:ptCount val="11"/>
                <c:pt idx="0">
                  <c:v>0.61756367244719568</c:v>
                </c:pt>
                <c:pt idx="1">
                  <c:v>0.44695960557791964</c:v>
                </c:pt>
                <c:pt idx="2">
                  <c:v>0.47694701580307403</c:v>
                </c:pt>
                <c:pt idx="3">
                  <c:v>0.41547235623661105</c:v>
                </c:pt>
                <c:pt idx="4">
                  <c:v>0.4506415248573622</c:v>
                </c:pt>
                <c:pt idx="5">
                  <c:v>0.44243617220993536</c:v>
                </c:pt>
                <c:pt idx="6">
                  <c:v>0.39679109540042912</c:v>
                </c:pt>
                <c:pt idx="7">
                  <c:v>0.44862801318006268</c:v>
                </c:pt>
                <c:pt idx="8">
                  <c:v>0.76021505294320912</c:v>
                </c:pt>
                <c:pt idx="9">
                  <c:v>0.33248614389254433</c:v>
                </c:pt>
                <c:pt idx="10">
                  <c:v>0.33147425205112591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8A3-4007-ADAC-8067529394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6883951"/>
        <c:axId val="616886831"/>
      </c:lineChart>
      <c:catAx>
        <c:axId val="685813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85806319"/>
        <c:crosses val="autoZero"/>
        <c:auto val="1"/>
        <c:lblAlgn val="ctr"/>
        <c:lblOffset val="100"/>
        <c:noMultiLvlLbl val="0"/>
      </c:catAx>
      <c:valAx>
        <c:axId val="685806319"/>
        <c:scaling>
          <c:orientation val="minMax"/>
        </c:scaling>
        <c:delete val="0"/>
        <c:axPos val="l"/>
        <c:numFmt formatCode="###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85813519"/>
        <c:crosses val="autoZero"/>
        <c:crossBetween val="between"/>
      </c:valAx>
      <c:valAx>
        <c:axId val="616886831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16883951"/>
        <c:crosses val="max"/>
        <c:crossBetween val="between"/>
      </c:valAx>
      <c:catAx>
        <c:axId val="61688395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16886831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'JAT OWE (2)'!$B$1</c:f>
              <c:strCache>
                <c:ptCount val="1"/>
                <c:pt idx="0">
                  <c:v>BG_ISL 
2026-2027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'JAT OWE (2)'!$A$2:$A$12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'JAT OWE (2)'!$B$2:$B$12</c:f>
              <c:numCache>
                <c:formatCode>#####0.00</c:formatCode>
                <c:ptCount val="11"/>
                <c:pt idx="0">
                  <c:v>26.759599999999999</c:v>
                </c:pt>
                <c:pt idx="1">
                  <c:v>163.0069</c:v>
                </c:pt>
                <c:pt idx="2">
                  <c:v>4.9595000000000002</c:v>
                </c:pt>
                <c:pt idx="3">
                  <c:v>98.9572</c:v>
                </c:pt>
                <c:pt idx="4">
                  <c:v>58.048900000000003</c:v>
                </c:pt>
                <c:pt idx="5">
                  <c:v>84.692800000000005</c:v>
                </c:pt>
                <c:pt idx="6">
                  <c:v>80.517799999999994</c:v>
                </c:pt>
                <c:pt idx="7">
                  <c:v>84.330200000000005</c:v>
                </c:pt>
                <c:pt idx="8">
                  <c:v>34.060499999999998</c:v>
                </c:pt>
                <c:pt idx="9">
                  <c:v>126.8998</c:v>
                </c:pt>
                <c:pt idx="10">
                  <c:v>60.715299999999999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1D-41C6-8B39-42F893E4D5E9}"/>
            </c:ext>
          </c:extLst>
        </c:ser>
        <c:ser>
          <c:idx val="1"/>
          <c:order val="1"/>
          <c:tx>
            <c:strRef>
              <c:f>'JAT OWE (2)'!$C$1</c:f>
              <c:strCache>
                <c:ptCount val="1"/>
                <c:pt idx="0">
                  <c:v>COPPY 
 UPTO 
AUGUST 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'JAT OWE (2)'!$A$2:$A$12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'JAT OWE (2)'!$C$2:$C$12</c:f>
              <c:numCache>
                <c:formatCode>#####0.00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1D-41C6-8B39-42F893E4D5E9}"/>
            </c:ext>
          </c:extLst>
        </c:ser>
        <c:ser>
          <c:idx val="2"/>
          <c:order val="2"/>
          <c:tx>
            <c:strRef>
              <c:f>'JAT OWE (2)'!$D$1</c:f>
              <c:strCache>
                <c:ptCount val="1"/>
                <c:pt idx="0">
                  <c:v>ACTUALS 
 UPTO 
AUGUST 2026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'JAT OWE (2)'!$A$2:$A$12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'JAT OWE (2)'!$D$2:$D$12</c:f>
              <c:numCache>
                <c:formatCode>#####0.00</c:formatCode>
                <c:ptCount val="11"/>
                <c:pt idx="0">
                  <c:v>10.821</c:v>
                </c:pt>
                <c:pt idx="1">
                  <c:v>76.460099999999997</c:v>
                </c:pt>
                <c:pt idx="2">
                  <c:v>3.5310000000000001</c:v>
                </c:pt>
                <c:pt idx="3">
                  <c:v>43.589799999999997</c:v>
                </c:pt>
                <c:pt idx="4">
                  <c:v>47.366</c:v>
                </c:pt>
                <c:pt idx="5">
                  <c:v>75.901200000000003</c:v>
                </c:pt>
                <c:pt idx="6">
                  <c:v>53.404400000000003</c:v>
                </c:pt>
                <c:pt idx="7">
                  <c:v>54.237299999999998</c:v>
                </c:pt>
                <c:pt idx="8">
                  <c:v>24.0732</c:v>
                </c:pt>
                <c:pt idx="9">
                  <c:v>58.073999999999998</c:v>
                </c:pt>
                <c:pt idx="10">
                  <c:v>23.158999999999999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1D-41C6-8B39-42F893E4D5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85840399"/>
        <c:axId val="685840879"/>
      </c:barChart>
      <c:lineChart>
        <c:grouping val="standard"/>
        <c:varyColors val="0"/>
        <c:ser>
          <c:idx val="3"/>
          <c:order val="3"/>
          <c:tx>
            <c:strRef>
              <c:f>'JAT OWE (2)'!$E$1</c:f>
              <c:strCache>
                <c:ptCount val="1"/>
                <c:pt idx="0">
                  <c:v>% of BG-SL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1.2553419427445459E-2"/>
                  <c:y val="3.08016555283514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F1D-41C6-8B39-42F893E4D5E9}"/>
                </c:ext>
              </c:extLst>
            </c:dLbl>
            <c:dLbl>
              <c:idx val="6"/>
              <c:layout>
                <c:manualLayout>
                  <c:x val="0"/>
                  <c:y val="-3.96021285364519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F1D-41C6-8B39-42F893E4D5E9}"/>
                </c:ext>
              </c:extLst>
            </c:dLbl>
            <c:dLbl>
              <c:idx val="9"/>
              <c:layout>
                <c:manualLayout>
                  <c:x val="0"/>
                  <c:y val="-5.28028380486025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F1D-41C6-8B39-42F893E4D5E9}"/>
                </c:ext>
              </c:extLst>
            </c:dLbl>
            <c:dLbl>
              <c:idx val="10"/>
              <c:layout>
                <c:manualLayout>
                  <c:x val="-2.1683179011042157E-2"/>
                  <c:y val="-3.52018920324017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F1D-41C6-8B39-42F893E4D5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'JAT OWE (2)'!$A$2:$A$12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'JAT OWE (2)'!$E$2:$E$12</c:f>
              <c:numCache>
                <c:formatCode>0.00%</c:formatCode>
                <c:ptCount val="11"/>
                <c:pt idx="0">
                  <c:v>0.40437824182723209</c:v>
                </c:pt>
                <c:pt idx="1">
                  <c:v>0.46906051216236855</c:v>
                </c:pt>
                <c:pt idx="2">
                  <c:v>0.7119669321504184</c:v>
                </c:pt>
                <c:pt idx="3">
                  <c:v>0.44049144478623076</c:v>
                </c:pt>
                <c:pt idx="4">
                  <c:v>0.81596722763049767</c:v>
                </c:pt>
                <c:pt idx="5">
                  <c:v>0.89619424555570248</c:v>
                </c:pt>
                <c:pt idx="6">
                  <c:v>0.66326203646895476</c:v>
                </c:pt>
                <c:pt idx="7">
                  <c:v>0.64315393536360632</c:v>
                </c:pt>
                <c:pt idx="8">
                  <c:v>0.70677764565992873</c:v>
                </c:pt>
                <c:pt idx="9">
                  <c:v>0.45763665506171008</c:v>
                </c:pt>
                <c:pt idx="10">
                  <c:v>0.38143598071655743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F1D-41C6-8B39-42F893E4D5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85818319"/>
        <c:axId val="685821679"/>
      </c:lineChart>
      <c:catAx>
        <c:axId val="685840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85840879"/>
        <c:crosses val="autoZero"/>
        <c:auto val="1"/>
        <c:lblAlgn val="ctr"/>
        <c:lblOffset val="100"/>
        <c:noMultiLvlLbl val="0"/>
      </c:catAx>
      <c:valAx>
        <c:axId val="685840879"/>
        <c:scaling>
          <c:orientation val="minMax"/>
        </c:scaling>
        <c:delete val="0"/>
        <c:axPos val="l"/>
        <c:numFmt formatCode="###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85840399"/>
        <c:crosses val="autoZero"/>
        <c:crossBetween val="between"/>
      </c:valAx>
      <c:valAx>
        <c:axId val="685821679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85818319"/>
        <c:crosses val="max"/>
        <c:crossBetween val="between"/>
      </c:valAx>
      <c:catAx>
        <c:axId val="68581831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85821679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'LKO OWE'!$B$1</c:f>
              <c:strCache>
                <c:ptCount val="1"/>
                <c:pt idx="0">
                  <c:v>BG_ISL 
2026-2027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'LKO OWE'!$A$2:$A$12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'LKO OWE'!$B$2:$B$12</c:f>
              <c:numCache>
                <c:formatCode>#####0.00</c:formatCode>
                <c:ptCount val="11"/>
                <c:pt idx="0">
                  <c:v>72.163899999999998</c:v>
                </c:pt>
                <c:pt idx="1">
                  <c:v>377.74029999999999</c:v>
                </c:pt>
                <c:pt idx="2">
                  <c:v>124.8368</c:v>
                </c:pt>
                <c:pt idx="3">
                  <c:v>198.60650000000001</c:v>
                </c:pt>
                <c:pt idx="4">
                  <c:v>205.97829999999999</c:v>
                </c:pt>
                <c:pt idx="5">
                  <c:v>420.68079999999998</c:v>
                </c:pt>
                <c:pt idx="6">
                  <c:v>564.26499999999999</c:v>
                </c:pt>
                <c:pt idx="7">
                  <c:v>381.137</c:v>
                </c:pt>
                <c:pt idx="8">
                  <c:v>192.4015</c:v>
                </c:pt>
                <c:pt idx="9">
                  <c:v>112.12390000000001</c:v>
                </c:pt>
                <c:pt idx="10">
                  <c:v>130.5821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48-440A-A30F-7E5EBAE501BC}"/>
            </c:ext>
          </c:extLst>
        </c:ser>
        <c:ser>
          <c:idx val="1"/>
          <c:order val="1"/>
          <c:tx>
            <c:strRef>
              <c:f>'LKO OWE'!$C$1</c:f>
              <c:strCache>
                <c:ptCount val="1"/>
                <c:pt idx="0">
                  <c:v>COPPY 
 UPTO 
AUGUST 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'LKO OWE'!$A$2:$A$12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'LKO OWE'!$C$2:$C$12</c:f>
              <c:numCache>
                <c:formatCode>#####0.00</c:formatCode>
                <c:ptCount val="11"/>
                <c:pt idx="0">
                  <c:v>31.671600000000002</c:v>
                </c:pt>
                <c:pt idx="1">
                  <c:v>170.09719999999999</c:v>
                </c:pt>
                <c:pt idx="2">
                  <c:v>58.300199999999997</c:v>
                </c:pt>
                <c:pt idx="3">
                  <c:v>88.768000000000001</c:v>
                </c:pt>
                <c:pt idx="4">
                  <c:v>99.267200000000003</c:v>
                </c:pt>
                <c:pt idx="5">
                  <c:v>201.35730000000001</c:v>
                </c:pt>
                <c:pt idx="6">
                  <c:v>258.60239999999999</c:v>
                </c:pt>
                <c:pt idx="7">
                  <c:v>206.24520000000001</c:v>
                </c:pt>
                <c:pt idx="8">
                  <c:v>110.509</c:v>
                </c:pt>
                <c:pt idx="9">
                  <c:v>48.212699999999998</c:v>
                </c:pt>
                <c:pt idx="10">
                  <c:v>60.439900000000002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48-440A-A30F-7E5EBAE501BC}"/>
            </c:ext>
          </c:extLst>
        </c:ser>
        <c:ser>
          <c:idx val="2"/>
          <c:order val="2"/>
          <c:tx>
            <c:strRef>
              <c:f>'LKO OWE'!$D$1</c:f>
              <c:strCache>
                <c:ptCount val="1"/>
                <c:pt idx="0">
                  <c:v>ACTUALS 
 UPTO 
AUGUST 2026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'LKO OWE'!$A$2:$A$12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'LKO OWE'!$D$2:$D$12</c:f>
              <c:numCache>
                <c:formatCode>#####0.00</c:formatCode>
                <c:ptCount val="11"/>
                <c:pt idx="0">
                  <c:v>33.176099999999998</c:v>
                </c:pt>
                <c:pt idx="1">
                  <c:v>166.07910000000001</c:v>
                </c:pt>
                <c:pt idx="2">
                  <c:v>69.961500000000001</c:v>
                </c:pt>
                <c:pt idx="3">
                  <c:v>95.612499999999997</c:v>
                </c:pt>
                <c:pt idx="4">
                  <c:v>109.99939999999999</c:v>
                </c:pt>
                <c:pt idx="5">
                  <c:v>235.07040000000001</c:v>
                </c:pt>
                <c:pt idx="6">
                  <c:v>272.68540000000002</c:v>
                </c:pt>
                <c:pt idx="7">
                  <c:v>255.05410000000001</c:v>
                </c:pt>
                <c:pt idx="8">
                  <c:v>127.4996</c:v>
                </c:pt>
                <c:pt idx="9">
                  <c:v>52.637799999999999</c:v>
                </c:pt>
                <c:pt idx="10">
                  <c:v>64.403599999999997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48-440A-A30F-7E5EBAE501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16914191"/>
        <c:axId val="616930991"/>
      </c:barChart>
      <c:lineChart>
        <c:grouping val="standard"/>
        <c:varyColors val="0"/>
        <c:ser>
          <c:idx val="3"/>
          <c:order val="3"/>
          <c:tx>
            <c:strRef>
              <c:f>'LKO OWE'!$E$1</c:f>
              <c:strCache>
                <c:ptCount val="1"/>
                <c:pt idx="0">
                  <c:v>% of BG-SL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2.2792366387828296E-3"/>
                  <c:y val="-4.71996453776106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417-4E5C-8F8B-7F9EF433A1B4}"/>
                </c:ext>
              </c:extLst>
            </c:dLbl>
            <c:dLbl>
              <c:idx val="2"/>
              <c:layout>
                <c:manualLayout>
                  <c:x val="-3.418854958174213E-3"/>
                  <c:y val="-3.00361379675704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17-4E5C-8F8B-7F9EF433A1B4}"/>
                </c:ext>
              </c:extLst>
            </c:dLbl>
            <c:dLbl>
              <c:idx val="4"/>
              <c:layout>
                <c:manualLayout>
                  <c:x val="-7.977328235739831E-3"/>
                  <c:y val="4.71996453776106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417-4E5C-8F8B-7F9EF433A1B4}"/>
                </c:ext>
              </c:extLst>
            </c:dLbl>
            <c:dLbl>
              <c:idx val="5"/>
              <c:layout>
                <c:manualLayout>
                  <c:x val="-1.7094274790871149E-2"/>
                  <c:y val="-3.86178916725905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17-4E5C-8F8B-7F9EF433A1B4}"/>
                </c:ext>
              </c:extLst>
            </c:dLbl>
            <c:dLbl>
              <c:idx val="7"/>
              <c:layout>
                <c:manualLayout>
                  <c:x val="-1.139618319391396E-2"/>
                  <c:y val="-4.9345083803865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417-4E5C-8F8B-7F9EF433A1B4}"/>
                </c:ext>
              </c:extLst>
            </c:dLbl>
            <c:dLbl>
              <c:idx val="9"/>
              <c:layout>
                <c:manualLayout>
                  <c:x val="-1.4815038152088256E-2"/>
                  <c:y val="5.578139908263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417-4E5C-8F8B-7F9EF433A1B4}"/>
                </c:ext>
              </c:extLst>
            </c:dLbl>
            <c:dLbl>
              <c:idx val="10"/>
              <c:layout>
                <c:manualLayout>
                  <c:x val="-3.5328167901133536E-2"/>
                  <c:y val="-6.43631527876509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417-4E5C-8F8B-7F9EF433A1B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'LKO OWE'!$A$2:$A$12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'LKO OWE'!$E$2:$E$12</c:f>
              <c:numCache>
                <c:formatCode>0.00%</c:formatCode>
                <c:ptCount val="11"/>
                <c:pt idx="0">
                  <c:v>0.45973263640130313</c:v>
                </c:pt>
                <c:pt idx="1">
                  <c:v>0.43966476438971436</c:v>
                </c:pt>
                <c:pt idx="2">
                  <c:v>0.56042368916857854</c:v>
                </c:pt>
                <c:pt idx="3">
                  <c:v>0.4814167713544118</c:v>
                </c:pt>
                <c:pt idx="4">
                  <c:v>0.53403392493286916</c:v>
                </c:pt>
                <c:pt idx="5">
                  <c:v>0.55878566361954252</c:v>
                </c:pt>
                <c:pt idx="6">
                  <c:v>0.48325768920631268</c:v>
                </c:pt>
                <c:pt idx="7">
                  <c:v>0.66919270498534644</c:v>
                </c:pt>
                <c:pt idx="8">
                  <c:v>0.66267466729729241</c:v>
                </c:pt>
                <c:pt idx="9">
                  <c:v>0.46946101589402434</c:v>
                </c:pt>
                <c:pt idx="10">
                  <c:v>0.49320389241710771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448-440A-A30F-7E5EBAE501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85799599"/>
        <c:axId val="685802959"/>
      </c:lineChart>
      <c:catAx>
        <c:axId val="616914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16930991"/>
        <c:crosses val="autoZero"/>
        <c:auto val="1"/>
        <c:lblAlgn val="ctr"/>
        <c:lblOffset val="100"/>
        <c:noMultiLvlLbl val="0"/>
      </c:catAx>
      <c:valAx>
        <c:axId val="616930991"/>
        <c:scaling>
          <c:orientation val="minMax"/>
        </c:scaling>
        <c:delete val="0"/>
        <c:axPos val="l"/>
        <c:numFmt formatCode="###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16914191"/>
        <c:crosses val="autoZero"/>
        <c:crossBetween val="between"/>
      </c:valAx>
      <c:valAx>
        <c:axId val="685802959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85799599"/>
        <c:crosses val="max"/>
        <c:crossBetween val="between"/>
      </c:valAx>
      <c:catAx>
        <c:axId val="68579959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85802959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'MB OWE (2)'!$B$1</c:f>
              <c:strCache>
                <c:ptCount val="1"/>
                <c:pt idx="0">
                  <c:v>BG_ISL 
2026-2027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'MB OWE (2)'!$A$2:$A$12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'MB OWE (2)'!$B$2:$B$12</c:f>
              <c:numCache>
                <c:formatCode>#####0.00</c:formatCode>
                <c:ptCount val="11"/>
                <c:pt idx="0">
                  <c:v>64.152199999999993</c:v>
                </c:pt>
                <c:pt idx="1">
                  <c:v>360.89019999999999</c:v>
                </c:pt>
                <c:pt idx="2">
                  <c:v>186.48429999999999</c:v>
                </c:pt>
                <c:pt idx="3">
                  <c:v>135.35810000000001</c:v>
                </c:pt>
                <c:pt idx="4">
                  <c:v>205.995</c:v>
                </c:pt>
                <c:pt idx="5">
                  <c:v>335.25659999999999</c:v>
                </c:pt>
                <c:pt idx="6">
                  <c:v>442.8766</c:v>
                </c:pt>
                <c:pt idx="7">
                  <c:v>1160.7206000000001</c:v>
                </c:pt>
                <c:pt idx="8">
                  <c:v>139.28319999999999</c:v>
                </c:pt>
                <c:pt idx="9">
                  <c:v>99.463800000000006</c:v>
                </c:pt>
                <c:pt idx="10">
                  <c:v>129.10669999999999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AF-4CA5-BF03-07C3A9EBA706}"/>
            </c:ext>
          </c:extLst>
        </c:ser>
        <c:ser>
          <c:idx val="1"/>
          <c:order val="1"/>
          <c:tx>
            <c:strRef>
              <c:f>'MB OWE (2)'!$C$1</c:f>
              <c:strCache>
                <c:ptCount val="1"/>
                <c:pt idx="0">
                  <c:v>COPPY 
 UPTO 
AUGUST 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'MB OWE (2)'!$A$2:$A$12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'MB OWE (2)'!$C$2:$C$12</c:f>
              <c:numCache>
                <c:formatCode>#####0.00</c:formatCode>
                <c:ptCount val="11"/>
                <c:pt idx="0">
                  <c:v>26.782499999999999</c:v>
                </c:pt>
                <c:pt idx="1">
                  <c:v>163.51840000000001</c:v>
                </c:pt>
                <c:pt idx="2">
                  <c:v>99.506699999999995</c:v>
                </c:pt>
                <c:pt idx="3">
                  <c:v>64.494399999999999</c:v>
                </c:pt>
                <c:pt idx="4">
                  <c:v>87.592299999999994</c:v>
                </c:pt>
                <c:pt idx="5">
                  <c:v>156.4862</c:v>
                </c:pt>
                <c:pt idx="6">
                  <c:v>202.95930000000001</c:v>
                </c:pt>
                <c:pt idx="7">
                  <c:v>537.92660000000001</c:v>
                </c:pt>
                <c:pt idx="8">
                  <c:v>83.607900000000001</c:v>
                </c:pt>
                <c:pt idx="9">
                  <c:v>41.116300000000003</c:v>
                </c:pt>
                <c:pt idx="10">
                  <c:v>50.107900000000001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AF-4CA5-BF03-07C3A9EBA706}"/>
            </c:ext>
          </c:extLst>
        </c:ser>
        <c:ser>
          <c:idx val="2"/>
          <c:order val="2"/>
          <c:tx>
            <c:strRef>
              <c:f>'MB OWE (2)'!$D$1</c:f>
              <c:strCache>
                <c:ptCount val="1"/>
                <c:pt idx="0">
                  <c:v>ACTUALS 
 UPTO 
AUGUST 2026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'MB OWE (2)'!$A$2:$A$12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'MB OWE (2)'!$D$2:$D$12</c:f>
              <c:numCache>
                <c:formatCode>#####0.00</c:formatCode>
                <c:ptCount val="11"/>
                <c:pt idx="0">
                  <c:v>29.413499999999999</c:v>
                </c:pt>
                <c:pt idx="1">
                  <c:v>178.13200000000001</c:v>
                </c:pt>
                <c:pt idx="2">
                  <c:v>78.203199999999995</c:v>
                </c:pt>
                <c:pt idx="3">
                  <c:v>91.113100000000003</c:v>
                </c:pt>
                <c:pt idx="4">
                  <c:v>99.502200000000002</c:v>
                </c:pt>
                <c:pt idx="5">
                  <c:v>197.8639</c:v>
                </c:pt>
                <c:pt idx="6">
                  <c:v>219.28649999999999</c:v>
                </c:pt>
                <c:pt idx="7">
                  <c:v>570.24749999999995</c:v>
                </c:pt>
                <c:pt idx="8">
                  <c:v>91.695400000000006</c:v>
                </c:pt>
                <c:pt idx="9">
                  <c:v>44.176299999999998</c:v>
                </c:pt>
                <c:pt idx="10">
                  <c:v>53.266100000000002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AF-4CA5-BF03-07C3A9EBA7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92640959"/>
        <c:axId val="592634239"/>
      </c:barChart>
      <c:lineChart>
        <c:grouping val="standard"/>
        <c:varyColors val="0"/>
        <c:ser>
          <c:idx val="3"/>
          <c:order val="3"/>
          <c:tx>
            <c:strRef>
              <c:f>'MB OWE (2)'!$E$1</c:f>
              <c:strCache>
                <c:ptCount val="1"/>
                <c:pt idx="0">
                  <c:v>% of BG-SL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4691469458713827E-3"/>
                  <c:y val="3.26393739819470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4AF-4CA5-BF03-07C3A9EBA706}"/>
                </c:ext>
              </c:extLst>
            </c:dLbl>
            <c:dLbl>
              <c:idx val="1"/>
              <c:layout>
                <c:manualLayout>
                  <c:x val="0"/>
                  <c:y val="-3.69912905128733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4AF-4CA5-BF03-07C3A9EBA706}"/>
                </c:ext>
              </c:extLst>
            </c:dLbl>
            <c:dLbl>
              <c:idx val="4"/>
              <c:layout>
                <c:manualLayout>
                  <c:x val="-5.7819115764523891E-3"/>
                  <c:y val="3.48153322474102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4AF-4CA5-BF03-07C3A9EBA706}"/>
                </c:ext>
              </c:extLst>
            </c:dLbl>
            <c:dLbl>
              <c:idx val="5"/>
              <c:layout>
                <c:manualLayout>
                  <c:x val="0"/>
                  <c:y val="-4.7871081840189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4AF-4CA5-BF03-07C3A9EBA706}"/>
                </c:ext>
              </c:extLst>
            </c:dLbl>
            <c:dLbl>
              <c:idx val="6"/>
              <c:layout>
                <c:manualLayout>
                  <c:x val="-1.7345734729357E-2"/>
                  <c:y val="3.48153322474102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4AF-4CA5-BF03-07C3A9EBA706}"/>
                </c:ext>
              </c:extLst>
            </c:dLbl>
            <c:dLbl>
              <c:idx val="9"/>
              <c:layout>
                <c:manualLayout>
                  <c:x val="-1.156382315290461E-2"/>
                  <c:y val="3.48153322474102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4AF-4CA5-BF03-07C3A9EBA706}"/>
                </c:ext>
              </c:extLst>
            </c:dLbl>
            <c:dLbl>
              <c:idx val="10"/>
              <c:layout>
                <c:manualLayout>
                  <c:x val="-1.6189352414066452E-2"/>
                  <c:y val="-3.69912905128733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4AF-4CA5-BF03-07C3A9EBA7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'MB OWE (2)'!$A$2:$A$12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'MB OWE (2)'!$E$2:$E$12</c:f>
              <c:numCache>
                <c:formatCode>0.00%</c:formatCode>
                <c:ptCount val="11"/>
                <c:pt idx="0">
                  <c:v>0.45849557770427207</c:v>
                </c:pt>
                <c:pt idx="1">
                  <c:v>0.49359057131504264</c:v>
                </c:pt>
                <c:pt idx="2">
                  <c:v>0.41935540954385975</c:v>
                </c:pt>
                <c:pt idx="3">
                  <c:v>0.67312632195635136</c:v>
                </c:pt>
                <c:pt idx="4">
                  <c:v>0.48303211242991334</c:v>
                </c:pt>
                <c:pt idx="5">
                  <c:v>0.59018644226541705</c:v>
                </c:pt>
                <c:pt idx="6">
                  <c:v>0.495141310243079</c:v>
                </c:pt>
                <c:pt idx="7">
                  <c:v>0.4912874812422558</c:v>
                </c:pt>
                <c:pt idx="8">
                  <c:v>0.65833783255984935</c:v>
                </c:pt>
                <c:pt idx="9">
                  <c:v>0.44414450282414303</c:v>
                </c:pt>
                <c:pt idx="10">
                  <c:v>0.41257425060047237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4AF-4CA5-BF03-07C3A9EBA7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6923311"/>
        <c:axId val="616925231"/>
      </c:lineChart>
      <c:catAx>
        <c:axId val="592640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592634239"/>
        <c:crosses val="autoZero"/>
        <c:auto val="1"/>
        <c:lblAlgn val="ctr"/>
        <c:lblOffset val="100"/>
        <c:noMultiLvlLbl val="0"/>
      </c:catAx>
      <c:valAx>
        <c:axId val="592634239"/>
        <c:scaling>
          <c:orientation val="minMax"/>
        </c:scaling>
        <c:delete val="0"/>
        <c:axPos val="l"/>
        <c:numFmt formatCode="###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592640959"/>
        <c:crosses val="autoZero"/>
        <c:crossBetween val="between"/>
      </c:valAx>
      <c:valAx>
        <c:axId val="616925231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16923311"/>
        <c:crosses val="max"/>
        <c:crossBetween val="between"/>
      </c:valAx>
      <c:catAx>
        <c:axId val="61692331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16925231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967681641362439"/>
          <c:y val="2.5252230534378105E-2"/>
          <c:w val="0.80521756238672459"/>
          <c:h val="0.4117640035348851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'UMB OWE (2)'!$B$1</c:f>
              <c:strCache>
                <c:ptCount val="1"/>
                <c:pt idx="0">
                  <c:v>BG_ISL 
2026-2027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'UMB OWE (2)'!$A$2:$A$12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'UMB OWE (2)'!$B$2:$B$12</c:f>
              <c:numCache>
                <c:formatCode>#####0.00</c:formatCode>
                <c:ptCount val="11"/>
                <c:pt idx="0">
                  <c:v>56.3202</c:v>
                </c:pt>
                <c:pt idx="1">
                  <c:v>248.58760000000001</c:v>
                </c:pt>
                <c:pt idx="2">
                  <c:v>327.29360000000003</c:v>
                </c:pt>
                <c:pt idx="3">
                  <c:v>209.15940000000001</c:v>
                </c:pt>
                <c:pt idx="4">
                  <c:v>123.1617</c:v>
                </c:pt>
                <c:pt idx="5">
                  <c:v>258.79410000000001</c:v>
                </c:pt>
                <c:pt idx="6">
                  <c:v>341.08629999999999</c:v>
                </c:pt>
                <c:pt idx="7">
                  <c:v>475.4624</c:v>
                </c:pt>
                <c:pt idx="8">
                  <c:v>123.85209999999999</c:v>
                </c:pt>
                <c:pt idx="9">
                  <c:v>83.204800000000006</c:v>
                </c:pt>
                <c:pt idx="10">
                  <c:v>104.22490000000001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11-4EF2-89C6-F004FB72369F}"/>
            </c:ext>
          </c:extLst>
        </c:ser>
        <c:ser>
          <c:idx val="1"/>
          <c:order val="1"/>
          <c:tx>
            <c:strRef>
              <c:f>'UMB OWE (2)'!$C$1</c:f>
              <c:strCache>
                <c:ptCount val="1"/>
                <c:pt idx="0">
                  <c:v>COPPY 
 UPTO 
AUGUST 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'UMB OWE (2)'!$A$2:$A$12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'UMB OWE (2)'!$C$2:$C$12</c:f>
              <c:numCache>
                <c:formatCode>#####0.00</c:formatCode>
                <c:ptCount val="11"/>
                <c:pt idx="0">
                  <c:v>25.0366</c:v>
                </c:pt>
                <c:pt idx="1">
                  <c:v>114.0579</c:v>
                </c:pt>
                <c:pt idx="2">
                  <c:v>134.97649999999999</c:v>
                </c:pt>
                <c:pt idx="3">
                  <c:v>97.866699999999994</c:v>
                </c:pt>
                <c:pt idx="4">
                  <c:v>56.971400000000003</c:v>
                </c:pt>
                <c:pt idx="5">
                  <c:v>126.4623</c:v>
                </c:pt>
                <c:pt idx="6">
                  <c:v>154.16079999999999</c:v>
                </c:pt>
                <c:pt idx="7">
                  <c:v>214.3526</c:v>
                </c:pt>
                <c:pt idx="8">
                  <c:v>74.128900000000002</c:v>
                </c:pt>
                <c:pt idx="9">
                  <c:v>33.908299999999997</c:v>
                </c:pt>
                <c:pt idx="10">
                  <c:v>40.3352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11-4EF2-89C6-F004FB72369F}"/>
            </c:ext>
          </c:extLst>
        </c:ser>
        <c:ser>
          <c:idx val="2"/>
          <c:order val="2"/>
          <c:tx>
            <c:strRef>
              <c:f>'UMB OWE (2)'!$D$1</c:f>
              <c:strCache>
                <c:ptCount val="1"/>
                <c:pt idx="0">
                  <c:v>ACTUALS 
 UPTO 
AUGUST 2026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'UMB OWE (2)'!$A$2:$A$12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'UMB OWE (2)'!$D$2:$D$12</c:f>
              <c:numCache>
                <c:formatCode>#####0.00</c:formatCode>
                <c:ptCount val="11"/>
                <c:pt idx="0">
                  <c:v>28.762899999999998</c:v>
                </c:pt>
                <c:pt idx="1">
                  <c:v>151.5395</c:v>
                </c:pt>
                <c:pt idx="2">
                  <c:v>162.2782</c:v>
                </c:pt>
                <c:pt idx="3">
                  <c:v>123.01519999999999</c:v>
                </c:pt>
                <c:pt idx="4">
                  <c:v>60.125300000000003</c:v>
                </c:pt>
                <c:pt idx="5">
                  <c:v>146.51429999999999</c:v>
                </c:pt>
                <c:pt idx="6">
                  <c:v>161.83969999999999</c:v>
                </c:pt>
                <c:pt idx="7">
                  <c:v>198.43039999999999</c:v>
                </c:pt>
                <c:pt idx="8">
                  <c:v>90.202299999999994</c:v>
                </c:pt>
                <c:pt idx="9">
                  <c:v>43.120600000000003</c:v>
                </c:pt>
                <c:pt idx="10">
                  <c:v>43.414000000000001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611-4EF2-89C6-F004FB7236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16930031"/>
        <c:axId val="616913711"/>
      </c:barChart>
      <c:lineChart>
        <c:grouping val="standard"/>
        <c:varyColors val="0"/>
        <c:ser>
          <c:idx val="3"/>
          <c:order val="3"/>
          <c:tx>
            <c:strRef>
              <c:f>'UMB OWE (2)'!$E$1</c:f>
              <c:strCache>
                <c:ptCount val="1"/>
                <c:pt idx="0">
                  <c:v>% of BG-SL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4630123917672498E-3"/>
                  <c:y val="-4.27145967044175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611-4EF2-89C6-F004FB72369F}"/>
                </c:ext>
              </c:extLst>
            </c:dLbl>
            <c:dLbl>
              <c:idx val="3"/>
              <c:layout>
                <c:manualLayout>
                  <c:x val="-1.1543374639224097E-3"/>
                  <c:y val="-3.63074071987548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611-4EF2-89C6-F004FB72369F}"/>
                </c:ext>
              </c:extLst>
            </c:dLbl>
            <c:dLbl>
              <c:idx val="4"/>
              <c:layout>
                <c:manualLayout>
                  <c:x val="-4.6173498556896387E-3"/>
                  <c:y val="-4.4850326539638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611-4EF2-89C6-F004FB72369F}"/>
                </c:ext>
              </c:extLst>
            </c:dLbl>
            <c:dLbl>
              <c:idx val="5"/>
              <c:layout>
                <c:manualLayout>
                  <c:x val="-8.4650436131915005E-17"/>
                  <c:y val="-4.27145967044175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611-4EF2-89C6-F004FB72369F}"/>
                </c:ext>
              </c:extLst>
            </c:dLbl>
            <c:dLbl>
              <c:idx val="6"/>
              <c:layout>
                <c:manualLayout>
                  <c:x val="-1.1543374639224096E-2"/>
                  <c:y val="-2.99002176930922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611-4EF2-89C6-F004FB72369F}"/>
                </c:ext>
              </c:extLst>
            </c:dLbl>
            <c:dLbl>
              <c:idx val="9"/>
              <c:layout>
                <c:manualLayout>
                  <c:x val="-6.926024783534458E-3"/>
                  <c:y val="-3.84431370339757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611-4EF2-89C6-F004FB72369F}"/>
                </c:ext>
              </c:extLst>
            </c:dLbl>
            <c:dLbl>
              <c:idx val="10"/>
              <c:layout>
                <c:manualLayout>
                  <c:x val="-3.693879884551711E-2"/>
                  <c:y val="2.77644878578713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611-4EF2-89C6-F004FB7236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'UMB OWE (2)'!$A$2:$A$12</c:f>
              <c:strCache>
                <c:ptCount val="11"/>
                <c:pt idx="0">
                  <c:v>03 GEN. S&amp;S </c:v>
                </c:pt>
                <c:pt idx="1">
                  <c:v>04 P.WAY &amp; WKS. </c:v>
                </c:pt>
                <c:pt idx="2">
                  <c:v>05 MOTIVE POWER </c:v>
                </c:pt>
                <c:pt idx="3">
                  <c:v>06 CARR. &amp; WAG. </c:v>
                </c:pt>
                <c:pt idx="4">
                  <c:v>07 PLANT &amp; EQUIP. </c:v>
                </c:pt>
                <c:pt idx="5">
                  <c:v>08 OPTG. EXP.-ROLL. STOCK </c:v>
                </c:pt>
                <c:pt idx="6">
                  <c:v>09 OPTG.EXP.-TRAFFIC </c:v>
                </c:pt>
                <c:pt idx="7">
                  <c:v>10 OPTG. EXP.-FUEL </c:v>
                </c:pt>
                <c:pt idx="8">
                  <c:v>11 STAFF WELFARE &amp; AMENITIES </c:v>
                </c:pt>
                <c:pt idx="9">
                  <c:v>12 MISC.  WORKING EXP.</c:v>
                </c:pt>
                <c:pt idx="10">
                  <c:v>13 PF,PEN &amp; OTHER RET. BENEFITS </c:v>
                </c:pt>
              </c:strCache>
            </c:strRef>
          </c:cat>
          <c:val>
            <c:numRef>
              <c:f>'UMB OWE (2)'!$E$2:$E$12</c:f>
              <c:numCache>
                <c:formatCode>0.00%</c:formatCode>
                <c:ptCount val="11"/>
                <c:pt idx="0">
                  <c:v>0.51070308699187861</c:v>
                </c:pt>
                <c:pt idx="1">
                  <c:v>0.60960200750158089</c:v>
                </c:pt>
                <c:pt idx="2">
                  <c:v>0.49581843335769471</c:v>
                </c:pt>
                <c:pt idx="3">
                  <c:v>0.58814091071211716</c:v>
                </c:pt>
                <c:pt idx="4">
                  <c:v>0.48818179677610818</c:v>
                </c:pt>
                <c:pt idx="5">
                  <c:v>0.56614235023132287</c:v>
                </c:pt>
                <c:pt idx="6">
                  <c:v>0.4744831440019725</c:v>
                </c:pt>
                <c:pt idx="7">
                  <c:v>0.41734193913125411</c:v>
                </c:pt>
                <c:pt idx="8">
                  <c:v>0.72830658503166279</c:v>
                </c:pt>
                <c:pt idx="9">
                  <c:v>0.51824654346864607</c:v>
                </c:pt>
                <c:pt idx="10">
                  <c:v>0.41654153661936832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611-4EF2-89C6-F004FB7236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58334703"/>
        <c:axId val="758336143"/>
      </c:lineChart>
      <c:catAx>
        <c:axId val="616930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16913711"/>
        <c:crosses val="autoZero"/>
        <c:auto val="1"/>
        <c:lblAlgn val="ctr"/>
        <c:lblOffset val="100"/>
        <c:noMultiLvlLbl val="0"/>
      </c:catAx>
      <c:valAx>
        <c:axId val="616913711"/>
        <c:scaling>
          <c:orientation val="minMax"/>
        </c:scaling>
        <c:delete val="0"/>
        <c:axPos val="l"/>
        <c:numFmt formatCode="###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16930031"/>
        <c:crosses val="autoZero"/>
        <c:crossBetween val="between"/>
      </c:valAx>
      <c:valAx>
        <c:axId val="758336143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758334703"/>
        <c:crosses val="max"/>
        <c:crossBetween val="between"/>
      </c:valAx>
      <c:catAx>
        <c:axId val="7583347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58336143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898969319761957E-2"/>
          <c:y val="2.4770288699041323E-2"/>
          <c:w val="0.88513421495407452"/>
          <c:h val="0.67875193598040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BG_ISL 
2026-2027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5"/>
              <c:layout>
                <c:manualLayout>
                  <c:x val="-2.6573255442127377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992-4243-806A-BC28BB7A74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Sheet1!$A$2:$B$17</c:f>
              <c:multiLvlStrCache>
                <c:ptCount val="16"/>
                <c:lvl>
                  <c:pt idx="0">
                    <c:v>JAT</c:v>
                  </c:pt>
                  <c:pt idx="1">
                    <c:v>LKO</c:v>
                  </c:pt>
                  <c:pt idx="2">
                    <c:v>JAT</c:v>
                  </c:pt>
                  <c:pt idx="3">
                    <c:v>MB</c:v>
                  </c:pt>
                  <c:pt idx="4">
                    <c:v>JAT</c:v>
                  </c:pt>
                  <c:pt idx="5">
                    <c:v>MB</c:v>
                  </c:pt>
                  <c:pt idx="6">
                    <c:v>DLI</c:v>
                  </c:pt>
                  <c:pt idx="7">
                    <c:v>JAT</c:v>
                  </c:pt>
                  <c:pt idx="8">
                    <c:v>JAT</c:v>
                  </c:pt>
                  <c:pt idx="9">
                    <c:v>LKO</c:v>
                  </c:pt>
                  <c:pt idx="10">
                    <c:v>FZR</c:v>
                  </c:pt>
                  <c:pt idx="11">
                    <c:v>LKO</c:v>
                  </c:pt>
                  <c:pt idx="12">
                    <c:v>JAT</c:v>
                  </c:pt>
                  <c:pt idx="13">
                    <c:v>LKO</c:v>
                  </c:pt>
                  <c:pt idx="14">
                    <c:v>JAT</c:v>
                  </c:pt>
                  <c:pt idx="15">
                    <c:v>LKO</c:v>
                  </c:pt>
                </c:lvl>
                <c:lvl>
                  <c:pt idx="0">
                    <c:v>PU - 10 - KMA</c:v>
                  </c:pt>
                  <c:pt idx="2">
                    <c:v>PU - 11 - OT</c:v>
                  </c:pt>
                  <c:pt idx="4">
                    <c:v>PU - 12 - NDA</c:v>
                  </c:pt>
                  <c:pt idx="6">
                    <c:v>PU - 15 - TA</c:v>
                  </c:pt>
                  <c:pt idx="8">
                    <c:v>PU - 16 - TE</c:v>
                  </c:pt>
                  <c:pt idx="10">
                    <c:v>PU - 26 - Medical Expenses</c:v>
                  </c:pt>
                  <c:pt idx="12">
                    <c:v>PU - 28 - Materials-Dir. purchase</c:v>
                  </c:pt>
                  <c:pt idx="14">
                    <c:v>PU - 32 - CP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#####0.00</c:formatCode>
                <c:ptCount val="16"/>
                <c:pt idx="0">
                  <c:v>5.7047999999999996</c:v>
                </c:pt>
                <c:pt idx="1">
                  <c:v>63.789000000000001</c:v>
                </c:pt>
                <c:pt idx="2">
                  <c:v>1.8854</c:v>
                </c:pt>
                <c:pt idx="3">
                  <c:v>7.73</c:v>
                </c:pt>
                <c:pt idx="4">
                  <c:v>4.6689999999999996</c:v>
                </c:pt>
                <c:pt idx="5">
                  <c:v>20.991299999999999</c:v>
                </c:pt>
                <c:pt idx="6">
                  <c:v>1.9665999999999999</c:v>
                </c:pt>
                <c:pt idx="7">
                  <c:v>1.2090000000000001</c:v>
                </c:pt>
                <c:pt idx="8">
                  <c:v>12.9503</c:v>
                </c:pt>
                <c:pt idx="9">
                  <c:v>28.4101</c:v>
                </c:pt>
                <c:pt idx="10">
                  <c:v>21.706</c:v>
                </c:pt>
                <c:pt idx="11">
                  <c:v>36.621000000000002</c:v>
                </c:pt>
                <c:pt idx="12">
                  <c:v>8.9269999999999996</c:v>
                </c:pt>
                <c:pt idx="13">
                  <c:v>29.540299999999998</c:v>
                </c:pt>
                <c:pt idx="14">
                  <c:v>90.524199999999993</c:v>
                </c:pt>
                <c:pt idx="15">
                  <c:v>170.4761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92-4243-806A-BC28BB7A74AD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ACTUALS 
 UPTO 
AUGUST 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Sheet1!$A$2:$B$17</c:f>
              <c:multiLvlStrCache>
                <c:ptCount val="16"/>
                <c:lvl>
                  <c:pt idx="0">
                    <c:v>JAT</c:v>
                  </c:pt>
                  <c:pt idx="1">
                    <c:v>LKO</c:v>
                  </c:pt>
                  <c:pt idx="2">
                    <c:v>JAT</c:v>
                  </c:pt>
                  <c:pt idx="3">
                    <c:v>MB</c:v>
                  </c:pt>
                  <c:pt idx="4">
                    <c:v>JAT</c:v>
                  </c:pt>
                  <c:pt idx="5">
                    <c:v>MB</c:v>
                  </c:pt>
                  <c:pt idx="6">
                    <c:v>DLI</c:v>
                  </c:pt>
                  <c:pt idx="7">
                    <c:v>JAT</c:v>
                  </c:pt>
                  <c:pt idx="8">
                    <c:v>JAT</c:v>
                  </c:pt>
                  <c:pt idx="9">
                    <c:v>LKO</c:v>
                  </c:pt>
                  <c:pt idx="10">
                    <c:v>FZR</c:v>
                  </c:pt>
                  <c:pt idx="11">
                    <c:v>LKO</c:v>
                  </c:pt>
                  <c:pt idx="12">
                    <c:v>JAT</c:v>
                  </c:pt>
                  <c:pt idx="13">
                    <c:v>LKO</c:v>
                  </c:pt>
                  <c:pt idx="14">
                    <c:v>JAT</c:v>
                  </c:pt>
                  <c:pt idx="15">
                    <c:v>LKO</c:v>
                  </c:pt>
                </c:lvl>
                <c:lvl>
                  <c:pt idx="0">
                    <c:v>PU - 10 - KMA</c:v>
                  </c:pt>
                  <c:pt idx="2">
                    <c:v>PU - 11 - OT</c:v>
                  </c:pt>
                  <c:pt idx="4">
                    <c:v>PU - 12 - NDA</c:v>
                  </c:pt>
                  <c:pt idx="6">
                    <c:v>PU - 15 - TA</c:v>
                  </c:pt>
                  <c:pt idx="8">
                    <c:v>PU - 16 - TE</c:v>
                  </c:pt>
                  <c:pt idx="10">
                    <c:v>PU - 26 - Medical Expenses</c:v>
                  </c:pt>
                  <c:pt idx="12">
                    <c:v>PU - 28 - Materials-Dir. purchase</c:v>
                  </c:pt>
                  <c:pt idx="14">
                    <c:v>PU - 32 - CP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#####0.00</c:formatCode>
                <c:ptCount val="16"/>
                <c:pt idx="0">
                  <c:v>5.5171000000000001</c:v>
                </c:pt>
                <c:pt idx="1">
                  <c:v>36.050400000000003</c:v>
                </c:pt>
                <c:pt idx="2">
                  <c:v>1.3305</c:v>
                </c:pt>
                <c:pt idx="3">
                  <c:v>5.9581999999999997</c:v>
                </c:pt>
                <c:pt idx="4">
                  <c:v>3.1398999999999999</c:v>
                </c:pt>
                <c:pt idx="5">
                  <c:v>12.2492</c:v>
                </c:pt>
                <c:pt idx="6">
                  <c:v>1.7665</c:v>
                </c:pt>
                <c:pt idx="7">
                  <c:v>1.0954999999999999</c:v>
                </c:pt>
                <c:pt idx="8">
                  <c:v>11.3642</c:v>
                </c:pt>
                <c:pt idx="9">
                  <c:v>21.794499999999999</c:v>
                </c:pt>
                <c:pt idx="10">
                  <c:v>33.843299999999999</c:v>
                </c:pt>
                <c:pt idx="11">
                  <c:v>30.069600000000001</c:v>
                </c:pt>
                <c:pt idx="12">
                  <c:v>7.4546000000000001</c:v>
                </c:pt>
                <c:pt idx="13">
                  <c:v>19.985499999999998</c:v>
                </c:pt>
                <c:pt idx="14">
                  <c:v>58.246899999999997</c:v>
                </c:pt>
                <c:pt idx="15">
                  <c:v>109.46420000000001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92-4243-806A-BC28BB7A74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89506336"/>
        <c:axId val="389508256"/>
      </c:barChart>
      <c:lineChart>
        <c:grouping val="standard"/>
        <c:varyColors val="0"/>
        <c:ser>
          <c:idx val="2"/>
          <c:order val="2"/>
          <c:tx>
            <c:strRef>
              <c:f>Sheet1!$E$1</c:f>
              <c:strCache>
                <c:ptCount val="1"/>
                <c:pt idx="0">
                  <c:v>% of BG_SL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3.5816126900258427E-2"/>
                  <c:y val="-8.5319874863748804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992-4243-806A-BC28BB7A74AD}"/>
                </c:ext>
              </c:extLst>
            </c:dLbl>
            <c:dLbl>
              <c:idx val="4"/>
              <c:layout>
                <c:manualLayout>
                  <c:x val="2.3107178645327582E-3"/>
                  <c:y val="-6.74810442027407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992-4243-806A-BC28BB7A74AD}"/>
                </c:ext>
              </c:extLst>
            </c:dLbl>
            <c:dLbl>
              <c:idx val="6"/>
              <c:layout>
                <c:manualLayout>
                  <c:x val="-6.9321535935984021E-3"/>
                  <c:y val="-4.65386511743039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992-4243-806A-BC28BB7A74AD}"/>
                </c:ext>
              </c:extLst>
            </c:dLbl>
            <c:dLbl>
              <c:idx val="7"/>
              <c:layout>
                <c:manualLayout>
                  <c:x val="-3.4660767967992856E-3"/>
                  <c:y val="-6.05002465265951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992-4243-806A-BC28BB7A74AD}"/>
                </c:ext>
              </c:extLst>
            </c:dLbl>
            <c:dLbl>
              <c:idx val="8"/>
              <c:layout>
                <c:manualLayout>
                  <c:x val="-3.4660767967992011E-3"/>
                  <c:y val="-5.35194488504495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992-4243-806A-BC28BB7A74AD}"/>
                </c:ext>
              </c:extLst>
            </c:dLbl>
            <c:dLbl>
              <c:idx val="13"/>
              <c:layout>
                <c:manualLayout>
                  <c:x val="-1.3864307187196973E-2"/>
                  <c:y val="-5.11925162917343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992-4243-806A-BC28BB7A74AD}"/>
                </c:ext>
              </c:extLst>
            </c:dLbl>
            <c:dLbl>
              <c:idx val="14"/>
              <c:layout>
                <c:manualLayout>
                  <c:x val="-9.2428714581312028E-3"/>
                  <c:y val="-0.1093658302596142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992-4243-806A-BC28BB7A74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Sheet1!$A$2:$B$17</c:f>
              <c:multiLvlStrCache>
                <c:ptCount val="16"/>
                <c:lvl>
                  <c:pt idx="0">
                    <c:v>JAT</c:v>
                  </c:pt>
                  <c:pt idx="1">
                    <c:v>LKO</c:v>
                  </c:pt>
                  <c:pt idx="2">
                    <c:v>JAT</c:v>
                  </c:pt>
                  <c:pt idx="3">
                    <c:v>MB</c:v>
                  </c:pt>
                  <c:pt idx="4">
                    <c:v>JAT</c:v>
                  </c:pt>
                  <c:pt idx="5">
                    <c:v>MB</c:v>
                  </c:pt>
                  <c:pt idx="6">
                    <c:v>DLI</c:v>
                  </c:pt>
                  <c:pt idx="7">
                    <c:v>JAT</c:v>
                  </c:pt>
                  <c:pt idx="8">
                    <c:v>JAT</c:v>
                  </c:pt>
                  <c:pt idx="9">
                    <c:v>LKO</c:v>
                  </c:pt>
                  <c:pt idx="10">
                    <c:v>FZR</c:v>
                  </c:pt>
                  <c:pt idx="11">
                    <c:v>LKO</c:v>
                  </c:pt>
                  <c:pt idx="12">
                    <c:v>JAT</c:v>
                  </c:pt>
                  <c:pt idx="13">
                    <c:v>LKO</c:v>
                  </c:pt>
                  <c:pt idx="14">
                    <c:v>JAT</c:v>
                  </c:pt>
                  <c:pt idx="15">
                    <c:v>LKO</c:v>
                  </c:pt>
                </c:lvl>
                <c:lvl>
                  <c:pt idx="0">
                    <c:v>PU - 10 - KMA</c:v>
                  </c:pt>
                  <c:pt idx="2">
                    <c:v>PU - 11 - OT</c:v>
                  </c:pt>
                  <c:pt idx="4">
                    <c:v>PU - 12 - NDA</c:v>
                  </c:pt>
                  <c:pt idx="6">
                    <c:v>PU - 15 - TA</c:v>
                  </c:pt>
                  <c:pt idx="8">
                    <c:v>PU - 16 - TE</c:v>
                  </c:pt>
                  <c:pt idx="10">
                    <c:v>PU - 26 - Medical Expenses</c:v>
                  </c:pt>
                  <c:pt idx="12">
                    <c:v>PU - 28 - Materials-Dir. purchase</c:v>
                  </c:pt>
                  <c:pt idx="14">
                    <c:v>PU - 32 - CP</c:v>
                  </c:pt>
                </c:lvl>
              </c:multiLvlStrCache>
            </c:multiLvlStrRef>
          </c:cat>
          <c:val>
            <c:numRef>
              <c:f>Sheet1!$E$2:$E$17</c:f>
              <c:numCache>
                <c:formatCode>0.00</c:formatCode>
                <c:ptCount val="16"/>
                <c:pt idx="0">
                  <c:v>96.709788248492501</c:v>
                </c:pt>
                <c:pt idx="1">
                  <c:v>56.515073131731178</c:v>
                </c:pt>
                <c:pt idx="2">
                  <c:v>70.568579611753478</c:v>
                </c:pt>
                <c:pt idx="3">
                  <c:v>77.078913324708921</c:v>
                </c:pt>
                <c:pt idx="4">
                  <c:v>67.24994645534376</c:v>
                </c:pt>
                <c:pt idx="5">
                  <c:v>58.353698913359345</c:v>
                </c:pt>
                <c:pt idx="6">
                  <c:v>89.82507881623107</c:v>
                </c:pt>
                <c:pt idx="7">
                  <c:v>90.612076095947046</c:v>
                </c:pt>
                <c:pt idx="8">
                  <c:v>87.752407280140233</c:v>
                </c:pt>
                <c:pt idx="9">
                  <c:v>76.713915121734871</c:v>
                </c:pt>
                <c:pt idx="10">
                  <c:v>155.91679719893116</c:v>
                </c:pt>
                <c:pt idx="11">
                  <c:v>82.110264602277383</c:v>
                </c:pt>
                <c:pt idx="12">
                  <c:v>83.506217094208594</c:v>
                </c:pt>
                <c:pt idx="13">
                  <c:v>67.655033970541936</c:v>
                </c:pt>
                <c:pt idx="14">
                  <c:v>64.344009668132941</c:v>
                </c:pt>
                <c:pt idx="15">
                  <c:v>64.210877653817761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992-4243-806A-BC28BB7A74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05898208"/>
        <c:axId val="505895808"/>
      </c:lineChart>
      <c:catAx>
        <c:axId val="389506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389508256"/>
        <c:crosses val="autoZero"/>
        <c:auto val="1"/>
        <c:lblAlgn val="ctr"/>
        <c:lblOffset val="100"/>
        <c:noMultiLvlLbl val="0"/>
      </c:catAx>
      <c:valAx>
        <c:axId val="389508256"/>
        <c:scaling>
          <c:orientation val="minMax"/>
        </c:scaling>
        <c:delete val="0"/>
        <c:axPos val="l"/>
        <c:numFmt formatCode="###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389506336"/>
        <c:crosses val="autoZero"/>
        <c:crossBetween val="between"/>
      </c:valAx>
      <c:valAx>
        <c:axId val="505895808"/>
        <c:scaling>
          <c:orientation val="minMax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505898208"/>
        <c:crosses val="max"/>
        <c:crossBetween val="between"/>
      </c:valAx>
      <c:catAx>
        <c:axId val="5058982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058958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'Capex NR'!$B$1</c:f>
              <c:strCache>
                <c:ptCount val="1"/>
                <c:pt idx="0">
                  <c:v>Actuals up to AUG'25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-4.6079086609042398E-17"/>
                  <c:y val="-8.57593802401920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6C4-454D-8729-1AB24706B0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'Capex NR'!$A$2:$A$21</c:f>
              <c:strCache>
                <c:ptCount val="20"/>
                <c:pt idx="0">
                  <c:v>11-New Lines(Const.)</c:v>
                </c:pt>
                <c:pt idx="1">
                  <c:v>14-Gauge Conversion</c:v>
                </c:pt>
                <c:pt idx="2">
                  <c:v>15-Doubling</c:v>
                </c:pt>
                <c:pt idx="3">
                  <c:v>16-Traffic Facilities</c:v>
                </c:pt>
                <c:pt idx="4">
                  <c:v>17-Computerisation</c:v>
                </c:pt>
                <c:pt idx="5">
                  <c:v>21-Rolling Stock  (OBO)</c:v>
                </c:pt>
                <c:pt idx="6">
                  <c:v>29-RSW-Level Crossings</c:v>
                </c:pt>
                <c:pt idx="7">
                  <c:v>30-RSWorks-ROB/UB</c:v>
                </c:pt>
                <c:pt idx="8">
                  <c:v>31-Track Renewals</c:v>
                </c:pt>
                <c:pt idx="9">
                  <c:v>32-Bridge Works</c:v>
                </c:pt>
                <c:pt idx="10">
                  <c:v>33-S &amp; T works</c:v>
                </c:pt>
                <c:pt idx="11">
                  <c:v>35-Electrification Projects</c:v>
                </c:pt>
                <c:pt idx="12">
                  <c:v>36-Other Electrical Works</c:v>
                </c:pt>
                <c:pt idx="13">
                  <c:v>41-Machinary &amp; Plant</c:v>
                </c:pt>
                <c:pt idx="14">
                  <c:v>42-W/S incl. Prod. Units</c:v>
                </c:pt>
                <c:pt idx="15">
                  <c:v>51-Staff Welfare.</c:v>
                </c:pt>
                <c:pt idx="16">
                  <c:v>53-Customer Amenities  </c:v>
                </c:pt>
                <c:pt idx="17">
                  <c:v>64-Other Specified Works</c:v>
                </c:pt>
                <c:pt idx="18">
                  <c:v>65-Training/HRD</c:v>
                </c:pt>
                <c:pt idx="19">
                  <c:v>Total of USBRL</c:v>
                </c:pt>
              </c:strCache>
            </c:strRef>
          </c:cat>
          <c:val>
            <c:numRef>
              <c:f>'Capex NR'!$B$2:$B$21</c:f>
              <c:numCache>
                <c:formatCode>0.00</c:formatCode>
                <c:ptCount val="20"/>
                <c:pt idx="0">
                  <c:v>382.58</c:v>
                </c:pt>
                <c:pt idx="1">
                  <c:v>0</c:v>
                </c:pt>
                <c:pt idx="2">
                  <c:v>379.34</c:v>
                </c:pt>
                <c:pt idx="3">
                  <c:v>247.26</c:v>
                </c:pt>
                <c:pt idx="4">
                  <c:v>128.19999999999999</c:v>
                </c:pt>
                <c:pt idx="5">
                  <c:v>85.86</c:v>
                </c:pt>
                <c:pt idx="6">
                  <c:v>28.59</c:v>
                </c:pt>
                <c:pt idx="7">
                  <c:v>409.23</c:v>
                </c:pt>
                <c:pt idx="8">
                  <c:v>1314.14</c:v>
                </c:pt>
                <c:pt idx="9">
                  <c:v>104.48</c:v>
                </c:pt>
                <c:pt idx="10">
                  <c:v>181.78</c:v>
                </c:pt>
                <c:pt idx="11">
                  <c:v>10.06</c:v>
                </c:pt>
                <c:pt idx="12">
                  <c:v>38.659999999999997</c:v>
                </c:pt>
                <c:pt idx="13">
                  <c:v>16.59</c:v>
                </c:pt>
                <c:pt idx="14">
                  <c:v>61.74</c:v>
                </c:pt>
                <c:pt idx="15">
                  <c:v>56.04</c:v>
                </c:pt>
                <c:pt idx="16">
                  <c:v>455.81</c:v>
                </c:pt>
                <c:pt idx="17">
                  <c:v>74.55</c:v>
                </c:pt>
                <c:pt idx="18">
                  <c:v>2.2400000000000002</c:v>
                </c:pt>
                <c:pt idx="19" formatCode="General">
                  <c:v>737.13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C4-454D-8729-1AB24706B083}"/>
            </c:ext>
          </c:extLst>
        </c:ser>
        <c:ser>
          <c:idx val="1"/>
          <c:order val="1"/>
          <c:tx>
            <c:strRef>
              <c:f>'Capex NR'!$C$1</c:f>
              <c:strCache>
                <c:ptCount val="1"/>
                <c:pt idx="0">
                  <c:v>Actuals up to AUG '26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6.2835843979885363E-3"/>
                  <c:y val="-6.9534632627182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6C4-454D-8729-1AB24706B0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'Capex NR'!$A$2:$A$21</c:f>
              <c:strCache>
                <c:ptCount val="20"/>
                <c:pt idx="0">
                  <c:v>11-New Lines(Const.)</c:v>
                </c:pt>
                <c:pt idx="1">
                  <c:v>14-Gauge Conversion</c:v>
                </c:pt>
                <c:pt idx="2">
                  <c:v>15-Doubling</c:v>
                </c:pt>
                <c:pt idx="3">
                  <c:v>16-Traffic Facilities</c:v>
                </c:pt>
                <c:pt idx="4">
                  <c:v>17-Computerisation</c:v>
                </c:pt>
                <c:pt idx="5">
                  <c:v>21-Rolling Stock  (OBO)</c:v>
                </c:pt>
                <c:pt idx="6">
                  <c:v>29-RSW-Level Crossings</c:v>
                </c:pt>
                <c:pt idx="7">
                  <c:v>30-RSWorks-ROB/UB</c:v>
                </c:pt>
                <c:pt idx="8">
                  <c:v>31-Track Renewals</c:v>
                </c:pt>
                <c:pt idx="9">
                  <c:v>32-Bridge Works</c:v>
                </c:pt>
                <c:pt idx="10">
                  <c:v>33-S &amp; T works</c:v>
                </c:pt>
                <c:pt idx="11">
                  <c:v>35-Electrification Projects</c:v>
                </c:pt>
                <c:pt idx="12">
                  <c:v>36-Other Electrical Works</c:v>
                </c:pt>
                <c:pt idx="13">
                  <c:v>41-Machinary &amp; Plant</c:v>
                </c:pt>
                <c:pt idx="14">
                  <c:v>42-W/S incl. Prod. Units</c:v>
                </c:pt>
                <c:pt idx="15">
                  <c:v>51-Staff Welfare.</c:v>
                </c:pt>
                <c:pt idx="16">
                  <c:v>53-Customer Amenities  </c:v>
                </c:pt>
                <c:pt idx="17">
                  <c:v>64-Other Specified Works</c:v>
                </c:pt>
                <c:pt idx="18">
                  <c:v>65-Training/HRD</c:v>
                </c:pt>
                <c:pt idx="19">
                  <c:v>Total of USBRL</c:v>
                </c:pt>
              </c:strCache>
            </c:strRef>
          </c:cat>
          <c:val>
            <c:numRef>
              <c:f>'Capex NR'!$C$2:$C$21</c:f>
              <c:numCache>
                <c:formatCode>0.00</c:formatCode>
                <c:ptCount val="20"/>
                <c:pt idx="0">
                  <c:v>372.1</c:v>
                </c:pt>
                <c:pt idx="1">
                  <c:v>0</c:v>
                </c:pt>
                <c:pt idx="2">
                  <c:v>502.52</c:v>
                </c:pt>
                <c:pt idx="3">
                  <c:v>300.77</c:v>
                </c:pt>
                <c:pt idx="4">
                  <c:v>158.5</c:v>
                </c:pt>
                <c:pt idx="5">
                  <c:v>64.41</c:v>
                </c:pt>
                <c:pt idx="6">
                  <c:v>62.66</c:v>
                </c:pt>
                <c:pt idx="7">
                  <c:v>441.69</c:v>
                </c:pt>
                <c:pt idx="8">
                  <c:v>1644.94</c:v>
                </c:pt>
                <c:pt idx="9">
                  <c:v>135.13999999999999</c:v>
                </c:pt>
                <c:pt idx="10">
                  <c:v>238.87</c:v>
                </c:pt>
                <c:pt idx="11">
                  <c:v>224.33</c:v>
                </c:pt>
                <c:pt idx="12">
                  <c:v>75.52</c:v>
                </c:pt>
                <c:pt idx="13">
                  <c:v>42.3</c:v>
                </c:pt>
                <c:pt idx="14">
                  <c:v>88.07</c:v>
                </c:pt>
                <c:pt idx="15">
                  <c:v>68.38</c:v>
                </c:pt>
                <c:pt idx="16">
                  <c:v>506.07</c:v>
                </c:pt>
                <c:pt idx="17">
                  <c:v>92.32</c:v>
                </c:pt>
                <c:pt idx="18">
                  <c:v>3.76</c:v>
                </c:pt>
                <c:pt idx="19" formatCode="General">
                  <c:v>515.04999999999995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C4-454D-8729-1AB24706B0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397312"/>
        <c:axId val="154485120"/>
      </c:barChart>
      <c:lineChart>
        <c:grouping val="standard"/>
        <c:varyColors val="0"/>
        <c:ser>
          <c:idx val="2"/>
          <c:order val="2"/>
          <c:tx>
            <c:strRef>
              <c:f>'Capex NR'!$D$1</c:f>
              <c:strCache>
                <c:ptCount val="1"/>
                <c:pt idx="0">
                  <c:v>% UTILISATION 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dLbls>
            <c:dLbl>
              <c:idx val="5"/>
              <c:layout>
                <c:manualLayout>
                  <c:x val="7.5403012775862961E-3"/>
                  <c:y val="-4.63564217514551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6C4-454D-8729-1AB24706B083}"/>
                </c:ext>
              </c:extLst>
            </c:dLbl>
            <c:dLbl>
              <c:idx val="7"/>
              <c:layout>
                <c:manualLayout>
                  <c:x val="-7.5403012775862961E-3"/>
                  <c:y val="-7.18524537147554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1471657026724632E-2"/>
                      <c:h val="4.12572153587950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B6C4-454D-8729-1AB24706B083}"/>
                </c:ext>
              </c:extLst>
            </c:dLbl>
            <c:dLbl>
              <c:idx val="10"/>
              <c:layout>
                <c:manualLayout>
                  <c:x val="6.2835843979884877E-3"/>
                  <c:y val="-5.09920639266006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6C4-454D-8729-1AB24706B083}"/>
                </c:ext>
              </c:extLst>
            </c:dLbl>
            <c:dLbl>
              <c:idx val="12"/>
              <c:layout>
                <c:manualLayout>
                  <c:x val="-2.7647771351149753E-2"/>
                  <c:y val="3.476731631359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E35-4413-B9C9-7B55A2CBACBB}"/>
                </c:ext>
              </c:extLst>
            </c:dLbl>
            <c:dLbl>
              <c:idx val="13"/>
              <c:layout>
                <c:manualLayout>
                  <c:x val="-2.2620903832758887E-2"/>
                  <c:y val="-2.08603897881548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35-4413-B9C9-7B55A2CBACBB}"/>
                </c:ext>
              </c:extLst>
            </c:dLbl>
            <c:dLbl>
              <c:idx val="15"/>
              <c:layout>
                <c:manualLayout>
                  <c:x val="-8.7970181571840125E-3"/>
                  <c:y val="-5.56277061017461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6C4-454D-8729-1AB24706B083}"/>
                </c:ext>
              </c:extLst>
            </c:dLbl>
            <c:dLbl>
              <c:idx val="16"/>
              <c:layout>
                <c:manualLayout>
                  <c:x val="1.7594036314368025E-2"/>
                  <c:y val="-5.56277061017461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6C4-454D-8729-1AB24706B083}"/>
                </c:ext>
              </c:extLst>
            </c:dLbl>
            <c:dLbl>
              <c:idx val="19"/>
              <c:layout>
                <c:manualLayout>
                  <c:x val="-4.3985090785920063E-2"/>
                  <c:y val="-9.271284350291024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6C4-454D-8729-1AB24706B083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'Capex NR'!$A$2:$A$21</c:f>
              <c:strCache>
                <c:ptCount val="20"/>
                <c:pt idx="0">
                  <c:v>11-New Lines(Const.)</c:v>
                </c:pt>
                <c:pt idx="1">
                  <c:v>14-Gauge Conversion</c:v>
                </c:pt>
                <c:pt idx="2">
                  <c:v>15-Doubling</c:v>
                </c:pt>
                <c:pt idx="3">
                  <c:v>16-Traffic Facilities</c:v>
                </c:pt>
                <c:pt idx="4">
                  <c:v>17-Computerisation</c:v>
                </c:pt>
                <c:pt idx="5">
                  <c:v>21-Rolling Stock  (OBO)</c:v>
                </c:pt>
                <c:pt idx="6">
                  <c:v>29-RSW-Level Crossings</c:v>
                </c:pt>
                <c:pt idx="7">
                  <c:v>30-RSWorks-ROB/UB</c:v>
                </c:pt>
                <c:pt idx="8">
                  <c:v>31-Track Renewals</c:v>
                </c:pt>
                <c:pt idx="9">
                  <c:v>32-Bridge Works</c:v>
                </c:pt>
                <c:pt idx="10">
                  <c:v>33-S &amp; T works</c:v>
                </c:pt>
                <c:pt idx="11">
                  <c:v>35-Electrification Projects</c:v>
                </c:pt>
                <c:pt idx="12">
                  <c:v>36-Other Electrical Works</c:v>
                </c:pt>
                <c:pt idx="13">
                  <c:v>41-Machinary &amp; Plant</c:v>
                </c:pt>
                <c:pt idx="14">
                  <c:v>42-W/S incl. Prod. Units</c:v>
                </c:pt>
                <c:pt idx="15">
                  <c:v>51-Staff Welfare.</c:v>
                </c:pt>
                <c:pt idx="16">
                  <c:v>53-Customer Amenities  </c:v>
                </c:pt>
                <c:pt idx="17">
                  <c:v>64-Other Specified Works</c:v>
                </c:pt>
                <c:pt idx="18">
                  <c:v>65-Training/HRD</c:v>
                </c:pt>
                <c:pt idx="19">
                  <c:v>Total of USBRL</c:v>
                </c:pt>
              </c:strCache>
            </c:strRef>
          </c:cat>
          <c:val>
            <c:numRef>
              <c:f>'Capex NR'!$D$2:$D$21</c:f>
              <c:numCache>
                <c:formatCode>0.00</c:formatCode>
                <c:ptCount val="20"/>
                <c:pt idx="0">
                  <c:v>22.34</c:v>
                </c:pt>
                <c:pt idx="1">
                  <c:v>0</c:v>
                </c:pt>
                <c:pt idx="2">
                  <c:v>28.36</c:v>
                </c:pt>
                <c:pt idx="3">
                  <c:v>33.18</c:v>
                </c:pt>
                <c:pt idx="4">
                  <c:v>46.48</c:v>
                </c:pt>
                <c:pt idx="5">
                  <c:v>18.38</c:v>
                </c:pt>
                <c:pt idx="6">
                  <c:v>62.16</c:v>
                </c:pt>
                <c:pt idx="7">
                  <c:v>57.91</c:v>
                </c:pt>
                <c:pt idx="8">
                  <c:v>59.04</c:v>
                </c:pt>
                <c:pt idx="9">
                  <c:v>63.13</c:v>
                </c:pt>
                <c:pt idx="10">
                  <c:v>43.35</c:v>
                </c:pt>
                <c:pt idx="11">
                  <c:v>72.13</c:v>
                </c:pt>
                <c:pt idx="12">
                  <c:v>41.48</c:v>
                </c:pt>
                <c:pt idx="13">
                  <c:v>41.49</c:v>
                </c:pt>
                <c:pt idx="14">
                  <c:v>39.119999999999997</c:v>
                </c:pt>
                <c:pt idx="15">
                  <c:v>65.59</c:v>
                </c:pt>
                <c:pt idx="16">
                  <c:v>54.32</c:v>
                </c:pt>
                <c:pt idx="17">
                  <c:v>30.73</c:v>
                </c:pt>
                <c:pt idx="18">
                  <c:v>13.62</c:v>
                </c:pt>
                <c:pt idx="19">
                  <c:v>106.62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6C4-454D-8729-1AB24706B0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4819968"/>
        <c:axId val="154486656"/>
      </c:lineChart>
      <c:catAx>
        <c:axId val="154397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4485120"/>
        <c:crosses val="autoZero"/>
        <c:auto val="1"/>
        <c:lblAlgn val="ctr"/>
        <c:lblOffset val="100"/>
        <c:noMultiLvlLbl val="0"/>
      </c:catAx>
      <c:valAx>
        <c:axId val="154485120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4397312"/>
        <c:crosses val="autoZero"/>
        <c:crossBetween val="between"/>
      </c:valAx>
      <c:valAx>
        <c:axId val="154486656"/>
        <c:scaling>
          <c:orientation val="minMax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4819968"/>
        <c:crosses val="max"/>
        <c:crossBetween val="between"/>
      </c:valAx>
      <c:catAx>
        <c:axId val="1548199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44866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'zonal capex'!$C$1</c:f>
              <c:strCache>
                <c:ptCount val="1"/>
                <c:pt idx="0">
                  <c:v>Actuals    2025-26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multiLvlStrRef>
              <c:f>'zonal capex'!$A$2:$B$10</c:f>
              <c:multiLvlStrCache>
                <c:ptCount val="9"/>
                <c:lvl>
                  <c:pt idx="0">
                    <c:v>All Plan Heads</c:v>
                  </c:pt>
                  <c:pt idx="1">
                    <c:v>11-(RVNL/DFCC)</c:v>
                  </c:pt>
                  <c:pt idx="2">
                    <c:v>15- (RVNL)</c:v>
                  </c:pt>
                  <c:pt idx="3">
                    <c:v>42-(RVNL)</c:v>
                  </c:pt>
                  <c:pt idx="4">
                    <c:v>53- (RLDA)  </c:v>
                  </c:pt>
                  <c:pt idx="5">
                    <c:v>64-(RLDA)</c:v>
                  </c:pt>
                  <c:pt idx="6">
                    <c:v>21- (Bulk Order)</c:v>
                  </c:pt>
                  <c:pt idx="7">
                    <c:v>22-IRFC Lease</c:v>
                  </c:pt>
                  <c:pt idx="8">
                    <c:v>61-Inv. In PSU/JV/SPV etc </c:v>
                  </c:pt>
                </c:lvl>
                <c:lvl>
                  <c:pt idx="0">
                    <c:v>Net NR Controlled</c:v>
                  </c:pt>
                  <c:pt idx="1">
                    <c:v>Total RVNL, DFCCIL, RLDA </c:v>
                  </c:pt>
                  <c:pt idx="6">
                    <c:v>Railway Board Controlled</c:v>
                  </c:pt>
                </c:lvl>
              </c:multiLvlStrCache>
            </c:multiLvlStrRef>
          </c:cat>
          <c:val>
            <c:numRef>
              <c:f>'zonal capex'!$C$2:$C$10</c:f>
              <c:numCache>
                <c:formatCode>General</c:formatCode>
                <c:ptCount val="9"/>
                <c:pt idx="0">
                  <c:v>10420.84</c:v>
                </c:pt>
                <c:pt idx="1">
                  <c:v>5496.77</c:v>
                </c:pt>
                <c:pt idx="2">
                  <c:v>221.6</c:v>
                </c:pt>
                <c:pt idx="3">
                  <c:v>17.61</c:v>
                </c:pt>
                <c:pt idx="4">
                  <c:v>527.22</c:v>
                </c:pt>
                <c:pt idx="5">
                  <c:v>0</c:v>
                </c:pt>
                <c:pt idx="6" formatCode="0.00">
                  <c:v>7197.8191049999996</c:v>
                </c:pt>
                <c:pt idx="7" formatCode="0.00">
                  <c:v>4024.2001990000003</c:v>
                </c:pt>
                <c:pt idx="8" formatCode="0.00">
                  <c:v>20173.417124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DE-4C4E-BBB6-940ED880F060}"/>
            </c:ext>
          </c:extLst>
        </c:ser>
        <c:ser>
          <c:idx val="2"/>
          <c:order val="1"/>
          <c:tx>
            <c:strRef>
              <c:f>'zonal capex'!$D$1</c:f>
              <c:strCache>
                <c:ptCount val="1"/>
                <c:pt idx="0">
                  <c:v>Current Outlay 2026-27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multiLvlStrRef>
              <c:f>'zonal capex'!$A$2:$B$10</c:f>
              <c:multiLvlStrCache>
                <c:ptCount val="9"/>
                <c:lvl>
                  <c:pt idx="0">
                    <c:v>All Plan Heads</c:v>
                  </c:pt>
                  <c:pt idx="1">
                    <c:v>11-(RVNL/DFCC)</c:v>
                  </c:pt>
                  <c:pt idx="2">
                    <c:v>15- (RVNL)</c:v>
                  </c:pt>
                  <c:pt idx="3">
                    <c:v>42-(RVNL)</c:v>
                  </c:pt>
                  <c:pt idx="4">
                    <c:v>53- (RLDA)  </c:v>
                  </c:pt>
                  <c:pt idx="5">
                    <c:v>64-(RLDA)</c:v>
                  </c:pt>
                  <c:pt idx="6">
                    <c:v>21- (Bulk Order)</c:v>
                  </c:pt>
                  <c:pt idx="7">
                    <c:v>22-IRFC Lease</c:v>
                  </c:pt>
                  <c:pt idx="8">
                    <c:v>61-Inv. In PSU/JV/SPV etc </c:v>
                  </c:pt>
                </c:lvl>
                <c:lvl>
                  <c:pt idx="0">
                    <c:v>Net NR Controlled</c:v>
                  </c:pt>
                  <c:pt idx="1">
                    <c:v>Total RVNL, DFCCIL, RLDA </c:v>
                  </c:pt>
                  <c:pt idx="6">
                    <c:v>Railway Board Controlled</c:v>
                  </c:pt>
                </c:lvl>
              </c:multiLvlStrCache>
            </c:multiLvlStrRef>
          </c:cat>
          <c:val>
            <c:numRef>
              <c:f>'zonal capex'!$D$2:$D$10</c:f>
              <c:numCache>
                <c:formatCode>0.00</c:formatCode>
                <c:ptCount val="9"/>
                <c:pt idx="0" formatCode="General">
                  <c:v>11774.85</c:v>
                </c:pt>
                <c:pt idx="1">
                  <c:v>4900</c:v>
                </c:pt>
                <c:pt idx="2">
                  <c:v>89</c:v>
                </c:pt>
                <c:pt idx="3">
                  <c:v>20</c:v>
                </c:pt>
                <c:pt idx="4">
                  <c:v>795.6</c:v>
                </c:pt>
                <c:pt idx="5">
                  <c:v>2.1</c:v>
                </c:pt>
                <c:pt idx="6">
                  <c:v>7724.9606000000013</c:v>
                </c:pt>
                <c:pt idx="7">
                  <c:v>5878.8</c:v>
                </c:pt>
                <c:pt idx="8">
                  <c:v>19451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DE-4C4E-BBB6-940ED880F060}"/>
            </c:ext>
          </c:extLst>
        </c:ser>
        <c:ser>
          <c:idx val="3"/>
          <c:order val="2"/>
          <c:tx>
            <c:strRef>
              <c:f>'zonal capex'!$E$1</c:f>
              <c:strCache>
                <c:ptCount val="1"/>
                <c:pt idx="0">
                  <c:v>Actuals up to AUG'25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3041478834768831E-3"/>
                  <c:y val="-4.91493383742910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FDE-4C4E-BBB6-940ED880F060}"/>
                </c:ext>
              </c:extLst>
            </c:dLbl>
            <c:dLbl>
              <c:idx val="1"/>
              <c:layout>
                <c:manualLayout>
                  <c:x val="2.9668012135146116E-3"/>
                  <c:y val="-3.95162573504866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FDE-4C4E-BBB6-940ED880F060}"/>
                </c:ext>
              </c:extLst>
            </c:dLbl>
            <c:dLbl>
              <c:idx val="2"/>
              <c:layout>
                <c:manualLayout>
                  <c:x val="-4.6082957669538113E-3"/>
                  <c:y val="-5.6710775047258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FDE-4C4E-BBB6-940ED880F06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multiLvlStrRef>
              <c:f>'zonal capex'!$A$2:$B$10</c:f>
              <c:multiLvlStrCache>
                <c:ptCount val="9"/>
                <c:lvl>
                  <c:pt idx="0">
                    <c:v>All Plan Heads</c:v>
                  </c:pt>
                  <c:pt idx="1">
                    <c:v>11-(RVNL/DFCC)</c:v>
                  </c:pt>
                  <c:pt idx="2">
                    <c:v>15- (RVNL)</c:v>
                  </c:pt>
                  <c:pt idx="3">
                    <c:v>42-(RVNL)</c:v>
                  </c:pt>
                  <c:pt idx="4">
                    <c:v>53- (RLDA)  </c:v>
                  </c:pt>
                  <c:pt idx="5">
                    <c:v>64-(RLDA)</c:v>
                  </c:pt>
                  <c:pt idx="6">
                    <c:v>21- (Bulk Order)</c:v>
                  </c:pt>
                  <c:pt idx="7">
                    <c:v>22-IRFC Lease</c:v>
                  </c:pt>
                  <c:pt idx="8">
                    <c:v>61-Inv. In PSU/JV/SPV etc </c:v>
                  </c:pt>
                </c:lvl>
                <c:lvl>
                  <c:pt idx="0">
                    <c:v>Net NR Controlled</c:v>
                  </c:pt>
                  <c:pt idx="1">
                    <c:v>Total RVNL, DFCCIL, RLDA </c:v>
                  </c:pt>
                  <c:pt idx="6">
                    <c:v>Railway Board Controlled</c:v>
                  </c:pt>
                </c:lvl>
              </c:multiLvlStrCache>
            </c:multiLvlStrRef>
          </c:cat>
          <c:val>
            <c:numRef>
              <c:f>'zonal capex'!$E$2:$E$10</c:f>
              <c:numCache>
                <c:formatCode>General</c:formatCode>
                <c:ptCount val="9"/>
                <c:pt idx="0" formatCode="0.00">
                  <c:v>5039.45</c:v>
                </c:pt>
                <c:pt idx="1">
                  <c:v>2749.11</c:v>
                </c:pt>
                <c:pt idx="2">
                  <c:v>124.93</c:v>
                </c:pt>
                <c:pt idx="3">
                  <c:v>12.53</c:v>
                </c:pt>
                <c:pt idx="4">
                  <c:v>133.80000000000001</c:v>
                </c:pt>
                <c:pt idx="5">
                  <c:v>0</c:v>
                </c:pt>
                <c:pt idx="6" formatCode="0.00">
                  <c:v>1447.3634440000001</c:v>
                </c:pt>
                <c:pt idx="7" formatCode="0.00">
                  <c:v>2384.7707070000001</c:v>
                </c:pt>
                <c:pt idx="8" formatCode="0.00">
                  <c:v>9152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FDE-4C4E-BBB6-940ED880F060}"/>
            </c:ext>
          </c:extLst>
        </c:ser>
        <c:ser>
          <c:idx val="4"/>
          <c:order val="3"/>
          <c:tx>
            <c:strRef>
              <c:f>'zonal capex'!$F$1</c:f>
              <c:strCache>
                <c:ptCount val="1"/>
                <c:pt idx="0">
                  <c:v>Actuals up to AUG '26 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6.9124436504306858E-3"/>
                  <c:y val="-6.80529300567112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FDE-4C4E-BBB6-940ED880F060}"/>
                </c:ext>
              </c:extLst>
            </c:dLbl>
            <c:dLbl>
              <c:idx val="2"/>
              <c:layout>
                <c:manualLayout>
                  <c:x val="4.2242223211309793E-17"/>
                  <c:y val="-0.1172022684310023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FDE-4C4E-BBB6-940ED880F06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multiLvlStrRef>
              <c:f>'zonal capex'!$A$2:$B$10</c:f>
              <c:multiLvlStrCache>
                <c:ptCount val="9"/>
                <c:lvl>
                  <c:pt idx="0">
                    <c:v>All Plan Heads</c:v>
                  </c:pt>
                  <c:pt idx="1">
                    <c:v>11-(RVNL/DFCC)</c:v>
                  </c:pt>
                  <c:pt idx="2">
                    <c:v>15- (RVNL)</c:v>
                  </c:pt>
                  <c:pt idx="3">
                    <c:v>42-(RVNL)</c:v>
                  </c:pt>
                  <c:pt idx="4">
                    <c:v>53- (RLDA)  </c:v>
                  </c:pt>
                  <c:pt idx="5">
                    <c:v>64-(RLDA)</c:v>
                  </c:pt>
                  <c:pt idx="6">
                    <c:v>21- (Bulk Order)</c:v>
                  </c:pt>
                  <c:pt idx="7">
                    <c:v>22-IRFC Lease</c:v>
                  </c:pt>
                  <c:pt idx="8">
                    <c:v>61-Inv. In PSU/JV/SPV etc </c:v>
                  </c:pt>
                </c:lvl>
                <c:lvl>
                  <c:pt idx="0">
                    <c:v>Net NR Controlled</c:v>
                  </c:pt>
                  <c:pt idx="1">
                    <c:v>Total RVNL, DFCCIL, RLDA </c:v>
                  </c:pt>
                  <c:pt idx="6">
                    <c:v>Railway Board Controlled</c:v>
                  </c:pt>
                </c:lvl>
              </c:multiLvlStrCache>
            </c:multiLvlStrRef>
          </c:cat>
          <c:val>
            <c:numRef>
              <c:f>'zonal capex'!$F$2:$F$10</c:f>
              <c:numCache>
                <c:formatCode>General</c:formatCode>
                <c:ptCount val="9"/>
                <c:pt idx="0">
                  <c:v>6275.47</c:v>
                </c:pt>
                <c:pt idx="1">
                  <c:v>2273.52</c:v>
                </c:pt>
                <c:pt idx="2">
                  <c:v>67.069999999999993</c:v>
                </c:pt>
                <c:pt idx="3">
                  <c:v>17.25</c:v>
                </c:pt>
                <c:pt idx="4">
                  <c:v>426.73</c:v>
                </c:pt>
                <c:pt idx="5">
                  <c:v>0</c:v>
                </c:pt>
                <c:pt idx="6" formatCode="0.00">
                  <c:v>2404.7600000000007</c:v>
                </c:pt>
                <c:pt idx="7" formatCode="0.00">
                  <c:v>2585.798065</c:v>
                </c:pt>
                <c:pt idx="8" formatCode="0.00">
                  <c:v>10950.125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FDE-4C4E-BBB6-940ED880F0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55296128"/>
        <c:axId val="155297664"/>
      </c:barChart>
      <c:lineChart>
        <c:grouping val="standard"/>
        <c:varyColors val="0"/>
        <c:ser>
          <c:idx val="5"/>
          <c:order val="4"/>
          <c:tx>
            <c:strRef>
              <c:f>'zonal capex'!$G$1</c:f>
              <c:strCache>
                <c:ptCount val="1"/>
                <c:pt idx="0">
                  <c:v>% UTILISATION  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dLbls>
            <c:dLbl>
              <c:idx val="0"/>
              <c:layout>
                <c:manualLayout>
                  <c:x val="5.4884742041712425E-3"/>
                  <c:y val="-3.73416906193153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FDE-4C4E-BBB6-940ED880F060}"/>
                </c:ext>
              </c:extLst>
            </c:dLbl>
            <c:dLbl>
              <c:idx val="1"/>
              <c:layout>
                <c:manualLayout>
                  <c:x val="-4.6082957669537714E-3"/>
                  <c:y val="-3.40264650283554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FDE-4C4E-BBB6-940ED880F060}"/>
                </c:ext>
              </c:extLst>
            </c:dLbl>
            <c:dLbl>
              <c:idx val="4"/>
              <c:layout>
                <c:manualLayout>
                  <c:x val="4.3907793633369118E-3"/>
                  <c:y val="-5.293846210672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FDE-4C4E-BBB6-940ED880F060}"/>
                </c:ext>
              </c:extLst>
            </c:dLbl>
            <c:dLbl>
              <c:idx val="5"/>
              <c:layout>
                <c:manualLayout>
                  <c:x val="1.756311745334797E-2"/>
                  <c:y val="-8.48156226460447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FDE-4C4E-BBB6-940ED880F060}"/>
                </c:ext>
              </c:extLst>
            </c:dLbl>
            <c:dLbl>
              <c:idx val="6"/>
              <c:layout>
                <c:manualLayout>
                  <c:x val="0"/>
                  <c:y val="1.03412616339193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FDE-4C4E-BBB6-940ED880F060}"/>
                </c:ext>
              </c:extLst>
            </c:dLbl>
            <c:dLbl>
              <c:idx val="7"/>
              <c:layout>
                <c:manualLayout>
                  <c:x val="3.2844412560394849E-5"/>
                  <c:y val="-9.63716997764828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FDE-4C4E-BBB6-940ED880F060}"/>
                </c:ext>
              </c:extLst>
            </c:dLbl>
            <c:dLbl>
              <c:idx val="8"/>
              <c:layout>
                <c:manualLayout>
                  <c:x val="-1.6099338351305193E-16"/>
                  <c:y val="-7.1781410447338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09D-4468-B2B2-59C34969637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'zonal capex'!$A$2:$A$10</c:f>
              <c:strCache>
                <c:ptCount val="7"/>
                <c:pt idx="0">
                  <c:v>Net NR Controlled</c:v>
                </c:pt>
                <c:pt idx="1">
                  <c:v>Total RVNL, DFCCIL, RLDA </c:v>
                </c:pt>
                <c:pt idx="6">
                  <c:v>Railway Board Controlled</c:v>
                </c:pt>
              </c:strCache>
            </c:strRef>
          </c:cat>
          <c:val>
            <c:numRef>
              <c:f>'zonal capex'!$G$2:$G$10</c:f>
              <c:numCache>
                <c:formatCode>0.00%</c:formatCode>
                <c:ptCount val="9"/>
                <c:pt idx="0">
                  <c:v>0.53295540919841866</c:v>
                </c:pt>
                <c:pt idx="1">
                  <c:v>0.46398367346938774</c:v>
                </c:pt>
                <c:pt idx="2">
                  <c:v>0.7535955056179775</c:v>
                </c:pt>
                <c:pt idx="3">
                  <c:v>0.86250000000000004</c:v>
                </c:pt>
                <c:pt idx="4">
                  <c:v>0.53636249371543487</c:v>
                </c:pt>
                <c:pt idx="5">
                  <c:v>0</c:v>
                </c:pt>
                <c:pt idx="6">
                  <c:v>0.31129738059764345</c:v>
                </c:pt>
                <c:pt idx="7">
                  <c:v>0.4398513412601211</c:v>
                </c:pt>
                <c:pt idx="8">
                  <c:v>0.56295948794406458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9FDE-4C4E-BBB6-940ED880F0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5309184"/>
        <c:axId val="155299200"/>
      </c:lineChart>
      <c:catAx>
        <c:axId val="15529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3600000"/>
          <a:lstStyle/>
          <a:p>
            <a:pPr>
              <a:defRPr/>
            </a:pPr>
            <a:endParaRPr lang="en-US"/>
          </a:p>
        </c:txPr>
        <c:crossAx val="155297664"/>
        <c:crosses val="autoZero"/>
        <c:auto val="1"/>
        <c:lblAlgn val="ctr"/>
        <c:lblOffset val="100"/>
        <c:noMultiLvlLbl val="0"/>
      </c:catAx>
      <c:valAx>
        <c:axId val="155297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5296128"/>
        <c:crosses val="autoZero"/>
        <c:crossBetween val="between"/>
      </c:valAx>
      <c:valAx>
        <c:axId val="155299200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5309184"/>
        <c:crosses val="max"/>
        <c:crossBetween val="between"/>
      </c:valAx>
      <c:catAx>
        <c:axId val="1553091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529920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8639549858682597E-3"/>
          <c:y val="0.96493638241901813"/>
          <c:w val="0.99013604501413177"/>
          <c:h val="3.5063603713066195E-2"/>
        </c:manualLayout>
      </c:layout>
      <c:overlay val="1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'Agency Capex'!$B$1</c:f>
              <c:strCache>
                <c:ptCount val="1"/>
                <c:pt idx="0">
                  <c:v> Actual 2025-26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'Agency Capex'!$A$2:$A$12</c:f>
              <c:strCache>
                <c:ptCount val="10"/>
                <c:pt idx="0">
                  <c:v>DRM-DLI </c:v>
                </c:pt>
                <c:pt idx="1">
                  <c:v>DRM-FZR </c:v>
                </c:pt>
                <c:pt idx="2">
                  <c:v>DRM-JAT</c:v>
                </c:pt>
                <c:pt idx="3">
                  <c:v>DRM-LKO </c:v>
                </c:pt>
                <c:pt idx="4">
                  <c:v>DRM-MB </c:v>
                </c:pt>
                <c:pt idx="5">
                  <c:v>DRM-UMB </c:v>
                </c:pt>
                <c:pt idx="6">
                  <c:v>Others OL </c:v>
                </c:pt>
                <c:pt idx="7">
                  <c:v>CAO/RSP </c:v>
                </c:pt>
                <c:pt idx="8">
                  <c:v>USBRL  </c:v>
                </c:pt>
                <c:pt idx="9">
                  <c:v>CAO/C </c:v>
                </c:pt>
              </c:strCache>
            </c:strRef>
          </c:cat>
          <c:val>
            <c:numRef>
              <c:f>'Agency Capex'!$B$2:$B$12</c:f>
              <c:numCache>
                <c:formatCode>General</c:formatCode>
                <c:ptCount val="10"/>
                <c:pt idx="0">
                  <c:v>1319.25</c:v>
                </c:pt>
                <c:pt idx="1">
                  <c:v>721.8</c:v>
                </c:pt>
                <c:pt idx="2">
                  <c:v>225</c:v>
                </c:pt>
                <c:pt idx="3">
                  <c:v>1069.8599999999999</c:v>
                </c:pt>
                <c:pt idx="4">
                  <c:v>846.17</c:v>
                </c:pt>
                <c:pt idx="5">
                  <c:v>642.09</c:v>
                </c:pt>
                <c:pt idx="6">
                  <c:v>327.52999999999997</c:v>
                </c:pt>
                <c:pt idx="7">
                  <c:v>468.27</c:v>
                </c:pt>
                <c:pt idx="8">
                  <c:v>1523.4</c:v>
                </c:pt>
                <c:pt idx="9">
                  <c:v>3516.67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B9-49BF-A831-94EC9B9B7171}"/>
            </c:ext>
          </c:extLst>
        </c:ser>
        <c:ser>
          <c:idx val="1"/>
          <c:order val="1"/>
          <c:tx>
            <c:strRef>
              <c:f>'Agency Capex'!$C$1</c:f>
              <c:strCache>
                <c:ptCount val="1"/>
                <c:pt idx="0">
                  <c:v>Current Outlay 2026-27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'Agency Capex'!$A$2:$A$12</c:f>
              <c:strCache>
                <c:ptCount val="10"/>
                <c:pt idx="0">
                  <c:v>DRM-DLI </c:v>
                </c:pt>
                <c:pt idx="1">
                  <c:v>DRM-FZR </c:v>
                </c:pt>
                <c:pt idx="2">
                  <c:v>DRM-JAT</c:v>
                </c:pt>
                <c:pt idx="3">
                  <c:v>DRM-LKO </c:v>
                </c:pt>
                <c:pt idx="4">
                  <c:v>DRM-MB </c:v>
                </c:pt>
                <c:pt idx="5">
                  <c:v>DRM-UMB </c:v>
                </c:pt>
                <c:pt idx="6">
                  <c:v>Others OL </c:v>
                </c:pt>
                <c:pt idx="7">
                  <c:v>CAO/RSP </c:v>
                </c:pt>
                <c:pt idx="8">
                  <c:v>USBRL  </c:v>
                </c:pt>
                <c:pt idx="9">
                  <c:v>CAO/C </c:v>
                </c:pt>
              </c:strCache>
            </c:strRef>
          </c:cat>
          <c:val>
            <c:numRef>
              <c:f>'Agency Capex'!$C$2:$C$12</c:f>
              <c:numCache>
                <c:formatCode>0.00</c:formatCode>
                <c:ptCount val="10"/>
                <c:pt idx="0">
                  <c:v>1118.1194999999998</c:v>
                </c:pt>
                <c:pt idx="1">
                  <c:v>560.01170000000002</c:v>
                </c:pt>
                <c:pt idx="2">
                  <c:v>204.869</c:v>
                </c:pt>
                <c:pt idx="3">
                  <c:v>802.31389999999999</c:v>
                </c:pt>
                <c:pt idx="4">
                  <c:v>556.96870000000001</c:v>
                </c:pt>
                <c:pt idx="5">
                  <c:v>783.91989999999998</c:v>
                </c:pt>
                <c:pt idx="6" formatCode="General">
                  <c:v>2598.33</c:v>
                </c:pt>
                <c:pt idx="7" formatCode="General">
                  <c:v>373.52009999999996</c:v>
                </c:pt>
                <c:pt idx="8">
                  <c:v>483.05979999999994</c:v>
                </c:pt>
                <c:pt idx="9">
                  <c:v>4636.2789000000002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B9-49BF-A831-94EC9B9B7171}"/>
            </c:ext>
          </c:extLst>
        </c:ser>
        <c:ser>
          <c:idx val="2"/>
          <c:order val="2"/>
          <c:tx>
            <c:strRef>
              <c:f>'Agency Capex'!$D$1</c:f>
              <c:strCache>
                <c:ptCount val="1"/>
                <c:pt idx="0">
                  <c:v> Exp. up to AUG '26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'Agency Capex'!$A$2:$A$12</c:f>
              <c:strCache>
                <c:ptCount val="10"/>
                <c:pt idx="0">
                  <c:v>DRM-DLI </c:v>
                </c:pt>
                <c:pt idx="1">
                  <c:v>DRM-FZR </c:v>
                </c:pt>
                <c:pt idx="2">
                  <c:v>DRM-JAT</c:v>
                </c:pt>
                <c:pt idx="3">
                  <c:v>DRM-LKO </c:v>
                </c:pt>
                <c:pt idx="4">
                  <c:v>DRM-MB </c:v>
                </c:pt>
                <c:pt idx="5">
                  <c:v>DRM-UMB </c:v>
                </c:pt>
                <c:pt idx="6">
                  <c:v>Others OL </c:v>
                </c:pt>
                <c:pt idx="7">
                  <c:v>CAO/RSP </c:v>
                </c:pt>
                <c:pt idx="8">
                  <c:v>USBRL  </c:v>
                </c:pt>
                <c:pt idx="9">
                  <c:v>CAO/C </c:v>
                </c:pt>
              </c:strCache>
            </c:strRef>
          </c:cat>
          <c:val>
            <c:numRef>
              <c:f>'Agency Capex'!$D$2:$D$12</c:f>
              <c:numCache>
                <c:formatCode>0.00</c:formatCode>
                <c:ptCount val="10"/>
                <c:pt idx="0">
                  <c:v>687.58</c:v>
                </c:pt>
                <c:pt idx="1">
                  <c:v>378.23</c:v>
                </c:pt>
                <c:pt idx="2">
                  <c:v>196.72</c:v>
                </c:pt>
                <c:pt idx="3">
                  <c:v>487.81</c:v>
                </c:pt>
                <c:pt idx="4">
                  <c:v>541.11</c:v>
                </c:pt>
                <c:pt idx="5">
                  <c:v>555.83000000000004</c:v>
                </c:pt>
                <c:pt idx="6">
                  <c:v>279.73</c:v>
                </c:pt>
                <c:pt idx="7">
                  <c:v>238.6</c:v>
                </c:pt>
                <c:pt idx="8">
                  <c:v>515.04999999999995</c:v>
                </c:pt>
                <c:pt idx="9">
                  <c:v>1656.73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B9-49BF-A831-94EC9B9B71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55438080"/>
        <c:axId val="155558656"/>
      </c:barChart>
      <c:lineChart>
        <c:grouping val="standard"/>
        <c:varyColors val="0"/>
        <c:ser>
          <c:idx val="3"/>
          <c:order val="3"/>
          <c:tx>
            <c:strRef>
              <c:f>'Agency Capex'!$E$1</c:f>
              <c:strCache>
                <c:ptCount val="1"/>
                <c:pt idx="0">
                  <c:v>% Utilisation.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dLbls>
            <c:dLbl>
              <c:idx val="6"/>
              <c:layout>
                <c:manualLayout>
                  <c:x val="5.0177349272872897E-3"/>
                  <c:y val="-0.1290403814510977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5B9-49BF-A831-94EC9B9B7171}"/>
                </c:ext>
              </c:extLst>
            </c:dLbl>
            <c:dLbl>
              <c:idx val="7"/>
              <c:layout>
                <c:manualLayout>
                  <c:x val="-2.7118641172439216E-3"/>
                  <c:y val="-2.71002710027100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5B9-49BF-A831-94EC9B9B71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'Agency Capex'!$A$2:$A$12</c:f>
              <c:strCache>
                <c:ptCount val="10"/>
                <c:pt idx="0">
                  <c:v>DRM-DLI </c:v>
                </c:pt>
                <c:pt idx="1">
                  <c:v>DRM-FZR </c:v>
                </c:pt>
                <c:pt idx="2">
                  <c:v>DRM-JAT</c:v>
                </c:pt>
                <c:pt idx="3">
                  <c:v>DRM-LKO </c:v>
                </c:pt>
                <c:pt idx="4">
                  <c:v>DRM-MB </c:v>
                </c:pt>
                <c:pt idx="5">
                  <c:v>DRM-UMB </c:v>
                </c:pt>
                <c:pt idx="6">
                  <c:v>Others OL </c:v>
                </c:pt>
                <c:pt idx="7">
                  <c:v>CAO/RSP </c:v>
                </c:pt>
                <c:pt idx="8">
                  <c:v>USBRL  </c:v>
                </c:pt>
                <c:pt idx="9">
                  <c:v>CAO/C </c:v>
                </c:pt>
              </c:strCache>
            </c:strRef>
          </c:cat>
          <c:val>
            <c:numRef>
              <c:f>'Agency Capex'!$E$2:$E$12</c:f>
              <c:numCache>
                <c:formatCode>0.00%</c:formatCode>
                <c:ptCount val="10"/>
                <c:pt idx="0">
                  <c:v>0.61494321492470183</c:v>
                </c:pt>
                <c:pt idx="1">
                  <c:v>0.67539660332096629</c:v>
                </c:pt>
                <c:pt idx="2">
                  <c:v>0.96022336224611826</c:v>
                </c:pt>
                <c:pt idx="3">
                  <c:v>0.60800392464844499</c:v>
                </c:pt>
                <c:pt idx="4">
                  <c:v>0.97152676622582201</c:v>
                </c:pt>
                <c:pt idx="5">
                  <c:v>0.70903927812012435</c:v>
                </c:pt>
                <c:pt idx="6">
                  <c:v>0.10765761085004601</c:v>
                </c:pt>
                <c:pt idx="7">
                  <c:v>0.63878757796434527</c:v>
                </c:pt>
                <c:pt idx="8">
                  <c:v>1.0662240989624887</c:v>
                </c:pt>
                <c:pt idx="9">
                  <c:v>0.35734045249089735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5B9-49BF-A831-94EC9B9B71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5566464"/>
        <c:axId val="155560192"/>
      </c:lineChart>
      <c:catAx>
        <c:axId val="15543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5558656"/>
        <c:crosses val="autoZero"/>
        <c:auto val="1"/>
        <c:lblAlgn val="ctr"/>
        <c:lblOffset val="100"/>
        <c:noMultiLvlLbl val="0"/>
      </c:catAx>
      <c:valAx>
        <c:axId val="155558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5438080"/>
        <c:crosses val="autoZero"/>
        <c:crossBetween val="between"/>
      </c:valAx>
      <c:valAx>
        <c:axId val="155560192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5566464"/>
        <c:crosses val="max"/>
        <c:crossBetween val="between"/>
      </c:valAx>
      <c:catAx>
        <c:axId val="15556646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55601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'Const Capex'!$B$1</c:f>
              <c:strCache>
                <c:ptCount val="1"/>
                <c:pt idx="0">
                  <c:v>Current Outlay 2026-27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'Const Capex'!$A$2:$A$18</c:f>
              <c:strCache>
                <c:ptCount val="14"/>
                <c:pt idx="0">
                  <c:v>PH 1100</c:v>
                </c:pt>
                <c:pt idx="1">
                  <c:v>PH 1500</c:v>
                </c:pt>
                <c:pt idx="2">
                  <c:v>PH 1600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3600</c:v>
                </c:pt>
                <c:pt idx="9">
                  <c:v>PH 4200</c:v>
                </c:pt>
                <c:pt idx="10">
                  <c:v>PH 5100</c:v>
                </c:pt>
                <c:pt idx="11">
                  <c:v>PH 5300</c:v>
                </c:pt>
                <c:pt idx="12">
                  <c:v>PH 6400</c:v>
                </c:pt>
                <c:pt idx="13">
                  <c:v>PH 6500</c:v>
                </c:pt>
              </c:strCache>
            </c:strRef>
          </c:cat>
          <c:val>
            <c:numRef>
              <c:f>'Const Capex'!$B$2:$B$18</c:f>
              <c:numCache>
                <c:formatCode>0.00</c:formatCode>
                <c:ptCount val="14"/>
                <c:pt idx="0">
                  <c:v>1656.1400000000003</c:v>
                </c:pt>
                <c:pt idx="1">
                  <c:v>1771.78</c:v>
                </c:pt>
                <c:pt idx="2">
                  <c:v>319.43900000000002</c:v>
                </c:pt>
                <c:pt idx="3">
                  <c:v>1.9900000000000001E-2</c:v>
                </c:pt>
                <c:pt idx="4">
                  <c:v>275.98850000000004</c:v>
                </c:pt>
                <c:pt idx="5">
                  <c:v>1.6</c:v>
                </c:pt>
                <c:pt idx="6">
                  <c:v>4.5510000000000019</c:v>
                </c:pt>
                <c:pt idx="7">
                  <c:v>304.93119999999999</c:v>
                </c:pt>
                <c:pt idx="8">
                  <c:v>3</c:v>
                </c:pt>
                <c:pt idx="9">
                  <c:v>82.052800000000005</c:v>
                </c:pt>
                <c:pt idx="10">
                  <c:v>15.94</c:v>
                </c:pt>
                <c:pt idx="11">
                  <c:v>173.86640000000006</c:v>
                </c:pt>
                <c:pt idx="12">
                  <c:v>22.430199999999999</c:v>
                </c:pt>
                <c:pt idx="13">
                  <c:v>4.54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17-4A14-9E51-E088FAB8587D}"/>
            </c:ext>
          </c:extLst>
        </c:ser>
        <c:ser>
          <c:idx val="2"/>
          <c:order val="1"/>
          <c:tx>
            <c:strRef>
              <c:f>'Const Capex'!$C$1</c:f>
              <c:strCache>
                <c:ptCount val="1"/>
                <c:pt idx="0">
                  <c:v>Actuals upto AUG' 26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'Const Capex'!$A$2:$A$18</c:f>
              <c:strCache>
                <c:ptCount val="14"/>
                <c:pt idx="0">
                  <c:v>PH 1100</c:v>
                </c:pt>
                <c:pt idx="1">
                  <c:v>PH 1500</c:v>
                </c:pt>
                <c:pt idx="2">
                  <c:v>PH 1600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3600</c:v>
                </c:pt>
                <c:pt idx="9">
                  <c:v>PH 4200</c:v>
                </c:pt>
                <c:pt idx="10">
                  <c:v>PH 5100</c:v>
                </c:pt>
                <c:pt idx="11">
                  <c:v>PH 5300</c:v>
                </c:pt>
                <c:pt idx="12">
                  <c:v>PH 6400</c:v>
                </c:pt>
                <c:pt idx="13">
                  <c:v>PH 6500</c:v>
                </c:pt>
              </c:strCache>
            </c:strRef>
          </c:cat>
          <c:val>
            <c:numRef>
              <c:f>'Const Capex'!$C$2:$C$18</c:f>
              <c:numCache>
                <c:formatCode>0.00</c:formatCode>
                <c:ptCount val="14"/>
                <c:pt idx="0">
                  <c:v>371.67642799999999</c:v>
                </c:pt>
                <c:pt idx="1">
                  <c:v>502.50873499999994</c:v>
                </c:pt>
                <c:pt idx="2">
                  <c:v>179.40268200000003</c:v>
                </c:pt>
                <c:pt idx="3">
                  <c:v>0</c:v>
                </c:pt>
                <c:pt idx="4">
                  <c:v>205.36916200000002</c:v>
                </c:pt>
                <c:pt idx="5">
                  <c:v>0.13335</c:v>
                </c:pt>
                <c:pt idx="6">
                  <c:v>9.8819349999999915</c:v>
                </c:pt>
                <c:pt idx="7">
                  <c:v>181.99979100000002</c:v>
                </c:pt>
                <c:pt idx="8">
                  <c:v>1.681819</c:v>
                </c:pt>
                <c:pt idx="9">
                  <c:v>47.103124999999999</c:v>
                </c:pt>
                <c:pt idx="10">
                  <c:v>22.114547000000002</c:v>
                </c:pt>
                <c:pt idx="11">
                  <c:v>122.21558499999998</c:v>
                </c:pt>
                <c:pt idx="12">
                  <c:v>12.570285999999999</c:v>
                </c:pt>
                <c:pt idx="13">
                  <c:v>6.9401000000000004E-2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17-4A14-9E51-E088FAB858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56012928"/>
        <c:axId val="156014848"/>
      </c:barChart>
      <c:lineChart>
        <c:grouping val="standard"/>
        <c:varyColors val="0"/>
        <c:ser>
          <c:idx val="3"/>
          <c:order val="2"/>
          <c:tx>
            <c:strRef>
              <c:f>'Const Capex'!$D$1</c:f>
              <c:strCache>
                <c:ptCount val="1"/>
                <c:pt idx="0">
                  <c:v>% Utilization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dLbls>
            <c:dLbl>
              <c:idx val="1"/>
              <c:layout>
                <c:manualLayout>
                  <c:x val="4.771846107963061E-3"/>
                  <c:y val="7.8585461689587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517-4A14-9E51-E088FAB8587D}"/>
                </c:ext>
              </c:extLst>
            </c:dLbl>
            <c:dLbl>
              <c:idx val="2"/>
              <c:layout>
                <c:manualLayout>
                  <c:x val="0"/>
                  <c:y val="-3.92927308447937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17-4A14-9E51-E088FAB8587D}"/>
                </c:ext>
              </c:extLst>
            </c:dLbl>
            <c:dLbl>
              <c:idx val="4"/>
              <c:layout>
                <c:manualLayout>
                  <c:x val="2.1473307485833894E-2"/>
                  <c:y val="-2.35756385068762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517-4A14-9E51-E088FAB8587D}"/>
                </c:ext>
              </c:extLst>
            </c:dLbl>
            <c:dLbl>
              <c:idx val="5"/>
              <c:layout>
                <c:manualLayout>
                  <c:x val="3.5788845809722656E-3"/>
                  <c:y val="-8.644400785854615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17-4A14-9E51-E088FAB8587D}"/>
                </c:ext>
              </c:extLst>
            </c:dLbl>
            <c:dLbl>
              <c:idx val="7"/>
              <c:layout>
                <c:manualLayout>
                  <c:x val="2.3859230539815105E-3"/>
                  <c:y val="-4.71512770137524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517-4A14-9E51-E088FAB8587D}"/>
                </c:ext>
              </c:extLst>
            </c:dLbl>
            <c:dLbl>
              <c:idx val="11"/>
              <c:layout>
                <c:manualLayout>
                  <c:x val="2.3859230539814229E-3"/>
                  <c:y val="-4.97707924034053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517-4A14-9E51-E088FAB858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'Const Capex'!$D$2:$D$18</c:f>
              <c:numCache>
                <c:formatCode>0.00%</c:formatCode>
                <c:ptCount val="14"/>
                <c:pt idx="0">
                  <c:v>0.224423314454092</c:v>
                </c:pt>
                <c:pt idx="1">
                  <c:v>0.28361801973156936</c:v>
                </c:pt>
                <c:pt idx="2">
                  <c:v>0.56161796774971129</c:v>
                </c:pt>
                <c:pt idx="3">
                  <c:v>0</c:v>
                </c:pt>
                <c:pt idx="4">
                  <c:v>0.74412217175715645</c:v>
                </c:pt>
                <c:pt idx="5">
                  <c:v>8.3343749999999994E-2</c:v>
                </c:pt>
                <c:pt idx="6">
                  <c:v>2.1713766205229592</c:v>
                </c:pt>
                <c:pt idx="7">
                  <c:v>0.59685526112119724</c:v>
                </c:pt>
                <c:pt idx="8">
                  <c:v>0.56060633333333332</c:v>
                </c:pt>
                <c:pt idx="9">
                  <c:v>0.57405871585125667</c:v>
                </c:pt>
                <c:pt idx="10">
                  <c:v>1.3873617942283565</c:v>
                </c:pt>
                <c:pt idx="11">
                  <c:v>0.7029281390769001</c:v>
                </c:pt>
                <c:pt idx="12">
                  <c:v>0.56041791869889701</c:v>
                </c:pt>
                <c:pt idx="13">
                  <c:v>1.5286563876651983E-2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B517-4A14-9E51-E088FAB858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6018176"/>
        <c:axId val="156016640"/>
      </c:lineChart>
      <c:catAx>
        <c:axId val="156012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3600000"/>
          <a:lstStyle/>
          <a:p>
            <a:pPr>
              <a:defRPr/>
            </a:pPr>
            <a:endParaRPr lang="en-US"/>
          </a:p>
        </c:txPr>
        <c:crossAx val="156014848"/>
        <c:crosses val="autoZero"/>
        <c:auto val="1"/>
        <c:lblAlgn val="ctr"/>
        <c:lblOffset val="100"/>
        <c:noMultiLvlLbl val="0"/>
      </c:catAx>
      <c:valAx>
        <c:axId val="15601484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6012928"/>
        <c:crosses val="autoZero"/>
        <c:crossBetween val="between"/>
      </c:valAx>
      <c:valAx>
        <c:axId val="156016640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6018176"/>
        <c:crosses val="max"/>
        <c:crossBetween val="between"/>
      </c:valAx>
      <c:catAx>
        <c:axId val="156018176"/>
        <c:scaling>
          <c:orientation val="minMax"/>
        </c:scaling>
        <c:delete val="1"/>
        <c:axPos val="b"/>
        <c:majorTickMark val="out"/>
        <c:minorTickMark val="none"/>
        <c:tickLblPos val="nextTo"/>
        <c:crossAx val="15601664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'DLI Capex'!$B$1</c:f>
              <c:strCache>
                <c:ptCount val="1"/>
                <c:pt idx="0">
                  <c:v>PLAN HEADS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'DLI Capex'!$A$2:$A$19</c:f>
              <c:strCache>
                <c:ptCount val="15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3600</c:v>
                </c:pt>
                <c:pt idx="9">
                  <c:v>PH 4100</c:v>
                </c:pt>
                <c:pt idx="10">
                  <c:v>PH 4200</c:v>
                </c:pt>
                <c:pt idx="11">
                  <c:v>PH 5100</c:v>
                </c:pt>
                <c:pt idx="12">
                  <c:v>PH 5300</c:v>
                </c:pt>
                <c:pt idx="13">
                  <c:v>PH 6400</c:v>
                </c:pt>
                <c:pt idx="14">
                  <c:v>PH 6500</c:v>
                </c:pt>
              </c:strCache>
            </c:strRef>
          </c:cat>
          <c:val>
            <c:numRef>
              <c:f>'DLI Capex'!$B$2:$B$19</c:f>
            </c:numRef>
          </c:val>
          <c:extLst>
            <c:ext xmlns:c16="http://schemas.microsoft.com/office/drawing/2014/chart" uri="{C3380CC4-5D6E-409C-BE32-E72D297353CC}">
              <c16:uniqueId val="{00000000-7D6F-406A-80FF-47C795F21E87}"/>
            </c:ext>
          </c:extLst>
        </c:ser>
        <c:ser>
          <c:idx val="1"/>
          <c:order val="1"/>
          <c:tx>
            <c:strRef>
              <c:f>'DLI Capex'!$C$1</c:f>
              <c:strCache>
                <c:ptCount val="1"/>
                <c:pt idx="0">
                  <c:v>Current Outlay 2026-27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'DLI Capex'!$A$2:$A$19</c:f>
              <c:strCache>
                <c:ptCount val="15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3600</c:v>
                </c:pt>
                <c:pt idx="9">
                  <c:v>PH 4100</c:v>
                </c:pt>
                <c:pt idx="10">
                  <c:v>PH 4200</c:v>
                </c:pt>
                <c:pt idx="11">
                  <c:v>PH 5100</c:v>
                </c:pt>
                <c:pt idx="12">
                  <c:v>PH 5300</c:v>
                </c:pt>
                <c:pt idx="13">
                  <c:v>PH 6400</c:v>
                </c:pt>
                <c:pt idx="14">
                  <c:v>PH 6500</c:v>
                </c:pt>
              </c:strCache>
            </c:strRef>
          </c:cat>
          <c:val>
            <c:numRef>
              <c:f>'DLI Capex'!$C$2:$C$19</c:f>
              <c:numCache>
                <c:formatCode>0.00</c:formatCode>
                <c:ptCount val="15"/>
                <c:pt idx="0">
                  <c:v>38.862499999999997</c:v>
                </c:pt>
                <c:pt idx="1">
                  <c:v>7.2820999999999998</c:v>
                </c:pt>
                <c:pt idx="2">
                  <c:v>0</c:v>
                </c:pt>
                <c:pt idx="3">
                  <c:v>17.241199999999999</c:v>
                </c:pt>
                <c:pt idx="4">
                  <c:v>59.765000000000001</c:v>
                </c:pt>
                <c:pt idx="5">
                  <c:v>667.47440000000006</c:v>
                </c:pt>
                <c:pt idx="6">
                  <c:v>39.191299999999998</c:v>
                </c:pt>
                <c:pt idx="7">
                  <c:v>53.217799999999997</c:v>
                </c:pt>
                <c:pt idx="8">
                  <c:v>30.984899999999996</c:v>
                </c:pt>
                <c:pt idx="9">
                  <c:v>2.6625000000000001</c:v>
                </c:pt>
                <c:pt idx="10">
                  <c:v>27.677299999999999</c:v>
                </c:pt>
                <c:pt idx="11">
                  <c:v>11.324999999999999</c:v>
                </c:pt>
                <c:pt idx="12">
                  <c:v>90.878100000000003</c:v>
                </c:pt>
                <c:pt idx="13">
                  <c:v>71.194800000000001</c:v>
                </c:pt>
                <c:pt idx="14">
                  <c:v>0.36259999999999998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6F-406A-80FF-47C795F21E87}"/>
            </c:ext>
          </c:extLst>
        </c:ser>
        <c:ser>
          <c:idx val="2"/>
          <c:order val="2"/>
          <c:tx>
            <c:strRef>
              <c:f>'DLI Capex'!$D$1</c:f>
              <c:strCache>
                <c:ptCount val="1"/>
                <c:pt idx="0">
                  <c:v>Actuals upto AUG' 26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4.5441635898892377E-3"/>
                  <c:y val="-3.50130069661469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D6F-406A-80FF-47C795F21E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'DLI Capex'!$A$2:$A$19</c:f>
              <c:strCache>
                <c:ptCount val="15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3600</c:v>
                </c:pt>
                <c:pt idx="9">
                  <c:v>PH 4100</c:v>
                </c:pt>
                <c:pt idx="10">
                  <c:v>PH 4200</c:v>
                </c:pt>
                <c:pt idx="11">
                  <c:v>PH 5100</c:v>
                </c:pt>
                <c:pt idx="12">
                  <c:v>PH 5300</c:v>
                </c:pt>
                <c:pt idx="13">
                  <c:v>PH 6400</c:v>
                </c:pt>
                <c:pt idx="14">
                  <c:v>PH 6500</c:v>
                </c:pt>
              </c:strCache>
            </c:strRef>
          </c:cat>
          <c:val>
            <c:numRef>
              <c:f>'DLI Capex'!$D$2:$D$19</c:f>
              <c:numCache>
                <c:formatCode>0.00</c:formatCode>
                <c:ptCount val="15"/>
                <c:pt idx="0">
                  <c:v>27.476341999999999</c:v>
                </c:pt>
                <c:pt idx="1">
                  <c:v>2.9472909999999999</c:v>
                </c:pt>
                <c:pt idx="2">
                  <c:v>0.17701</c:v>
                </c:pt>
                <c:pt idx="3">
                  <c:v>12.908803000000001</c:v>
                </c:pt>
                <c:pt idx="4">
                  <c:v>61.197710000000001</c:v>
                </c:pt>
                <c:pt idx="5">
                  <c:v>418.518261</c:v>
                </c:pt>
                <c:pt idx="6">
                  <c:v>10.505858</c:v>
                </c:pt>
                <c:pt idx="7">
                  <c:v>16.521982999999999</c:v>
                </c:pt>
                <c:pt idx="8">
                  <c:v>16.20383</c:v>
                </c:pt>
                <c:pt idx="9">
                  <c:v>2.0710410000000001</c:v>
                </c:pt>
                <c:pt idx="10">
                  <c:v>21.466472</c:v>
                </c:pt>
                <c:pt idx="11">
                  <c:v>6.5835910000000002</c:v>
                </c:pt>
                <c:pt idx="12">
                  <c:v>56.317520999999999</c:v>
                </c:pt>
                <c:pt idx="13">
                  <c:v>33.421892</c:v>
                </c:pt>
                <c:pt idx="14">
                  <c:v>1.2584070000000001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D6F-406A-80FF-47C795F21E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6489984"/>
        <c:axId val="156311552"/>
      </c:barChart>
      <c:lineChart>
        <c:grouping val="standard"/>
        <c:varyColors val="0"/>
        <c:ser>
          <c:idx val="3"/>
          <c:order val="3"/>
          <c:tx>
            <c:strRef>
              <c:f>'DLI Capex'!$E$1</c:f>
              <c:strCache>
                <c:ptCount val="1"/>
                <c:pt idx="0">
                  <c:v>% Utilization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dLbls>
            <c:dLbl>
              <c:idx val="0"/>
              <c:layout>
                <c:manualLayout>
                  <c:x val="0"/>
                  <c:y val="-4.43458980044345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D6F-406A-80FF-47C795F21E87}"/>
                </c:ext>
              </c:extLst>
            </c:dLbl>
            <c:dLbl>
              <c:idx val="1"/>
              <c:layout>
                <c:manualLayout>
                  <c:x val="-5.6802044873615698E-3"/>
                  <c:y val="-6.79970436067997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D6F-406A-80FF-47C795F21E87}"/>
                </c:ext>
              </c:extLst>
            </c:dLbl>
            <c:dLbl>
              <c:idx val="2"/>
              <c:layout>
                <c:manualLayout>
                  <c:x val="-6.8162453848338595E-3"/>
                  <c:y val="-3.84331116038433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D6F-406A-80FF-47C795F21E87}"/>
                </c:ext>
              </c:extLst>
            </c:dLbl>
            <c:dLbl>
              <c:idx val="4"/>
              <c:layout>
                <c:manualLayout>
                  <c:x val="0"/>
                  <c:y val="-1.9774011299435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D6F-406A-80FF-47C795F21E87}"/>
                </c:ext>
              </c:extLst>
            </c:dLbl>
            <c:dLbl>
              <c:idx val="5"/>
              <c:layout>
                <c:manualLayout>
                  <c:x val="-5.6802044873616314E-3"/>
                  <c:y val="-7.09534368070954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D6F-406A-80FF-47C795F21E87}"/>
                </c:ext>
              </c:extLst>
            </c:dLbl>
            <c:dLbl>
              <c:idx val="6"/>
              <c:layout>
                <c:manualLayout>
                  <c:x val="-3.4081226924170126E-3"/>
                  <c:y val="-9.46045824094606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D6F-406A-80FF-47C795F21E87}"/>
                </c:ext>
              </c:extLst>
            </c:dLbl>
            <c:dLbl>
              <c:idx val="7"/>
              <c:layout>
                <c:manualLayout>
                  <c:x val="-2.2720817949447012E-3"/>
                  <c:y val="-7.09534368070953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D6F-406A-80FF-47C795F21E87}"/>
                </c:ext>
              </c:extLst>
            </c:dLbl>
            <c:dLbl>
              <c:idx val="10"/>
              <c:layout>
                <c:manualLayout>
                  <c:x val="-6.8162453848340278E-3"/>
                  <c:y val="-7.16702266641459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D6F-406A-80FF-47C795F21E87}"/>
                </c:ext>
              </c:extLst>
            </c:dLbl>
            <c:dLbl>
              <c:idx val="11"/>
              <c:layout>
                <c:manualLayout>
                  <c:x val="-6.8162453848338595E-3"/>
                  <c:y val="-6.50406504065041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D6F-406A-80FF-47C795F21E87}"/>
                </c:ext>
              </c:extLst>
            </c:dLbl>
            <c:dLbl>
              <c:idx val="12"/>
              <c:layout>
                <c:manualLayout>
                  <c:x val="5.6802044873615473E-3"/>
                  <c:y val="-5.02586844050258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D6F-406A-80FF-47C795F21E87}"/>
                </c:ext>
              </c:extLst>
            </c:dLbl>
            <c:dLbl>
              <c:idx val="13"/>
              <c:layout>
                <c:manualLayout>
                  <c:x val="1.1360408974722923E-2"/>
                  <c:y val="-3.1355724165563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98B-4FDD-B6EA-4D1CE5ABEBA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'DLI Capex'!$A$2:$A$19</c:f>
              <c:strCache>
                <c:ptCount val="15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3600</c:v>
                </c:pt>
                <c:pt idx="9">
                  <c:v>PH 4100</c:v>
                </c:pt>
                <c:pt idx="10">
                  <c:v>PH 4200</c:v>
                </c:pt>
                <c:pt idx="11">
                  <c:v>PH 5100</c:v>
                </c:pt>
                <c:pt idx="12">
                  <c:v>PH 5300</c:v>
                </c:pt>
                <c:pt idx="13">
                  <c:v>PH 6400</c:v>
                </c:pt>
                <c:pt idx="14">
                  <c:v>PH 6500</c:v>
                </c:pt>
              </c:strCache>
            </c:strRef>
          </c:cat>
          <c:val>
            <c:numRef>
              <c:f>'DLI Capex'!$E$2:$E$19</c:f>
              <c:numCache>
                <c:formatCode>0.00%</c:formatCode>
                <c:ptCount val="15"/>
                <c:pt idx="0">
                  <c:v>0.7070142682534577</c:v>
                </c:pt>
                <c:pt idx="1">
                  <c:v>0.40473091553260737</c:v>
                </c:pt>
                <c:pt idx="2">
                  <c:v>0</c:v>
                </c:pt>
                <c:pt idx="3">
                  <c:v>0.7487183606709511</c:v>
                </c:pt>
                <c:pt idx="4">
                  <c:v>1.0239723918681503</c:v>
                </c:pt>
                <c:pt idx="5">
                  <c:v>0.62701769685848618</c:v>
                </c:pt>
                <c:pt idx="6">
                  <c:v>0.26806607588929177</c:v>
                </c:pt>
                <c:pt idx="7">
                  <c:v>0.31045971460676691</c:v>
                </c:pt>
                <c:pt idx="8">
                  <c:v>0.52295892515386533</c:v>
                </c:pt>
                <c:pt idx="9">
                  <c:v>0.77785577464788735</c:v>
                </c:pt>
                <c:pt idx="10">
                  <c:v>0.77559848684662158</c:v>
                </c:pt>
                <c:pt idx="11">
                  <c:v>0.5813325386313466</c:v>
                </c:pt>
                <c:pt idx="12">
                  <c:v>0.61970398808953975</c:v>
                </c:pt>
                <c:pt idx="13">
                  <c:v>0.46944288065982348</c:v>
                </c:pt>
                <c:pt idx="14">
                  <c:v>3.4705102040816329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D6F-406A-80FF-47C795F21E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6314624"/>
        <c:axId val="156313088"/>
      </c:lineChart>
      <c:catAx>
        <c:axId val="156489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6311552"/>
        <c:crosses val="autoZero"/>
        <c:auto val="1"/>
        <c:lblAlgn val="ctr"/>
        <c:lblOffset val="100"/>
        <c:noMultiLvlLbl val="0"/>
      </c:catAx>
      <c:valAx>
        <c:axId val="156311552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6489984"/>
        <c:crosses val="autoZero"/>
        <c:crossBetween val="between"/>
      </c:valAx>
      <c:valAx>
        <c:axId val="156313088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6314624"/>
        <c:crosses val="max"/>
        <c:crossBetween val="between"/>
      </c:valAx>
      <c:catAx>
        <c:axId val="1563146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631308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FZR!$B$1</c:f>
              <c:strCache>
                <c:ptCount val="1"/>
                <c:pt idx="0">
                  <c:v>PLAN HEADS</c:v>
                </c:pt>
              </c:strCache>
            </c:strRef>
          </c:tx>
          <c:invertIfNegative val="0"/>
          <c:cat>
            <c:strRef>
              <c:f>FZR!$A$2:$A$18</c:f>
              <c:strCache>
                <c:ptCount val="14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3600</c:v>
                </c:pt>
                <c:pt idx="9">
                  <c:v>PH 4100</c:v>
                </c:pt>
                <c:pt idx="10">
                  <c:v>PH 4200</c:v>
                </c:pt>
                <c:pt idx="11">
                  <c:v>PH 5100</c:v>
                </c:pt>
                <c:pt idx="12">
                  <c:v>PH 5300</c:v>
                </c:pt>
                <c:pt idx="13">
                  <c:v>PH 6400</c:v>
                </c:pt>
              </c:strCache>
            </c:strRef>
          </c:cat>
          <c:val>
            <c:numRef>
              <c:f>FZR!$B$2:$B$18</c:f>
            </c:numRef>
          </c:val>
          <c:extLst>
            <c:ext xmlns:c16="http://schemas.microsoft.com/office/drawing/2014/chart" uri="{C3380CC4-5D6E-409C-BE32-E72D297353CC}">
              <c16:uniqueId val="{00000000-F8A3-43AD-9C01-67AA9D0EBC40}"/>
            </c:ext>
          </c:extLst>
        </c:ser>
        <c:ser>
          <c:idx val="1"/>
          <c:order val="1"/>
          <c:tx>
            <c:strRef>
              <c:f>FZR!$C$1</c:f>
              <c:strCache>
                <c:ptCount val="1"/>
                <c:pt idx="0">
                  <c:v>Current Outlay 2026-27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FZR!$A$2:$A$18</c:f>
              <c:strCache>
                <c:ptCount val="14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3600</c:v>
                </c:pt>
                <c:pt idx="9">
                  <c:v>PH 4100</c:v>
                </c:pt>
                <c:pt idx="10">
                  <c:v>PH 4200</c:v>
                </c:pt>
                <c:pt idx="11">
                  <c:v>PH 5100</c:v>
                </c:pt>
                <c:pt idx="12">
                  <c:v>PH 5300</c:v>
                </c:pt>
                <c:pt idx="13">
                  <c:v>PH 6400</c:v>
                </c:pt>
              </c:strCache>
            </c:strRef>
          </c:cat>
          <c:val>
            <c:numRef>
              <c:f>FZR!$C$2:$C$18</c:f>
              <c:numCache>
                <c:formatCode>0.00</c:formatCode>
                <c:ptCount val="14"/>
                <c:pt idx="0">
                  <c:v>33.621399999999994</c:v>
                </c:pt>
                <c:pt idx="1">
                  <c:v>3.0303999999999998</c:v>
                </c:pt>
                <c:pt idx="2">
                  <c:v>0</c:v>
                </c:pt>
                <c:pt idx="3">
                  <c:v>28.592500000000001</c:v>
                </c:pt>
                <c:pt idx="4">
                  <c:v>13.1051</c:v>
                </c:pt>
                <c:pt idx="5">
                  <c:v>335.83590000000004</c:v>
                </c:pt>
                <c:pt idx="6">
                  <c:v>12.818999999999999</c:v>
                </c:pt>
                <c:pt idx="7">
                  <c:v>28.523699999999998</c:v>
                </c:pt>
                <c:pt idx="8">
                  <c:v>28.427899999999998</c:v>
                </c:pt>
                <c:pt idx="9">
                  <c:v>5.7814999999999994</c:v>
                </c:pt>
                <c:pt idx="10">
                  <c:v>10.341700000000001</c:v>
                </c:pt>
                <c:pt idx="11">
                  <c:v>10.08</c:v>
                </c:pt>
                <c:pt idx="12">
                  <c:v>35.013100000000001</c:v>
                </c:pt>
                <c:pt idx="13">
                  <c:v>14.839500000000001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A3-43AD-9C01-67AA9D0EBC40}"/>
            </c:ext>
          </c:extLst>
        </c:ser>
        <c:ser>
          <c:idx val="4"/>
          <c:order val="4"/>
          <c:tx>
            <c:strRef>
              <c:f>FZR!$D$1</c:f>
              <c:strCache>
                <c:ptCount val="1"/>
                <c:pt idx="0">
                  <c:v>Actuals upto AUG' 26 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FZR!$A$2:$A$18</c:f>
              <c:strCache>
                <c:ptCount val="14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3600</c:v>
                </c:pt>
                <c:pt idx="9">
                  <c:v>PH 4100</c:v>
                </c:pt>
                <c:pt idx="10">
                  <c:v>PH 4200</c:v>
                </c:pt>
                <c:pt idx="11">
                  <c:v>PH 5100</c:v>
                </c:pt>
                <c:pt idx="12">
                  <c:v>PH 5300</c:v>
                </c:pt>
                <c:pt idx="13">
                  <c:v>PH 6400</c:v>
                </c:pt>
              </c:strCache>
            </c:strRef>
          </c:cat>
          <c:val>
            <c:numRef>
              <c:f>FZR!$D$2:$D$18</c:f>
              <c:numCache>
                <c:formatCode>0.00</c:formatCode>
                <c:ptCount val="14"/>
                <c:pt idx="0">
                  <c:v>21.240759000000001</c:v>
                </c:pt>
                <c:pt idx="1">
                  <c:v>0.796157</c:v>
                </c:pt>
                <c:pt idx="2">
                  <c:v>0.56256800000000007</c:v>
                </c:pt>
                <c:pt idx="3">
                  <c:v>7.7225460000000004</c:v>
                </c:pt>
                <c:pt idx="4">
                  <c:v>11.578313</c:v>
                </c:pt>
                <c:pt idx="5">
                  <c:v>253.27946800000001</c:v>
                </c:pt>
                <c:pt idx="6">
                  <c:v>1.8377439999999998</c:v>
                </c:pt>
                <c:pt idx="7">
                  <c:v>7.5093949999999996</c:v>
                </c:pt>
                <c:pt idx="8">
                  <c:v>10.960508000000001</c:v>
                </c:pt>
                <c:pt idx="9">
                  <c:v>6.0142639999999998</c:v>
                </c:pt>
                <c:pt idx="10">
                  <c:v>2.5275639999999999</c:v>
                </c:pt>
                <c:pt idx="11">
                  <c:v>12.624736</c:v>
                </c:pt>
                <c:pt idx="12">
                  <c:v>33.686857000000003</c:v>
                </c:pt>
                <c:pt idx="13">
                  <c:v>7.8917979999999996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8A3-43AD-9C01-67AA9D0EBC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6768896"/>
        <c:axId val="156782976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FZR!#REF!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FZR!$A$2:$A$18</c15:sqref>
                        </c15:formulaRef>
                      </c:ext>
                    </c:extLst>
                    <c:strCache>
                      <c:ptCount val="14"/>
                      <c:pt idx="0">
                        <c:v>PH 1600</c:v>
                      </c:pt>
                      <c:pt idx="1">
                        <c:v>PH 1700</c:v>
                      </c:pt>
                      <c:pt idx="2">
                        <c:v>PH 2100</c:v>
                      </c:pt>
                      <c:pt idx="3">
                        <c:v>PH 2900</c:v>
                      </c:pt>
                      <c:pt idx="4">
                        <c:v>PH 3000</c:v>
                      </c:pt>
                      <c:pt idx="5">
                        <c:v>PH 3100</c:v>
                      </c:pt>
                      <c:pt idx="6">
                        <c:v>PH 3200</c:v>
                      </c:pt>
                      <c:pt idx="7">
                        <c:v>PH 3300</c:v>
                      </c:pt>
                      <c:pt idx="8">
                        <c:v>PH 3600</c:v>
                      </c:pt>
                      <c:pt idx="9">
                        <c:v>PH 4100</c:v>
                      </c:pt>
                      <c:pt idx="10">
                        <c:v>PH 4200</c:v>
                      </c:pt>
                      <c:pt idx="11">
                        <c:v>PH 5100</c:v>
                      </c:pt>
                      <c:pt idx="12">
                        <c:v>PH 5300</c:v>
                      </c:pt>
                      <c:pt idx="13">
                        <c:v>PH 6400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FZR!#REF!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7-F8A3-43AD-9C01-67AA9D0EBC40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FZR!#REF!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FZR!$A$2:$A$18</c15:sqref>
                        </c15:formulaRef>
                      </c:ext>
                    </c:extLst>
                    <c:strCache>
                      <c:ptCount val="14"/>
                      <c:pt idx="0">
                        <c:v>PH 1600</c:v>
                      </c:pt>
                      <c:pt idx="1">
                        <c:v>PH 1700</c:v>
                      </c:pt>
                      <c:pt idx="2">
                        <c:v>PH 2100</c:v>
                      </c:pt>
                      <c:pt idx="3">
                        <c:v>PH 2900</c:v>
                      </c:pt>
                      <c:pt idx="4">
                        <c:v>PH 3000</c:v>
                      </c:pt>
                      <c:pt idx="5">
                        <c:v>PH 3100</c:v>
                      </c:pt>
                      <c:pt idx="6">
                        <c:v>PH 3200</c:v>
                      </c:pt>
                      <c:pt idx="7">
                        <c:v>PH 3300</c:v>
                      </c:pt>
                      <c:pt idx="8">
                        <c:v>PH 3600</c:v>
                      </c:pt>
                      <c:pt idx="9">
                        <c:v>PH 4100</c:v>
                      </c:pt>
                      <c:pt idx="10">
                        <c:v>PH 4200</c:v>
                      </c:pt>
                      <c:pt idx="11">
                        <c:v>PH 5100</c:v>
                      </c:pt>
                      <c:pt idx="12">
                        <c:v>PH 5300</c:v>
                      </c:pt>
                      <c:pt idx="13">
                        <c:v>PH 6400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FZR!#REF!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F8A3-43AD-9C01-67AA9D0EBC40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5"/>
          <c:order val="5"/>
          <c:tx>
            <c:strRef>
              <c:f>FZR!$E$1</c:f>
              <c:strCache>
                <c:ptCount val="1"/>
                <c:pt idx="0">
                  <c:v>% Utilization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dLbls>
            <c:dLbl>
              <c:idx val="4"/>
              <c:layout>
                <c:manualLayout>
                  <c:x val="1.1514104778353528E-2"/>
                  <c:y val="-7.9365079365079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8A3-43AD-9C01-67AA9D0EBC40}"/>
                </c:ext>
              </c:extLst>
            </c:dLbl>
            <c:dLbl>
              <c:idx val="5"/>
              <c:layout>
                <c:manualLayout>
                  <c:x val="2.1876799078871616E-2"/>
                  <c:y val="-5.93388331440979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8A3-43AD-9C01-67AA9D0EBC40}"/>
                </c:ext>
              </c:extLst>
            </c:dLbl>
            <c:dLbl>
              <c:idx val="12"/>
              <c:layout>
                <c:manualLayout>
                  <c:x val="-1.2665515256188838E-2"/>
                  <c:y val="2.93129911945619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8A3-43AD-9C01-67AA9D0EBC4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FZR!$A$2:$A$18</c:f>
              <c:strCache>
                <c:ptCount val="14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3600</c:v>
                </c:pt>
                <c:pt idx="9">
                  <c:v>PH 4100</c:v>
                </c:pt>
                <c:pt idx="10">
                  <c:v>PH 4200</c:v>
                </c:pt>
                <c:pt idx="11">
                  <c:v>PH 5100</c:v>
                </c:pt>
                <c:pt idx="12">
                  <c:v>PH 5300</c:v>
                </c:pt>
                <c:pt idx="13">
                  <c:v>PH 6400</c:v>
                </c:pt>
              </c:strCache>
            </c:strRef>
          </c:cat>
          <c:val>
            <c:numRef>
              <c:f>FZR!$E$2:$E$18</c:f>
              <c:numCache>
                <c:formatCode>0.00%</c:formatCode>
                <c:ptCount val="14"/>
                <c:pt idx="0">
                  <c:v>0.63176307351865191</c:v>
                </c:pt>
                <c:pt idx="1">
                  <c:v>0.26272340285110879</c:v>
                </c:pt>
                <c:pt idx="2">
                  <c:v>0</c:v>
                </c:pt>
                <c:pt idx="3">
                  <c:v>0.27008991868496984</c:v>
                </c:pt>
                <c:pt idx="4">
                  <c:v>0.88349673028057774</c:v>
                </c:pt>
                <c:pt idx="5">
                  <c:v>0.75417627478182048</c:v>
                </c:pt>
                <c:pt idx="6">
                  <c:v>0.14336094859193385</c:v>
                </c:pt>
                <c:pt idx="7">
                  <c:v>0.2632686152217279</c:v>
                </c:pt>
                <c:pt idx="8">
                  <c:v>0.38555461360142684</c:v>
                </c:pt>
                <c:pt idx="9">
                  <c:v>1.0402601401020497</c:v>
                </c:pt>
                <c:pt idx="10">
                  <c:v>0.24440507846872367</c:v>
                </c:pt>
                <c:pt idx="11">
                  <c:v>1.2524539682539684</c:v>
                </c:pt>
                <c:pt idx="12">
                  <c:v>0.96212152023099928</c:v>
                </c:pt>
                <c:pt idx="13">
                  <c:v>0.53181023619394174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8A3-43AD-9C01-67AA9D0EBC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6786048"/>
        <c:axId val="156784512"/>
      </c:lineChart>
      <c:catAx>
        <c:axId val="15676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3600000"/>
          <a:lstStyle/>
          <a:p>
            <a:pPr>
              <a:defRPr/>
            </a:pPr>
            <a:endParaRPr lang="en-US"/>
          </a:p>
        </c:txPr>
        <c:crossAx val="156782976"/>
        <c:crosses val="autoZero"/>
        <c:auto val="1"/>
        <c:lblAlgn val="ctr"/>
        <c:lblOffset val="100"/>
        <c:noMultiLvlLbl val="0"/>
      </c:catAx>
      <c:valAx>
        <c:axId val="156782976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6768896"/>
        <c:crosses val="autoZero"/>
        <c:crossBetween val="between"/>
      </c:valAx>
      <c:valAx>
        <c:axId val="156784512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6786048"/>
        <c:crosses val="max"/>
        <c:crossBetween val="between"/>
      </c:valAx>
      <c:catAx>
        <c:axId val="1567860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6784512"/>
        <c:crosses val="autoZero"/>
        <c:auto val="1"/>
        <c:lblAlgn val="ctr"/>
        <c:lblOffset val="100"/>
        <c:noMultiLvlLbl val="0"/>
      </c:cat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8518719479110149E-2"/>
          <c:y val="2.4898894523899685E-2"/>
          <c:w val="0.9286345012624917"/>
          <c:h val="0.873633294339021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JAT!$B$1</c:f>
              <c:strCache>
                <c:ptCount val="1"/>
                <c:pt idx="0">
                  <c:v>PLAN HEADS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JAT!$A$2:$A$19</c:f>
              <c:strCache>
                <c:ptCount val="13"/>
                <c:pt idx="0">
                  <c:v>PH1600</c:v>
                </c:pt>
                <c:pt idx="1">
                  <c:v>PH1700</c:v>
                </c:pt>
                <c:pt idx="2">
                  <c:v>PH2900</c:v>
                </c:pt>
                <c:pt idx="3">
                  <c:v>PH3000</c:v>
                </c:pt>
                <c:pt idx="4">
                  <c:v>PH3100</c:v>
                </c:pt>
                <c:pt idx="5">
                  <c:v>PH3200</c:v>
                </c:pt>
                <c:pt idx="6">
                  <c:v>PH3300</c:v>
                </c:pt>
                <c:pt idx="7">
                  <c:v>PH3600</c:v>
                </c:pt>
                <c:pt idx="8">
                  <c:v>PH4100</c:v>
                </c:pt>
                <c:pt idx="9">
                  <c:v>PH4200</c:v>
                </c:pt>
                <c:pt idx="10">
                  <c:v>PH5100</c:v>
                </c:pt>
                <c:pt idx="11">
                  <c:v>PH5300</c:v>
                </c:pt>
                <c:pt idx="12">
                  <c:v>PH6400</c:v>
                </c:pt>
              </c:strCache>
            </c:strRef>
          </c:cat>
          <c:val>
            <c:numRef>
              <c:f>JAT!$B$2:$B$19</c:f>
            </c:numRef>
          </c:val>
          <c:extLst>
            <c:ext xmlns:c16="http://schemas.microsoft.com/office/drawing/2014/chart" uri="{C3380CC4-5D6E-409C-BE32-E72D297353CC}">
              <c16:uniqueId val="{00000000-54FF-4D57-94B1-6B454DD60BC2}"/>
            </c:ext>
          </c:extLst>
        </c:ser>
        <c:ser>
          <c:idx val="1"/>
          <c:order val="1"/>
          <c:tx>
            <c:strRef>
              <c:f>JAT!$C$1</c:f>
              <c:strCache>
                <c:ptCount val="1"/>
                <c:pt idx="0">
                  <c:v>Current Outlay 2026-27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JAT!$A$2:$A$19</c:f>
              <c:strCache>
                <c:ptCount val="13"/>
                <c:pt idx="0">
                  <c:v>PH1600</c:v>
                </c:pt>
                <c:pt idx="1">
                  <c:v>PH1700</c:v>
                </c:pt>
                <c:pt idx="2">
                  <c:v>PH2900</c:v>
                </c:pt>
                <c:pt idx="3">
                  <c:v>PH3000</c:v>
                </c:pt>
                <c:pt idx="4">
                  <c:v>PH3100</c:v>
                </c:pt>
                <c:pt idx="5">
                  <c:v>PH3200</c:v>
                </c:pt>
                <c:pt idx="6">
                  <c:v>PH3300</c:v>
                </c:pt>
                <c:pt idx="7">
                  <c:v>PH3600</c:v>
                </c:pt>
                <c:pt idx="8">
                  <c:v>PH4100</c:v>
                </c:pt>
                <c:pt idx="9">
                  <c:v>PH4200</c:v>
                </c:pt>
                <c:pt idx="10">
                  <c:v>PH5100</c:v>
                </c:pt>
                <c:pt idx="11">
                  <c:v>PH5300</c:v>
                </c:pt>
                <c:pt idx="12">
                  <c:v>PH6400</c:v>
                </c:pt>
              </c:strCache>
            </c:strRef>
          </c:cat>
          <c:val>
            <c:numRef>
              <c:f>JAT!$C$2:$C$19</c:f>
              <c:numCache>
                <c:formatCode>0.00</c:formatCode>
                <c:ptCount val="13"/>
                <c:pt idx="0">
                  <c:v>10.5021</c:v>
                </c:pt>
                <c:pt idx="1">
                  <c:v>1.8833000000000002</c:v>
                </c:pt>
                <c:pt idx="2">
                  <c:v>3.0790000000000002</c:v>
                </c:pt>
                <c:pt idx="3">
                  <c:v>5.75</c:v>
                </c:pt>
                <c:pt idx="4">
                  <c:v>93.909000000000006</c:v>
                </c:pt>
                <c:pt idx="5">
                  <c:v>23.467100000000002</c:v>
                </c:pt>
                <c:pt idx="6">
                  <c:v>8.673</c:v>
                </c:pt>
                <c:pt idx="7">
                  <c:v>16.526399999999999</c:v>
                </c:pt>
                <c:pt idx="8">
                  <c:v>0.83519999999999994</c:v>
                </c:pt>
                <c:pt idx="9">
                  <c:v>5.6387</c:v>
                </c:pt>
                <c:pt idx="10">
                  <c:v>3.19</c:v>
                </c:pt>
                <c:pt idx="11">
                  <c:v>21.614999999999998</c:v>
                </c:pt>
                <c:pt idx="12">
                  <c:v>9.8002000000000002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FF-4D57-94B1-6B454DD60BC2}"/>
            </c:ext>
          </c:extLst>
        </c:ser>
        <c:ser>
          <c:idx val="2"/>
          <c:order val="2"/>
          <c:tx>
            <c:strRef>
              <c:f>JAT!$D$1</c:f>
              <c:strCache>
                <c:ptCount val="1"/>
                <c:pt idx="0">
                  <c:v>Actuals upto AUG' 26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JAT!$A$2:$A$19</c:f>
              <c:strCache>
                <c:ptCount val="13"/>
                <c:pt idx="0">
                  <c:v>PH1600</c:v>
                </c:pt>
                <c:pt idx="1">
                  <c:v>PH1700</c:v>
                </c:pt>
                <c:pt idx="2">
                  <c:v>PH2900</c:v>
                </c:pt>
                <c:pt idx="3">
                  <c:v>PH3000</c:v>
                </c:pt>
                <c:pt idx="4">
                  <c:v>PH3100</c:v>
                </c:pt>
                <c:pt idx="5">
                  <c:v>PH3200</c:v>
                </c:pt>
                <c:pt idx="6">
                  <c:v>PH3300</c:v>
                </c:pt>
                <c:pt idx="7">
                  <c:v>PH3600</c:v>
                </c:pt>
                <c:pt idx="8">
                  <c:v>PH4100</c:v>
                </c:pt>
                <c:pt idx="9">
                  <c:v>PH4200</c:v>
                </c:pt>
                <c:pt idx="10">
                  <c:v>PH5100</c:v>
                </c:pt>
                <c:pt idx="11">
                  <c:v>PH5300</c:v>
                </c:pt>
                <c:pt idx="12">
                  <c:v>PH6400</c:v>
                </c:pt>
              </c:strCache>
            </c:strRef>
          </c:cat>
          <c:val>
            <c:numRef>
              <c:f>JAT!$D$2:$D$19</c:f>
              <c:numCache>
                <c:formatCode>0.00</c:formatCode>
                <c:ptCount val="13"/>
                <c:pt idx="0">
                  <c:v>14.445701999999999</c:v>
                </c:pt>
                <c:pt idx="1">
                  <c:v>1.387024</c:v>
                </c:pt>
                <c:pt idx="2">
                  <c:v>0.70763900000000002</c:v>
                </c:pt>
                <c:pt idx="3">
                  <c:v>3.117111</c:v>
                </c:pt>
                <c:pt idx="4">
                  <c:v>108.58508400000001</c:v>
                </c:pt>
                <c:pt idx="5">
                  <c:v>31.863655999999999</c:v>
                </c:pt>
                <c:pt idx="6">
                  <c:v>0.97982099999999994</c:v>
                </c:pt>
                <c:pt idx="7">
                  <c:v>5.2073839999999993</c:v>
                </c:pt>
                <c:pt idx="8">
                  <c:v>0</c:v>
                </c:pt>
                <c:pt idx="9">
                  <c:v>0.145146</c:v>
                </c:pt>
                <c:pt idx="10">
                  <c:v>6.9353199999999999</c:v>
                </c:pt>
                <c:pt idx="11">
                  <c:v>15.846349999999999</c:v>
                </c:pt>
                <c:pt idx="12">
                  <c:v>7.4951220000000003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FF-4D57-94B1-6B454DD60B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7270016"/>
        <c:axId val="157271552"/>
      </c:barChart>
      <c:lineChart>
        <c:grouping val="standard"/>
        <c:varyColors val="0"/>
        <c:ser>
          <c:idx val="3"/>
          <c:order val="3"/>
          <c:tx>
            <c:strRef>
              <c:f>JAT!$E$1</c:f>
              <c:strCache>
                <c:ptCount val="1"/>
                <c:pt idx="0">
                  <c:v>% Utilization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dLbls>
            <c:dLbl>
              <c:idx val="2"/>
              <c:layout>
                <c:manualLayout>
                  <c:x val="0"/>
                  <c:y val="-4.35779816513761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FF-4D57-94B1-6B454DD60BC2}"/>
                </c:ext>
              </c:extLst>
            </c:dLbl>
            <c:dLbl>
              <c:idx val="3"/>
              <c:layout>
                <c:manualLayout>
                  <c:x val="6.5111231687466319E-3"/>
                  <c:y val="-5.50458715596330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FF-4D57-94B1-6B454DD60BC2}"/>
                </c:ext>
              </c:extLst>
            </c:dLbl>
            <c:dLbl>
              <c:idx val="4"/>
              <c:layout>
                <c:manualLayout>
                  <c:x val="6.5111231687466319E-3"/>
                  <c:y val="-5.96330275229361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FF-4D57-94B1-6B454DD60BC2}"/>
                </c:ext>
              </c:extLst>
            </c:dLbl>
            <c:dLbl>
              <c:idx val="6"/>
              <c:layout>
                <c:manualLayout>
                  <c:x val="-7.5963103635377114E-3"/>
                  <c:y val="-0.1499608229458615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4FF-4D57-94B1-6B454DD60BC2}"/>
                </c:ext>
              </c:extLst>
            </c:dLbl>
            <c:dLbl>
              <c:idx val="8"/>
              <c:layout>
                <c:manualLayout>
                  <c:x val="-9.7666847531199235E-3"/>
                  <c:y val="-0.184237582476344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4FF-4D57-94B1-6B454DD60BC2}"/>
                </c:ext>
              </c:extLst>
            </c:dLbl>
            <c:dLbl>
              <c:idx val="9"/>
              <c:layout>
                <c:manualLayout>
                  <c:x val="2.7129679869777545E-2"/>
                  <c:y val="-0.1413916330632409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4FF-4D57-94B1-6B454DD60BC2}"/>
                </c:ext>
              </c:extLst>
            </c:dLbl>
            <c:dLbl>
              <c:idx val="10"/>
              <c:layout>
                <c:manualLayout>
                  <c:x val="1.085187194791111E-3"/>
                  <c:y val="-2.75229357798166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4FF-4D57-94B1-6B454DD60BC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JAT!$A$2:$A$19</c:f>
              <c:strCache>
                <c:ptCount val="13"/>
                <c:pt idx="0">
                  <c:v>PH1600</c:v>
                </c:pt>
                <c:pt idx="1">
                  <c:v>PH1700</c:v>
                </c:pt>
                <c:pt idx="2">
                  <c:v>PH2900</c:v>
                </c:pt>
                <c:pt idx="3">
                  <c:v>PH3000</c:v>
                </c:pt>
                <c:pt idx="4">
                  <c:v>PH3100</c:v>
                </c:pt>
                <c:pt idx="5">
                  <c:v>PH3200</c:v>
                </c:pt>
                <c:pt idx="6">
                  <c:v>PH3300</c:v>
                </c:pt>
                <c:pt idx="7">
                  <c:v>PH3600</c:v>
                </c:pt>
                <c:pt idx="8">
                  <c:v>PH4100</c:v>
                </c:pt>
                <c:pt idx="9">
                  <c:v>PH4200</c:v>
                </c:pt>
                <c:pt idx="10">
                  <c:v>PH5100</c:v>
                </c:pt>
                <c:pt idx="11">
                  <c:v>PH5300</c:v>
                </c:pt>
                <c:pt idx="12">
                  <c:v>PH6400</c:v>
                </c:pt>
              </c:strCache>
            </c:strRef>
          </c:cat>
          <c:val>
            <c:numRef>
              <c:f>JAT!$E$2:$E$19</c:f>
              <c:numCache>
                <c:formatCode>0.00%</c:formatCode>
                <c:ptCount val="13"/>
                <c:pt idx="0">
                  <c:v>1.375506041648813</c:v>
                </c:pt>
                <c:pt idx="1">
                  <c:v>0.73648595550363716</c:v>
                </c:pt>
                <c:pt idx="2">
                  <c:v>0.22982754140954856</c:v>
                </c:pt>
                <c:pt idx="3">
                  <c:v>0.54210626086956526</c:v>
                </c:pt>
                <c:pt idx="4">
                  <c:v>1.1562798453822318</c:v>
                </c:pt>
                <c:pt idx="5">
                  <c:v>1.3578011769669025</c:v>
                </c:pt>
                <c:pt idx="6">
                  <c:v>0.1129737115185057</c:v>
                </c:pt>
                <c:pt idx="7">
                  <c:v>0.31509487849743439</c:v>
                </c:pt>
                <c:pt idx="8">
                  <c:v>0</c:v>
                </c:pt>
                <c:pt idx="9">
                  <c:v>2.5741039601326548E-2</c:v>
                </c:pt>
                <c:pt idx="10">
                  <c:v>2.1740815047021944</c:v>
                </c:pt>
                <c:pt idx="11">
                  <c:v>0.73311820495026603</c:v>
                </c:pt>
                <c:pt idx="12">
                  <c:v>0.7647927593314422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54FF-4D57-94B1-6B454DD60B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7283072"/>
        <c:axId val="157273088"/>
      </c:lineChart>
      <c:catAx>
        <c:axId val="157270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7271552"/>
        <c:crosses val="autoZero"/>
        <c:auto val="1"/>
        <c:lblAlgn val="ctr"/>
        <c:lblOffset val="100"/>
        <c:noMultiLvlLbl val="0"/>
      </c:catAx>
      <c:valAx>
        <c:axId val="157271552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7270016"/>
        <c:crosses val="autoZero"/>
        <c:crossBetween val="between"/>
      </c:valAx>
      <c:valAx>
        <c:axId val="157273088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7283072"/>
        <c:crosses val="max"/>
        <c:crossBetween val="between"/>
      </c:valAx>
      <c:catAx>
        <c:axId val="1572830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727308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932415054195278"/>
          <c:y val="0.9568980789576812"/>
          <c:w val="0.50135161346828416"/>
          <c:h val="4.3101921042319066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LKO!$B$1</c:f>
              <c:strCache>
                <c:ptCount val="1"/>
                <c:pt idx="0">
                  <c:v>PLAN HEADS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LKO!$A$2:$A$19</c:f>
              <c:strCache>
                <c:ptCount val="16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3500</c:v>
                </c:pt>
                <c:pt idx="9">
                  <c:v>PH 3600</c:v>
                </c:pt>
                <c:pt idx="10">
                  <c:v>PH 4100</c:v>
                </c:pt>
                <c:pt idx="11">
                  <c:v>PH 4200</c:v>
                </c:pt>
                <c:pt idx="12">
                  <c:v>PH 5100</c:v>
                </c:pt>
                <c:pt idx="13">
                  <c:v>PH 5300</c:v>
                </c:pt>
                <c:pt idx="14">
                  <c:v>PH 6400</c:v>
                </c:pt>
                <c:pt idx="15">
                  <c:v>PH 6500</c:v>
                </c:pt>
              </c:strCache>
            </c:strRef>
          </c:cat>
          <c:val>
            <c:numRef>
              <c:f>LKO!$B$2:$B$19</c:f>
            </c:numRef>
          </c:val>
          <c:extLst>
            <c:ext xmlns:c16="http://schemas.microsoft.com/office/drawing/2014/chart" uri="{C3380CC4-5D6E-409C-BE32-E72D297353CC}">
              <c16:uniqueId val="{00000000-7750-417C-88B2-645FC8527671}"/>
            </c:ext>
          </c:extLst>
        </c:ser>
        <c:ser>
          <c:idx val="1"/>
          <c:order val="1"/>
          <c:tx>
            <c:strRef>
              <c:f>LKO!$C$1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LKO!$A$2:$A$19</c:f>
              <c:strCache>
                <c:ptCount val="16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3500</c:v>
                </c:pt>
                <c:pt idx="9">
                  <c:v>PH 3600</c:v>
                </c:pt>
                <c:pt idx="10">
                  <c:v>PH 4100</c:v>
                </c:pt>
                <c:pt idx="11">
                  <c:v>PH 4200</c:v>
                </c:pt>
                <c:pt idx="12">
                  <c:v>PH 5100</c:v>
                </c:pt>
                <c:pt idx="13">
                  <c:v>PH 5300</c:v>
                </c:pt>
                <c:pt idx="14">
                  <c:v>PH 6400</c:v>
                </c:pt>
                <c:pt idx="15">
                  <c:v>PH 6500</c:v>
                </c:pt>
              </c:strCache>
            </c:strRef>
          </c:cat>
          <c:val>
            <c:numRef>
              <c:f>LKO!$C$2:$C$19</c:f>
            </c:numRef>
          </c:val>
          <c:extLst>
            <c:ext xmlns:c16="http://schemas.microsoft.com/office/drawing/2014/chart" uri="{C3380CC4-5D6E-409C-BE32-E72D297353CC}">
              <c16:uniqueId val="{00000001-7750-417C-88B2-645FC8527671}"/>
            </c:ext>
          </c:extLst>
        </c:ser>
        <c:ser>
          <c:idx val="2"/>
          <c:order val="2"/>
          <c:tx>
            <c:strRef>
              <c:f>LKO!$D$1</c:f>
              <c:strCache>
                <c:ptCount val="1"/>
                <c:pt idx="0">
                  <c:v>Current Outlay 2026-27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LKO!$A$2:$A$19</c:f>
              <c:strCache>
                <c:ptCount val="16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3500</c:v>
                </c:pt>
                <c:pt idx="9">
                  <c:v>PH 3600</c:v>
                </c:pt>
                <c:pt idx="10">
                  <c:v>PH 4100</c:v>
                </c:pt>
                <c:pt idx="11">
                  <c:v>PH 4200</c:v>
                </c:pt>
                <c:pt idx="12">
                  <c:v>PH 5100</c:v>
                </c:pt>
                <c:pt idx="13">
                  <c:v>PH 5300</c:v>
                </c:pt>
                <c:pt idx="14">
                  <c:v>PH 6400</c:v>
                </c:pt>
                <c:pt idx="15">
                  <c:v>PH 6500</c:v>
                </c:pt>
              </c:strCache>
            </c:strRef>
          </c:cat>
          <c:val>
            <c:numRef>
              <c:f>LKO!$D$2:$D$19</c:f>
              <c:numCache>
                <c:formatCode>0.00</c:formatCode>
                <c:ptCount val="16"/>
                <c:pt idx="0">
                  <c:v>42.405000000000001</c:v>
                </c:pt>
                <c:pt idx="1">
                  <c:v>3.6324999999999998</c:v>
                </c:pt>
                <c:pt idx="2">
                  <c:v>0</c:v>
                </c:pt>
                <c:pt idx="3">
                  <c:v>30.7439</c:v>
                </c:pt>
                <c:pt idx="4">
                  <c:v>58.248199999999997</c:v>
                </c:pt>
                <c:pt idx="5">
                  <c:v>433.51229999999998</c:v>
                </c:pt>
                <c:pt idx="6">
                  <c:v>43.819500000000005</c:v>
                </c:pt>
                <c:pt idx="7">
                  <c:v>25.555399999999999</c:v>
                </c:pt>
                <c:pt idx="8">
                  <c:v>0</c:v>
                </c:pt>
                <c:pt idx="9">
                  <c:v>22.5242</c:v>
                </c:pt>
                <c:pt idx="10">
                  <c:v>8.7957999999999998</c:v>
                </c:pt>
                <c:pt idx="11">
                  <c:v>10.630500000000001</c:v>
                </c:pt>
                <c:pt idx="12">
                  <c:v>9.2700999999999993</c:v>
                </c:pt>
                <c:pt idx="13">
                  <c:v>80.308899999999994</c:v>
                </c:pt>
                <c:pt idx="14">
                  <c:v>30.943100000000001</c:v>
                </c:pt>
                <c:pt idx="15">
                  <c:v>1.9244999999999999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50-417C-88B2-645FC8527671}"/>
            </c:ext>
          </c:extLst>
        </c:ser>
        <c:ser>
          <c:idx val="3"/>
          <c:order val="3"/>
          <c:tx>
            <c:strRef>
              <c:f>LKO!$E$1</c:f>
              <c:strCache>
                <c:ptCount val="1"/>
                <c:pt idx="0">
                  <c:v>Actuals upto JAN'26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LKO!$A$2:$A$19</c:f>
              <c:strCache>
                <c:ptCount val="16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3500</c:v>
                </c:pt>
                <c:pt idx="9">
                  <c:v>PH 3600</c:v>
                </c:pt>
                <c:pt idx="10">
                  <c:v>PH 4100</c:v>
                </c:pt>
                <c:pt idx="11">
                  <c:v>PH 4200</c:v>
                </c:pt>
                <c:pt idx="12">
                  <c:v>PH 5100</c:v>
                </c:pt>
                <c:pt idx="13">
                  <c:v>PH 5300</c:v>
                </c:pt>
                <c:pt idx="14">
                  <c:v>PH 6400</c:v>
                </c:pt>
                <c:pt idx="15">
                  <c:v>PH 6500</c:v>
                </c:pt>
              </c:strCache>
            </c:strRef>
          </c:cat>
          <c:val>
            <c:numRef>
              <c:f>LKO!$E$2:$E$19</c:f>
            </c:numRef>
          </c:val>
          <c:extLst>
            <c:ext xmlns:c16="http://schemas.microsoft.com/office/drawing/2014/chart" uri="{C3380CC4-5D6E-409C-BE32-E72D297353CC}">
              <c16:uniqueId val="{00000003-7750-417C-88B2-645FC8527671}"/>
            </c:ext>
          </c:extLst>
        </c:ser>
        <c:ser>
          <c:idx val="4"/>
          <c:order val="4"/>
          <c:tx>
            <c:strRef>
              <c:f>LKO!$F$1</c:f>
              <c:strCache>
                <c:ptCount val="1"/>
                <c:pt idx="0">
                  <c:v>Actuals      For           FEB' 26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LKO!$A$2:$A$19</c:f>
              <c:strCache>
                <c:ptCount val="16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3500</c:v>
                </c:pt>
                <c:pt idx="9">
                  <c:v>PH 3600</c:v>
                </c:pt>
                <c:pt idx="10">
                  <c:v>PH 4100</c:v>
                </c:pt>
                <c:pt idx="11">
                  <c:v>PH 4200</c:v>
                </c:pt>
                <c:pt idx="12">
                  <c:v>PH 5100</c:v>
                </c:pt>
                <c:pt idx="13">
                  <c:v>PH 5300</c:v>
                </c:pt>
                <c:pt idx="14">
                  <c:v>PH 6400</c:v>
                </c:pt>
                <c:pt idx="15">
                  <c:v>PH 6500</c:v>
                </c:pt>
              </c:strCache>
            </c:strRef>
          </c:cat>
          <c:val>
            <c:numRef>
              <c:f>LKO!$F$2:$F$19</c:f>
            </c:numRef>
          </c:val>
          <c:extLst>
            <c:ext xmlns:c16="http://schemas.microsoft.com/office/drawing/2014/chart" uri="{C3380CC4-5D6E-409C-BE32-E72D297353CC}">
              <c16:uniqueId val="{00000004-7750-417C-88B2-645FC8527671}"/>
            </c:ext>
          </c:extLst>
        </c:ser>
        <c:ser>
          <c:idx val="5"/>
          <c:order val="5"/>
          <c:tx>
            <c:strRef>
              <c:f>LKO!$G$1</c:f>
              <c:strCache>
                <c:ptCount val="1"/>
                <c:pt idx="0">
                  <c:v>Actuals upto AUG' 26 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LKO!$A$2:$A$19</c:f>
              <c:strCache>
                <c:ptCount val="16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3500</c:v>
                </c:pt>
                <c:pt idx="9">
                  <c:v>PH 3600</c:v>
                </c:pt>
                <c:pt idx="10">
                  <c:v>PH 4100</c:v>
                </c:pt>
                <c:pt idx="11">
                  <c:v>PH 4200</c:v>
                </c:pt>
                <c:pt idx="12">
                  <c:v>PH 5100</c:v>
                </c:pt>
                <c:pt idx="13">
                  <c:v>PH 5300</c:v>
                </c:pt>
                <c:pt idx="14">
                  <c:v>PH 6400</c:v>
                </c:pt>
                <c:pt idx="15">
                  <c:v>PH 6500</c:v>
                </c:pt>
              </c:strCache>
            </c:strRef>
          </c:cat>
          <c:val>
            <c:numRef>
              <c:f>LKO!$G$2:$G$19</c:f>
              <c:numCache>
                <c:formatCode>0.00</c:formatCode>
                <c:ptCount val="16"/>
                <c:pt idx="0">
                  <c:v>25.041395999999999</c:v>
                </c:pt>
                <c:pt idx="1">
                  <c:v>0.74285500000000004</c:v>
                </c:pt>
                <c:pt idx="2">
                  <c:v>0</c:v>
                </c:pt>
                <c:pt idx="3">
                  <c:v>31.700659999999999</c:v>
                </c:pt>
                <c:pt idx="4">
                  <c:v>57.838420999999997</c:v>
                </c:pt>
                <c:pt idx="5">
                  <c:v>256.19182499999999</c:v>
                </c:pt>
                <c:pt idx="6">
                  <c:v>41.166109000000006</c:v>
                </c:pt>
                <c:pt idx="7">
                  <c:v>16.680299999999999</c:v>
                </c:pt>
                <c:pt idx="8">
                  <c:v>0</c:v>
                </c:pt>
                <c:pt idx="9">
                  <c:v>12.227196000000001</c:v>
                </c:pt>
                <c:pt idx="10">
                  <c:v>2.795385</c:v>
                </c:pt>
                <c:pt idx="11">
                  <c:v>1.1439059999999999</c:v>
                </c:pt>
                <c:pt idx="12">
                  <c:v>1.32755</c:v>
                </c:pt>
                <c:pt idx="13">
                  <c:v>31.792169000000001</c:v>
                </c:pt>
                <c:pt idx="14">
                  <c:v>7.3518679999999996</c:v>
                </c:pt>
                <c:pt idx="15">
                  <c:v>1.8088409999999999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750-417C-88B2-645FC85276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7355392"/>
        <c:axId val="157373568"/>
      </c:barChart>
      <c:lineChart>
        <c:grouping val="standard"/>
        <c:varyColors val="0"/>
        <c:ser>
          <c:idx val="6"/>
          <c:order val="6"/>
          <c:tx>
            <c:strRef>
              <c:f>LKO!$H$1</c:f>
              <c:strCache>
                <c:ptCount val="1"/>
                <c:pt idx="0">
                  <c:v>% Utilization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dLbls>
            <c:dLbl>
              <c:idx val="4"/>
              <c:layout>
                <c:manualLayout>
                  <c:x val="1.3249603489966387E-2"/>
                  <c:y val="1.14249072333515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750-417C-88B2-645FC8527671}"/>
                </c:ext>
              </c:extLst>
            </c:dLbl>
            <c:dLbl>
              <c:idx val="9"/>
              <c:layout>
                <c:manualLayout>
                  <c:x val="8.096886374612723E-17"/>
                  <c:y val="-5.9409517613428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750-417C-88B2-645FC85276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LKO!$A$2:$A$19</c:f>
              <c:strCache>
                <c:ptCount val="16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3500</c:v>
                </c:pt>
                <c:pt idx="9">
                  <c:v>PH 3600</c:v>
                </c:pt>
                <c:pt idx="10">
                  <c:v>PH 4100</c:v>
                </c:pt>
                <c:pt idx="11">
                  <c:v>PH 4200</c:v>
                </c:pt>
                <c:pt idx="12">
                  <c:v>PH 5100</c:v>
                </c:pt>
                <c:pt idx="13">
                  <c:v>PH 5300</c:v>
                </c:pt>
                <c:pt idx="14">
                  <c:v>PH 6400</c:v>
                </c:pt>
                <c:pt idx="15">
                  <c:v>PH 6500</c:v>
                </c:pt>
              </c:strCache>
            </c:strRef>
          </c:cat>
          <c:val>
            <c:numRef>
              <c:f>LKO!$H$2:$H$19</c:f>
              <c:numCache>
                <c:formatCode>0.00%</c:formatCode>
                <c:ptCount val="16"/>
                <c:pt idx="0">
                  <c:v>0.59052932437212591</c:v>
                </c:pt>
                <c:pt idx="1">
                  <c:v>0.20450240880935996</c:v>
                </c:pt>
                <c:pt idx="2">
                  <c:v>0</c:v>
                </c:pt>
                <c:pt idx="3">
                  <c:v>1.0311203198032781</c:v>
                </c:pt>
                <c:pt idx="4">
                  <c:v>0.99296494998987095</c:v>
                </c:pt>
                <c:pt idx="5">
                  <c:v>0.5909678341306579</c:v>
                </c:pt>
                <c:pt idx="6">
                  <c:v>0.939447255217426</c:v>
                </c:pt>
                <c:pt idx="7">
                  <c:v>0.65271136433004373</c:v>
                </c:pt>
                <c:pt idx="8">
                  <c:v>0</c:v>
                </c:pt>
                <c:pt idx="9">
                  <c:v>0.54284707115014075</c:v>
                </c:pt>
                <c:pt idx="10">
                  <c:v>0.31780906796425568</c:v>
                </c:pt>
                <c:pt idx="11">
                  <c:v>0.10760603922675319</c:v>
                </c:pt>
                <c:pt idx="12">
                  <c:v>0.14320773238692142</c:v>
                </c:pt>
                <c:pt idx="13">
                  <c:v>0.39587354577139028</c:v>
                </c:pt>
                <c:pt idx="14">
                  <c:v>0.23759313061716503</c:v>
                </c:pt>
                <c:pt idx="15">
                  <c:v>0.93990179267342167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750-417C-88B2-645FC85276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7389184"/>
        <c:axId val="157375104"/>
      </c:lineChart>
      <c:catAx>
        <c:axId val="157355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7373568"/>
        <c:crosses val="autoZero"/>
        <c:auto val="1"/>
        <c:lblAlgn val="ctr"/>
        <c:lblOffset val="100"/>
        <c:noMultiLvlLbl val="0"/>
      </c:catAx>
      <c:valAx>
        <c:axId val="1573735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7355392"/>
        <c:crosses val="autoZero"/>
        <c:crossBetween val="between"/>
      </c:valAx>
      <c:valAx>
        <c:axId val="157375104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7389184"/>
        <c:crosses val="max"/>
        <c:crossBetween val="between"/>
      </c:valAx>
      <c:catAx>
        <c:axId val="1573891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7375104"/>
        <c:crosses val="autoZero"/>
        <c:auto val="1"/>
        <c:lblAlgn val="ctr"/>
        <c:lblOffset val="100"/>
        <c:noMultiLvlLbl val="0"/>
      </c:catAx>
      <c:spPr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233830845771148E-2"/>
          <c:y val="1.4883908616836363E-2"/>
          <c:w val="0.86956979806848134"/>
          <c:h val="0.857271831331693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MB!$C$1</c:f>
              <c:strCache>
                <c:ptCount val="1"/>
                <c:pt idx="0">
                  <c:v>Current Outlay 2026-27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1.5218027509511222E-2"/>
                  <c:y val="-2.91180836174007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AFF-48B3-9183-1C45DA150AA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MB!$A$3:$A$18</c:f>
              <c:strCache>
                <c:ptCount val="14"/>
                <c:pt idx="0">
                  <c:v>PH 1600</c:v>
                </c:pt>
                <c:pt idx="1">
                  <c:v>PH 1700</c:v>
                </c:pt>
                <c:pt idx="2">
                  <c:v>PH 2900</c:v>
                </c:pt>
                <c:pt idx="3">
                  <c:v>PH 3000</c:v>
                </c:pt>
                <c:pt idx="4">
                  <c:v>PH 3100</c:v>
                </c:pt>
                <c:pt idx="5">
                  <c:v>PH 3200</c:v>
                </c:pt>
                <c:pt idx="6">
                  <c:v>PH 3300</c:v>
                </c:pt>
                <c:pt idx="7">
                  <c:v>PH 3600</c:v>
                </c:pt>
                <c:pt idx="8">
                  <c:v>PH 4100</c:v>
                </c:pt>
                <c:pt idx="9">
                  <c:v>PH 4200</c:v>
                </c:pt>
                <c:pt idx="10">
                  <c:v>PH 5100</c:v>
                </c:pt>
                <c:pt idx="11">
                  <c:v>PH 5300</c:v>
                </c:pt>
                <c:pt idx="12">
                  <c:v>PH 6400</c:v>
                </c:pt>
                <c:pt idx="13">
                  <c:v>PH 6500</c:v>
                </c:pt>
              </c:strCache>
            </c:strRef>
          </c:cat>
          <c:val>
            <c:numRef>
              <c:f>MB!$C$3:$C$18</c:f>
              <c:numCache>
                <c:formatCode>0.00</c:formatCode>
                <c:ptCount val="14"/>
                <c:pt idx="0">
                  <c:v>16.090299999999999</c:v>
                </c:pt>
                <c:pt idx="1">
                  <c:v>3.2226999999999997</c:v>
                </c:pt>
                <c:pt idx="2">
                  <c:v>12.0318</c:v>
                </c:pt>
                <c:pt idx="3">
                  <c:v>50.742000000000004</c:v>
                </c:pt>
                <c:pt idx="4">
                  <c:v>296.27949999999998</c:v>
                </c:pt>
                <c:pt idx="5">
                  <c:v>13.2257</c:v>
                </c:pt>
                <c:pt idx="6">
                  <c:v>52.284300000000002</c:v>
                </c:pt>
                <c:pt idx="7">
                  <c:v>30.784299999999998</c:v>
                </c:pt>
                <c:pt idx="8">
                  <c:v>1.3190999999999999</c:v>
                </c:pt>
                <c:pt idx="9">
                  <c:v>5.3702000000000005</c:v>
                </c:pt>
                <c:pt idx="10">
                  <c:v>9.75</c:v>
                </c:pt>
                <c:pt idx="11">
                  <c:v>28.190200000000001</c:v>
                </c:pt>
                <c:pt idx="12">
                  <c:v>37.077600000000004</c:v>
                </c:pt>
                <c:pt idx="13">
                  <c:v>0.60099999999999998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F-48B3-9183-1C45DA150AA4}"/>
            </c:ext>
          </c:extLst>
        </c:ser>
        <c:ser>
          <c:idx val="1"/>
          <c:order val="1"/>
          <c:tx>
            <c:strRef>
              <c:f>MB!$D$1</c:f>
              <c:strCache>
                <c:ptCount val="1"/>
                <c:pt idx="0">
                  <c:v>Actuals upto AUG' 26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7559262510974543E-2"/>
                  <c:y val="-8.73542508522022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AFF-48B3-9183-1C45DA150AA4}"/>
                </c:ext>
              </c:extLst>
            </c:dLbl>
            <c:dLbl>
              <c:idx val="1"/>
              <c:layout>
                <c:manualLayout>
                  <c:x val="-1.404741000877963E-2"/>
                  <c:y val="-3.80774939612163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AFF-48B3-9183-1C45DA150AA4}"/>
                </c:ext>
              </c:extLst>
            </c:dLbl>
            <c:dLbl>
              <c:idx val="3"/>
              <c:layout>
                <c:manualLayout>
                  <c:x val="1.2876792508047949E-2"/>
                  <c:y val="-1.34391155157234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AFF-48B3-9183-1C45DA150AA4}"/>
                </c:ext>
              </c:extLst>
            </c:dLbl>
            <c:dLbl>
              <c:idx val="5"/>
              <c:layout>
                <c:manualLayout>
                  <c:x val="-7.0237050043898599E-3"/>
                  <c:y val="-9.40738086100639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AFF-48B3-9183-1C45DA150AA4}"/>
                </c:ext>
              </c:extLst>
            </c:dLbl>
            <c:dLbl>
              <c:idx val="8"/>
              <c:layout>
                <c:manualLayout>
                  <c:x val="-2.3412350014633591E-3"/>
                  <c:y val="-6.71955775786170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AFF-48B3-9183-1C45DA150AA4}"/>
                </c:ext>
              </c:extLst>
            </c:dLbl>
            <c:dLbl>
              <c:idx val="9"/>
              <c:layout>
                <c:manualLayout>
                  <c:x val="-3.5118525021949087E-3"/>
                  <c:y val="-0.111992629297695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AFF-48B3-9183-1C45DA150AA4}"/>
                </c:ext>
              </c:extLst>
            </c:dLbl>
            <c:dLbl>
              <c:idx val="11"/>
              <c:layout>
                <c:manualLayout>
                  <c:x val="-5.8530875036581793E-3"/>
                  <c:y val="-3.35977887893086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AFF-48B3-9183-1C45DA150AA4}"/>
                </c:ext>
              </c:extLst>
            </c:dLbl>
            <c:dLbl>
              <c:idx val="13"/>
              <c:layout>
                <c:manualLayout>
                  <c:x val="-2.3412350014632717E-2"/>
                  <c:y val="-0.1679889439465427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AFF-48B3-9183-1C45DA150AA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MB!$A$3:$A$18</c:f>
              <c:strCache>
                <c:ptCount val="14"/>
                <c:pt idx="0">
                  <c:v>PH 1600</c:v>
                </c:pt>
                <c:pt idx="1">
                  <c:v>PH 1700</c:v>
                </c:pt>
                <c:pt idx="2">
                  <c:v>PH 2900</c:v>
                </c:pt>
                <c:pt idx="3">
                  <c:v>PH 3000</c:v>
                </c:pt>
                <c:pt idx="4">
                  <c:v>PH 3100</c:v>
                </c:pt>
                <c:pt idx="5">
                  <c:v>PH 3200</c:v>
                </c:pt>
                <c:pt idx="6">
                  <c:v>PH 3300</c:v>
                </c:pt>
                <c:pt idx="7">
                  <c:v>PH 3600</c:v>
                </c:pt>
                <c:pt idx="8">
                  <c:v>PH 4100</c:v>
                </c:pt>
                <c:pt idx="9">
                  <c:v>PH 4200</c:v>
                </c:pt>
                <c:pt idx="10">
                  <c:v>PH 5100</c:v>
                </c:pt>
                <c:pt idx="11">
                  <c:v>PH 5300</c:v>
                </c:pt>
                <c:pt idx="12">
                  <c:v>PH 6400</c:v>
                </c:pt>
                <c:pt idx="13">
                  <c:v>PH 6500</c:v>
                </c:pt>
              </c:strCache>
            </c:strRef>
          </c:cat>
          <c:val>
            <c:numRef>
              <c:f>MB!$D$3:$D$18</c:f>
              <c:numCache>
                <c:formatCode>0.00</c:formatCode>
                <c:ptCount val="14"/>
                <c:pt idx="0">
                  <c:v>7.799167999999999</c:v>
                </c:pt>
                <c:pt idx="1">
                  <c:v>1.16509</c:v>
                </c:pt>
                <c:pt idx="2">
                  <c:v>5.7289019999999997</c:v>
                </c:pt>
                <c:pt idx="3">
                  <c:v>36.406350000000003</c:v>
                </c:pt>
                <c:pt idx="4">
                  <c:v>390.09418700000003</c:v>
                </c:pt>
                <c:pt idx="5">
                  <c:v>15.119676</c:v>
                </c:pt>
                <c:pt idx="6">
                  <c:v>12.303824000000001</c:v>
                </c:pt>
                <c:pt idx="7">
                  <c:v>9.4924270000000011</c:v>
                </c:pt>
                <c:pt idx="8">
                  <c:v>2.4272669999999996</c:v>
                </c:pt>
                <c:pt idx="9">
                  <c:v>0.71774899999999997</c:v>
                </c:pt>
                <c:pt idx="10">
                  <c:v>5.8917489999999999</c:v>
                </c:pt>
                <c:pt idx="11">
                  <c:v>43.824344000000004</c:v>
                </c:pt>
                <c:pt idx="12">
                  <c:v>10.141688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FF-48B3-9183-1C45DA150A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55129344"/>
        <c:axId val="155130880"/>
      </c:barChart>
      <c:lineChart>
        <c:grouping val="standard"/>
        <c:varyColors val="0"/>
        <c:ser>
          <c:idx val="2"/>
          <c:order val="2"/>
          <c:tx>
            <c:strRef>
              <c:f>MB!$E$1</c:f>
              <c:strCache>
                <c:ptCount val="1"/>
                <c:pt idx="0">
                  <c:v>% Utilization</c:v>
                </c:pt>
              </c:strCache>
            </c:strRef>
          </c:tx>
          <c:dLbls>
            <c:dLbl>
              <c:idx val="7"/>
              <c:layout>
                <c:manualLayout>
                  <c:x val="-2.3412350014632719E-3"/>
                  <c:y val="-2.01586732735851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AFF-48B3-9183-1C45DA150AA4}"/>
                </c:ext>
              </c:extLst>
            </c:dLbl>
            <c:dLbl>
              <c:idx val="13"/>
              <c:layout>
                <c:manualLayout>
                  <c:x val="-3.8630377524144013E-2"/>
                  <c:y val="-0.241904079283021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AFF-48B3-9183-1C45DA150AA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MB!$A$3:$A$18</c:f>
              <c:strCache>
                <c:ptCount val="14"/>
                <c:pt idx="0">
                  <c:v>PH 1600</c:v>
                </c:pt>
                <c:pt idx="1">
                  <c:v>PH 1700</c:v>
                </c:pt>
                <c:pt idx="2">
                  <c:v>PH 2900</c:v>
                </c:pt>
                <c:pt idx="3">
                  <c:v>PH 3000</c:v>
                </c:pt>
                <c:pt idx="4">
                  <c:v>PH 3100</c:v>
                </c:pt>
                <c:pt idx="5">
                  <c:v>PH 3200</c:v>
                </c:pt>
                <c:pt idx="6">
                  <c:v>PH 3300</c:v>
                </c:pt>
                <c:pt idx="7">
                  <c:v>PH 3600</c:v>
                </c:pt>
                <c:pt idx="8">
                  <c:v>PH 4100</c:v>
                </c:pt>
                <c:pt idx="9">
                  <c:v>PH 4200</c:v>
                </c:pt>
                <c:pt idx="10">
                  <c:v>PH 5100</c:v>
                </c:pt>
                <c:pt idx="11">
                  <c:v>PH 5300</c:v>
                </c:pt>
                <c:pt idx="12">
                  <c:v>PH 6400</c:v>
                </c:pt>
                <c:pt idx="13">
                  <c:v>PH 6500</c:v>
                </c:pt>
              </c:strCache>
            </c:strRef>
          </c:cat>
          <c:val>
            <c:numRef>
              <c:f>MB!$E$3:$E$18</c:f>
              <c:numCache>
                <c:formatCode>0.00%</c:formatCode>
                <c:ptCount val="14"/>
                <c:pt idx="0">
                  <c:v>0.4847124043678489</c:v>
                </c:pt>
                <c:pt idx="1">
                  <c:v>0.36152604958575107</c:v>
                </c:pt>
                <c:pt idx="2">
                  <c:v>0.47614671121527946</c:v>
                </c:pt>
                <c:pt idx="3">
                  <c:v>0.71747960269599154</c:v>
                </c:pt>
                <c:pt idx="4">
                  <c:v>1.3166425182977561</c:v>
                </c:pt>
                <c:pt idx="5">
                  <c:v>1.143204216033934</c:v>
                </c:pt>
                <c:pt idx="6">
                  <c:v>0.23532540361064411</c:v>
                </c:pt>
                <c:pt idx="7">
                  <c:v>0.30835286168598935</c:v>
                </c:pt>
                <c:pt idx="8">
                  <c:v>1.8400932453945871</c:v>
                </c:pt>
                <c:pt idx="9">
                  <c:v>0.1336540538527429</c:v>
                </c:pt>
                <c:pt idx="10">
                  <c:v>0.60428194871794871</c:v>
                </c:pt>
                <c:pt idx="11">
                  <c:v>1.554595001099673</c:v>
                </c:pt>
                <c:pt idx="12">
                  <c:v>0.27352601031350465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AFF-48B3-9183-1C45DA150A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4024192"/>
        <c:axId val="154022656"/>
      </c:lineChart>
      <c:catAx>
        <c:axId val="155129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5130880"/>
        <c:crosses val="autoZero"/>
        <c:auto val="1"/>
        <c:lblAlgn val="ctr"/>
        <c:lblOffset val="100"/>
        <c:noMultiLvlLbl val="0"/>
      </c:catAx>
      <c:valAx>
        <c:axId val="155130880"/>
        <c:scaling>
          <c:orientation val="minMax"/>
        </c:scaling>
        <c:delete val="0"/>
        <c:axPos val="l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5129344"/>
        <c:crosses val="autoZero"/>
        <c:crossBetween val="between"/>
      </c:valAx>
      <c:valAx>
        <c:axId val="154022656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crossAx val="154024192"/>
        <c:crosses val="max"/>
        <c:crossBetween val="between"/>
      </c:valAx>
      <c:catAx>
        <c:axId val="1540241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4022656"/>
        <c:crosses val="autoZero"/>
        <c:auto val="1"/>
        <c:lblAlgn val="ctr"/>
        <c:lblOffset val="100"/>
        <c:noMultiLvlLbl val="0"/>
      </c:cat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UMB!$B$1</c:f>
              <c:strCache>
                <c:ptCount val="1"/>
                <c:pt idx="0">
                  <c:v>PLAN HEADS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UMB!$A$2:$A$18</c:f>
              <c:strCache>
                <c:ptCount val="16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3600</c:v>
                </c:pt>
                <c:pt idx="9">
                  <c:v>PH 4100</c:v>
                </c:pt>
                <c:pt idx="10">
                  <c:v>PH 4200</c:v>
                </c:pt>
                <c:pt idx="11">
                  <c:v>PH 5100</c:v>
                </c:pt>
                <c:pt idx="12">
                  <c:v>PH 5300</c:v>
                </c:pt>
                <c:pt idx="13">
                  <c:v>PH 6400</c:v>
                </c:pt>
                <c:pt idx="14">
                  <c:v>PH 6500</c:v>
                </c:pt>
                <c:pt idx="15">
                  <c:v>PH 3500</c:v>
                </c:pt>
              </c:strCache>
            </c:strRef>
          </c:cat>
          <c:val>
            <c:numRef>
              <c:f>UMB!$B$2:$B$18</c:f>
            </c:numRef>
          </c:val>
          <c:extLst>
            <c:ext xmlns:c16="http://schemas.microsoft.com/office/drawing/2014/chart" uri="{C3380CC4-5D6E-409C-BE32-E72D297353CC}">
              <c16:uniqueId val="{00000000-794B-404D-B306-958F9D1A12EA}"/>
            </c:ext>
          </c:extLst>
        </c:ser>
        <c:ser>
          <c:idx val="1"/>
          <c:order val="1"/>
          <c:tx>
            <c:strRef>
              <c:f>UMB!$C$1</c:f>
              <c:strCache>
                <c:ptCount val="1"/>
                <c:pt idx="0">
                  <c:v>Current Outlay 2026-27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UMB!$A$2:$A$18</c:f>
              <c:strCache>
                <c:ptCount val="16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3600</c:v>
                </c:pt>
                <c:pt idx="9">
                  <c:v>PH 4100</c:v>
                </c:pt>
                <c:pt idx="10">
                  <c:v>PH 4200</c:v>
                </c:pt>
                <c:pt idx="11">
                  <c:v>PH 5100</c:v>
                </c:pt>
                <c:pt idx="12">
                  <c:v>PH 5300</c:v>
                </c:pt>
                <c:pt idx="13">
                  <c:v>PH 6400</c:v>
                </c:pt>
                <c:pt idx="14">
                  <c:v>PH 6500</c:v>
                </c:pt>
                <c:pt idx="15">
                  <c:v>PH 3500</c:v>
                </c:pt>
              </c:strCache>
            </c:strRef>
          </c:cat>
          <c:val>
            <c:numRef>
              <c:f>UMB!$C$2:$C$18</c:f>
              <c:numCache>
                <c:formatCode>0.00</c:formatCode>
                <c:ptCount val="16"/>
                <c:pt idx="0">
                  <c:v>15.094100000000001</c:v>
                </c:pt>
                <c:pt idx="1">
                  <c:v>4.0199999999999996</c:v>
                </c:pt>
                <c:pt idx="2">
                  <c:v>0</c:v>
                </c:pt>
                <c:pt idx="3">
                  <c:v>7.0279999999999996</c:v>
                </c:pt>
                <c:pt idx="4">
                  <c:v>11.499199999999998</c:v>
                </c:pt>
                <c:pt idx="5">
                  <c:v>298.97669999999999</c:v>
                </c:pt>
                <c:pt idx="6">
                  <c:v>16.403399999999998</c:v>
                </c:pt>
                <c:pt idx="7">
                  <c:v>14.7821</c:v>
                </c:pt>
                <c:pt idx="8">
                  <c:v>28.004000000000001</c:v>
                </c:pt>
                <c:pt idx="9">
                  <c:v>2.8396000000000003</c:v>
                </c:pt>
                <c:pt idx="10">
                  <c:v>8.1332000000000004</c:v>
                </c:pt>
                <c:pt idx="11">
                  <c:v>17.954999999999998</c:v>
                </c:pt>
                <c:pt idx="12">
                  <c:v>27.622799999999998</c:v>
                </c:pt>
                <c:pt idx="13">
                  <c:v>19.561799999999998</c:v>
                </c:pt>
                <c:pt idx="14">
                  <c:v>1</c:v>
                </c:pt>
                <c:pt idx="15">
                  <c:v>311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4B-404D-B306-958F9D1A12EA}"/>
            </c:ext>
          </c:extLst>
        </c:ser>
        <c:ser>
          <c:idx val="2"/>
          <c:order val="2"/>
          <c:tx>
            <c:strRef>
              <c:f>UMB!$D$1</c:f>
              <c:strCache>
                <c:ptCount val="1"/>
                <c:pt idx="0">
                  <c:v>Actuals upto AUG' 26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UMB!$A$2:$A$18</c:f>
              <c:strCache>
                <c:ptCount val="16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3600</c:v>
                </c:pt>
                <c:pt idx="9">
                  <c:v>PH 4100</c:v>
                </c:pt>
                <c:pt idx="10">
                  <c:v>PH 4200</c:v>
                </c:pt>
                <c:pt idx="11">
                  <c:v>PH 5100</c:v>
                </c:pt>
                <c:pt idx="12">
                  <c:v>PH 5300</c:v>
                </c:pt>
                <c:pt idx="13">
                  <c:v>PH 6400</c:v>
                </c:pt>
                <c:pt idx="14">
                  <c:v>PH 6500</c:v>
                </c:pt>
                <c:pt idx="15">
                  <c:v>PH 3500</c:v>
                </c:pt>
              </c:strCache>
            </c:strRef>
          </c:cat>
          <c:val>
            <c:numRef>
              <c:f>UMB!$D$2:$D$18</c:f>
              <c:numCache>
                <c:formatCode>0.00</c:formatCode>
                <c:ptCount val="16"/>
                <c:pt idx="0">
                  <c:v>20.94435</c:v>
                </c:pt>
                <c:pt idx="1">
                  <c:v>0.39635900000000002</c:v>
                </c:pt>
                <c:pt idx="2">
                  <c:v>0.22458699999999998</c:v>
                </c:pt>
                <c:pt idx="3">
                  <c:v>3.8896800000000002</c:v>
                </c:pt>
                <c:pt idx="4">
                  <c:v>13.134920000000001</c:v>
                </c:pt>
                <c:pt idx="5">
                  <c:v>217.87659500000001</c:v>
                </c:pt>
                <c:pt idx="6">
                  <c:v>7.4879039999999994</c:v>
                </c:pt>
                <c:pt idx="7">
                  <c:v>2.5744099999999999</c:v>
                </c:pt>
                <c:pt idx="8">
                  <c:v>19.740759000000001</c:v>
                </c:pt>
                <c:pt idx="9">
                  <c:v>4.8448830000000003</c:v>
                </c:pt>
                <c:pt idx="10">
                  <c:v>2.134503</c:v>
                </c:pt>
                <c:pt idx="11">
                  <c:v>12.898422999999999</c:v>
                </c:pt>
                <c:pt idx="12">
                  <c:v>13.592760999999999</c:v>
                </c:pt>
                <c:pt idx="13">
                  <c:v>11.140203</c:v>
                </c:pt>
                <c:pt idx="14">
                  <c:v>0.62009899999999996</c:v>
                </c:pt>
                <c:pt idx="15">
                  <c:v>224.33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4B-404D-B306-958F9D1A12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7016064"/>
        <c:axId val="157017600"/>
      </c:barChart>
      <c:lineChart>
        <c:grouping val="standard"/>
        <c:varyColors val="0"/>
        <c:ser>
          <c:idx val="3"/>
          <c:order val="3"/>
          <c:tx>
            <c:strRef>
              <c:f>UMB!$E$1</c:f>
              <c:strCache>
                <c:ptCount val="1"/>
                <c:pt idx="0">
                  <c:v>% Utilization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dLbls>
            <c:dLbl>
              <c:idx val="1"/>
              <c:layout>
                <c:manualLayout>
                  <c:x val="8.6416419119632725E-3"/>
                  <c:y val="-9.36671343448446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94B-404D-B306-958F9D1A12EA}"/>
                </c:ext>
              </c:extLst>
            </c:dLbl>
            <c:dLbl>
              <c:idx val="7"/>
              <c:layout>
                <c:manualLayout>
                  <c:x val="9.7218471509586818E-3"/>
                  <c:y val="-8.71322179952042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94B-404D-B306-958F9D1A12EA}"/>
                </c:ext>
              </c:extLst>
            </c:dLbl>
            <c:dLbl>
              <c:idx val="9"/>
              <c:layout>
                <c:manualLayout>
                  <c:x val="-3.2406157169861658E-3"/>
                  <c:y val="-5.52486187845303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94B-404D-B306-958F9D1A12EA}"/>
                </c:ext>
              </c:extLst>
            </c:dLbl>
            <c:dLbl>
              <c:idx val="10"/>
              <c:layout>
                <c:manualLayout>
                  <c:x val="-3.2406157169861658E-3"/>
                  <c:y val="-3.97790055248621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94B-404D-B306-958F9D1A12EA}"/>
                </c:ext>
              </c:extLst>
            </c:dLbl>
            <c:dLbl>
              <c:idx val="11"/>
              <c:layout>
                <c:manualLayout>
                  <c:x val="0"/>
                  <c:y val="-1.76795580110497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94B-404D-B306-958F9D1A12EA}"/>
                </c:ext>
              </c:extLst>
            </c:dLbl>
            <c:dLbl>
              <c:idx val="14"/>
              <c:layout>
                <c:manualLayout>
                  <c:x val="-2.1604104779908196E-2"/>
                  <c:y val="-6.1878453038674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94B-404D-B306-958F9D1A12E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UMB!$A$2:$A$18</c:f>
              <c:strCache>
                <c:ptCount val="16"/>
                <c:pt idx="0">
                  <c:v>PH 1600</c:v>
                </c:pt>
                <c:pt idx="1">
                  <c:v>PH 1700</c:v>
                </c:pt>
                <c:pt idx="2">
                  <c:v>PH 2100</c:v>
                </c:pt>
                <c:pt idx="3">
                  <c:v>PH 2900</c:v>
                </c:pt>
                <c:pt idx="4">
                  <c:v>PH 3000</c:v>
                </c:pt>
                <c:pt idx="5">
                  <c:v>PH 3100</c:v>
                </c:pt>
                <c:pt idx="6">
                  <c:v>PH 3200</c:v>
                </c:pt>
                <c:pt idx="7">
                  <c:v>PH 3300</c:v>
                </c:pt>
                <c:pt idx="8">
                  <c:v>PH 3600</c:v>
                </c:pt>
                <c:pt idx="9">
                  <c:v>PH 4100</c:v>
                </c:pt>
                <c:pt idx="10">
                  <c:v>PH 4200</c:v>
                </c:pt>
                <c:pt idx="11">
                  <c:v>PH 5100</c:v>
                </c:pt>
                <c:pt idx="12">
                  <c:v>PH 5300</c:v>
                </c:pt>
                <c:pt idx="13">
                  <c:v>PH 6400</c:v>
                </c:pt>
                <c:pt idx="14">
                  <c:v>PH 6500</c:v>
                </c:pt>
                <c:pt idx="15">
                  <c:v>PH 3500</c:v>
                </c:pt>
              </c:strCache>
            </c:strRef>
          </c:cat>
          <c:val>
            <c:numRef>
              <c:f>UMB!$E$2:$E$18</c:f>
              <c:numCache>
                <c:formatCode>0.00%</c:formatCode>
                <c:ptCount val="16"/>
                <c:pt idx="0">
                  <c:v>1.3875852154152946</c:v>
                </c:pt>
                <c:pt idx="1">
                  <c:v>9.8596766169154249E-2</c:v>
                </c:pt>
                <c:pt idx="2">
                  <c:v>0</c:v>
                </c:pt>
                <c:pt idx="3">
                  <c:v>0.55345475241889597</c:v>
                </c:pt>
                <c:pt idx="4">
                  <c:v>1.1422464171420623</c:v>
                </c:pt>
                <c:pt idx="5">
                  <c:v>0.72874105239639075</c:v>
                </c:pt>
                <c:pt idx="6">
                  <c:v>0.45648487508687224</c:v>
                </c:pt>
                <c:pt idx="7">
                  <c:v>0.17415725776445837</c:v>
                </c:pt>
                <c:pt idx="8">
                  <c:v>0.70492640337094703</c:v>
                </c:pt>
                <c:pt idx="9">
                  <c:v>1.7061850260600084</c:v>
                </c:pt>
                <c:pt idx="10">
                  <c:v>0.2624431957900949</c:v>
                </c:pt>
                <c:pt idx="11">
                  <c:v>0.718374993038151</c:v>
                </c:pt>
                <c:pt idx="12">
                  <c:v>0.4920848357154235</c:v>
                </c:pt>
                <c:pt idx="13">
                  <c:v>0.5694876238382971</c:v>
                </c:pt>
                <c:pt idx="14">
                  <c:v>0.62009899999999996</c:v>
                </c:pt>
                <c:pt idx="15">
                  <c:v>0.72131832797427653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94B-404D-B306-958F9D1A12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7672192"/>
        <c:axId val="157019136"/>
      </c:lineChart>
      <c:catAx>
        <c:axId val="157016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7017600"/>
        <c:crosses val="autoZero"/>
        <c:auto val="1"/>
        <c:lblAlgn val="ctr"/>
        <c:lblOffset val="100"/>
        <c:noMultiLvlLbl val="0"/>
      </c:catAx>
      <c:valAx>
        <c:axId val="157017600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7016064"/>
        <c:crosses val="autoZero"/>
        <c:crossBetween val="between"/>
      </c:valAx>
      <c:valAx>
        <c:axId val="157019136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7672192"/>
        <c:crosses val="max"/>
        <c:crossBetween val="between"/>
      </c:valAx>
      <c:catAx>
        <c:axId val="1576721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70191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 b="1" i="0" baseline="0">
          <a:solidFill>
            <a:schemeClr val="tx1"/>
          </a:solidFill>
          <a:latin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DFDD98-A169-4D08-AE9A-EDF4E7C951C7}" type="doc">
      <dgm:prSet loTypeId="urn:microsoft.com/office/officeart/2005/8/layout/hierarchy2" loCatId="hierarchy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C37A9EB1-363D-4757-B595-5110DCC44A5B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Passenger</a:t>
          </a:r>
        </a:p>
      </dgm:t>
    </dgm:pt>
    <dgm:pt modelId="{9F65AF5E-16AC-48E7-A2FE-B2792F2C620F}" type="parTrans" cxnId="{B4037C8E-25BD-48A5-90BD-E11B09805D3A}">
      <dgm:prSet/>
      <dgm:spPr/>
      <dgm:t>
        <a:bodyPr/>
        <a:lstStyle/>
        <a:p>
          <a:endParaRPr lang="en-US"/>
        </a:p>
      </dgm:t>
    </dgm:pt>
    <dgm:pt modelId="{70F6D4E4-1720-40CF-9659-19A5C3C5B286}" type="sibTrans" cxnId="{B4037C8E-25BD-48A5-90BD-E11B09805D3A}">
      <dgm:prSet/>
      <dgm:spPr/>
      <dgm:t>
        <a:bodyPr/>
        <a:lstStyle/>
        <a:p>
          <a:endParaRPr lang="en-US"/>
        </a:p>
      </dgm:t>
    </dgm:pt>
    <dgm:pt modelId="{1BA69C76-905A-4030-B24A-AE5BA7BD968F}">
      <dgm:prSet phldrT="[Text]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Actual v/s COPPY</a:t>
          </a:r>
        </a:p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21.05%</a:t>
          </a:r>
        </a:p>
      </dgm:t>
    </dgm:pt>
    <dgm:pt modelId="{31E1DD86-CF7E-4A86-BF13-2C8B668959A0}" type="parTrans" cxnId="{0BF722A2-43E9-412F-9751-EFF99CA3F4A0}">
      <dgm:prSet/>
      <dgm:spPr/>
      <dgm:t>
        <a:bodyPr/>
        <a:lstStyle/>
        <a:p>
          <a:endParaRPr lang="en-US"/>
        </a:p>
      </dgm:t>
    </dgm:pt>
    <dgm:pt modelId="{723BAD18-C11E-4176-88B3-108172B79654}" type="sibTrans" cxnId="{0BF722A2-43E9-412F-9751-EFF99CA3F4A0}">
      <dgm:prSet/>
      <dgm:spPr/>
      <dgm:t>
        <a:bodyPr/>
        <a:lstStyle/>
        <a:p>
          <a:endParaRPr lang="en-US"/>
        </a:p>
      </dgm:t>
    </dgm:pt>
    <dgm:pt modelId="{52706E5E-E7DF-40C7-A37B-6D8DCD19928D}">
      <dgm:prSet phldrT="[Text]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Actual v/s B.P.</a:t>
          </a:r>
        </a:p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9.66%</a:t>
          </a:r>
        </a:p>
      </dgm:t>
    </dgm:pt>
    <dgm:pt modelId="{5F770C78-7194-44E3-9E4A-FD53478E754F}" type="parTrans" cxnId="{FA06EA7D-2B8B-4B63-A94F-585C5CF7F1F0}">
      <dgm:prSet/>
      <dgm:spPr/>
      <dgm:t>
        <a:bodyPr/>
        <a:lstStyle/>
        <a:p>
          <a:endParaRPr lang="en-US"/>
        </a:p>
      </dgm:t>
    </dgm:pt>
    <dgm:pt modelId="{2501A18F-0751-407B-AB94-2CB54FDBBB19}" type="sibTrans" cxnId="{FA06EA7D-2B8B-4B63-A94F-585C5CF7F1F0}">
      <dgm:prSet/>
      <dgm:spPr/>
      <dgm:t>
        <a:bodyPr/>
        <a:lstStyle/>
        <a:p>
          <a:endParaRPr lang="en-US"/>
        </a:p>
      </dgm:t>
    </dgm:pt>
    <dgm:pt modelId="{03C965B7-25AE-41EF-9F06-6F10967F2C12}" type="pres">
      <dgm:prSet presAssocID="{82DFDD98-A169-4D08-AE9A-EDF4E7C951C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016E923-8F51-481C-9428-D4804C6CD453}" type="pres">
      <dgm:prSet presAssocID="{C37A9EB1-363D-4757-B595-5110DCC44A5B}" presName="root1" presStyleCnt="0"/>
      <dgm:spPr/>
    </dgm:pt>
    <dgm:pt modelId="{C3986598-12E8-49B6-AE58-A5CB0AE7FD0C}" type="pres">
      <dgm:prSet presAssocID="{C37A9EB1-363D-4757-B595-5110DCC44A5B}" presName="LevelOneTextNode" presStyleLbl="node0" presStyleIdx="0" presStyleCnt="1">
        <dgm:presLayoutVars>
          <dgm:chPref val="3"/>
        </dgm:presLayoutVars>
      </dgm:prSet>
      <dgm:spPr/>
    </dgm:pt>
    <dgm:pt modelId="{26B31AB0-9AAE-44B1-9B73-74DDEE333331}" type="pres">
      <dgm:prSet presAssocID="{C37A9EB1-363D-4757-B595-5110DCC44A5B}" presName="level2hierChild" presStyleCnt="0"/>
      <dgm:spPr/>
    </dgm:pt>
    <dgm:pt modelId="{6A923174-B47A-4EBF-88CE-15BD8F93B6C2}" type="pres">
      <dgm:prSet presAssocID="{31E1DD86-CF7E-4A86-BF13-2C8B668959A0}" presName="conn2-1" presStyleLbl="parChTrans1D2" presStyleIdx="0" presStyleCnt="2"/>
      <dgm:spPr/>
    </dgm:pt>
    <dgm:pt modelId="{42621CC6-C573-46D7-96D6-70697A876874}" type="pres">
      <dgm:prSet presAssocID="{31E1DD86-CF7E-4A86-BF13-2C8B668959A0}" presName="connTx" presStyleLbl="parChTrans1D2" presStyleIdx="0" presStyleCnt="2"/>
      <dgm:spPr/>
    </dgm:pt>
    <dgm:pt modelId="{A15D27E2-5477-4FE1-906D-A153D992D053}" type="pres">
      <dgm:prSet presAssocID="{1BA69C76-905A-4030-B24A-AE5BA7BD968F}" presName="root2" presStyleCnt="0"/>
      <dgm:spPr/>
    </dgm:pt>
    <dgm:pt modelId="{E3648CA4-DD03-4DF1-8269-6D7427AAEF4E}" type="pres">
      <dgm:prSet presAssocID="{1BA69C76-905A-4030-B24A-AE5BA7BD968F}" presName="LevelTwoTextNode" presStyleLbl="node2" presStyleIdx="0" presStyleCnt="2">
        <dgm:presLayoutVars>
          <dgm:chPref val="3"/>
        </dgm:presLayoutVars>
      </dgm:prSet>
      <dgm:spPr/>
    </dgm:pt>
    <dgm:pt modelId="{0CF75A1D-F726-4266-A19F-5B38147B3571}" type="pres">
      <dgm:prSet presAssocID="{1BA69C76-905A-4030-B24A-AE5BA7BD968F}" presName="level3hierChild" presStyleCnt="0"/>
      <dgm:spPr/>
    </dgm:pt>
    <dgm:pt modelId="{1BB2EC16-90F9-4932-99A0-DF0541F93481}" type="pres">
      <dgm:prSet presAssocID="{5F770C78-7194-44E3-9E4A-FD53478E754F}" presName="conn2-1" presStyleLbl="parChTrans1D2" presStyleIdx="1" presStyleCnt="2"/>
      <dgm:spPr/>
    </dgm:pt>
    <dgm:pt modelId="{183A3DCD-1D2A-443D-AB1F-925C6CC0CDF4}" type="pres">
      <dgm:prSet presAssocID="{5F770C78-7194-44E3-9E4A-FD53478E754F}" presName="connTx" presStyleLbl="parChTrans1D2" presStyleIdx="1" presStyleCnt="2"/>
      <dgm:spPr/>
    </dgm:pt>
    <dgm:pt modelId="{B3AD6C45-2381-49DC-BC37-8E1F79978F32}" type="pres">
      <dgm:prSet presAssocID="{52706E5E-E7DF-40C7-A37B-6D8DCD19928D}" presName="root2" presStyleCnt="0"/>
      <dgm:spPr/>
    </dgm:pt>
    <dgm:pt modelId="{645F0682-27B0-478C-8CE8-20C35BE01192}" type="pres">
      <dgm:prSet presAssocID="{52706E5E-E7DF-40C7-A37B-6D8DCD19928D}" presName="LevelTwoTextNode" presStyleLbl="node2" presStyleIdx="1" presStyleCnt="2" custLinFactNeighborX="1245" custLinFactNeighborY="5287">
        <dgm:presLayoutVars>
          <dgm:chPref val="3"/>
        </dgm:presLayoutVars>
      </dgm:prSet>
      <dgm:spPr/>
    </dgm:pt>
    <dgm:pt modelId="{EAC88E78-83A5-48A5-BAA8-4504F404BE3B}" type="pres">
      <dgm:prSet presAssocID="{52706E5E-E7DF-40C7-A37B-6D8DCD19928D}" presName="level3hierChild" presStyleCnt="0"/>
      <dgm:spPr/>
    </dgm:pt>
  </dgm:ptLst>
  <dgm:cxnLst>
    <dgm:cxn modelId="{644CDA70-FF66-404C-AB93-C16A5ECC7673}" type="presOf" srcId="{C37A9EB1-363D-4757-B595-5110DCC44A5B}" destId="{C3986598-12E8-49B6-AE58-A5CB0AE7FD0C}" srcOrd="0" destOrd="0" presId="urn:microsoft.com/office/officeart/2005/8/layout/hierarchy2"/>
    <dgm:cxn modelId="{E11D2951-D170-4FB3-872F-CB5AF4FDBCF0}" type="presOf" srcId="{31E1DD86-CF7E-4A86-BF13-2C8B668959A0}" destId="{42621CC6-C573-46D7-96D6-70697A876874}" srcOrd="1" destOrd="0" presId="urn:microsoft.com/office/officeart/2005/8/layout/hierarchy2"/>
    <dgm:cxn modelId="{90EE0C5A-53B9-45A6-871F-88E125796521}" type="presOf" srcId="{31E1DD86-CF7E-4A86-BF13-2C8B668959A0}" destId="{6A923174-B47A-4EBF-88CE-15BD8F93B6C2}" srcOrd="0" destOrd="0" presId="urn:microsoft.com/office/officeart/2005/8/layout/hierarchy2"/>
    <dgm:cxn modelId="{CC96D37A-95E6-42A3-AFB1-97719FE5D9CA}" type="presOf" srcId="{5F770C78-7194-44E3-9E4A-FD53478E754F}" destId="{183A3DCD-1D2A-443D-AB1F-925C6CC0CDF4}" srcOrd="1" destOrd="0" presId="urn:microsoft.com/office/officeart/2005/8/layout/hierarchy2"/>
    <dgm:cxn modelId="{CE570E7B-350B-4D6B-8410-4FC3A2956DCA}" type="presOf" srcId="{52706E5E-E7DF-40C7-A37B-6D8DCD19928D}" destId="{645F0682-27B0-478C-8CE8-20C35BE01192}" srcOrd="0" destOrd="0" presId="urn:microsoft.com/office/officeart/2005/8/layout/hierarchy2"/>
    <dgm:cxn modelId="{FA06EA7D-2B8B-4B63-A94F-585C5CF7F1F0}" srcId="{C37A9EB1-363D-4757-B595-5110DCC44A5B}" destId="{52706E5E-E7DF-40C7-A37B-6D8DCD19928D}" srcOrd="1" destOrd="0" parTransId="{5F770C78-7194-44E3-9E4A-FD53478E754F}" sibTransId="{2501A18F-0751-407B-AB94-2CB54FDBBB19}"/>
    <dgm:cxn modelId="{B4037C8E-25BD-48A5-90BD-E11B09805D3A}" srcId="{82DFDD98-A169-4D08-AE9A-EDF4E7C951C7}" destId="{C37A9EB1-363D-4757-B595-5110DCC44A5B}" srcOrd="0" destOrd="0" parTransId="{9F65AF5E-16AC-48E7-A2FE-B2792F2C620F}" sibTransId="{70F6D4E4-1720-40CF-9659-19A5C3C5B286}"/>
    <dgm:cxn modelId="{B29C01A2-04D6-48C4-832D-FB3ACFD53C9C}" type="presOf" srcId="{1BA69C76-905A-4030-B24A-AE5BA7BD968F}" destId="{E3648CA4-DD03-4DF1-8269-6D7427AAEF4E}" srcOrd="0" destOrd="0" presId="urn:microsoft.com/office/officeart/2005/8/layout/hierarchy2"/>
    <dgm:cxn modelId="{0BF722A2-43E9-412F-9751-EFF99CA3F4A0}" srcId="{C37A9EB1-363D-4757-B595-5110DCC44A5B}" destId="{1BA69C76-905A-4030-B24A-AE5BA7BD968F}" srcOrd="0" destOrd="0" parTransId="{31E1DD86-CF7E-4A86-BF13-2C8B668959A0}" sibTransId="{723BAD18-C11E-4176-88B3-108172B79654}"/>
    <dgm:cxn modelId="{E1E866BC-9527-4833-B3C9-12BF98A35CB9}" type="presOf" srcId="{5F770C78-7194-44E3-9E4A-FD53478E754F}" destId="{1BB2EC16-90F9-4932-99A0-DF0541F93481}" srcOrd="0" destOrd="0" presId="urn:microsoft.com/office/officeart/2005/8/layout/hierarchy2"/>
    <dgm:cxn modelId="{5B8944F7-9854-455C-8BCA-925CD996523E}" type="presOf" srcId="{82DFDD98-A169-4D08-AE9A-EDF4E7C951C7}" destId="{03C965B7-25AE-41EF-9F06-6F10967F2C12}" srcOrd="0" destOrd="0" presId="urn:microsoft.com/office/officeart/2005/8/layout/hierarchy2"/>
    <dgm:cxn modelId="{94282527-22A3-46DE-B769-7C94F21A88AD}" type="presParOf" srcId="{03C965B7-25AE-41EF-9F06-6F10967F2C12}" destId="{3016E923-8F51-481C-9428-D4804C6CD453}" srcOrd="0" destOrd="0" presId="urn:microsoft.com/office/officeart/2005/8/layout/hierarchy2"/>
    <dgm:cxn modelId="{EB606037-F150-41DE-B290-2A72922E6D61}" type="presParOf" srcId="{3016E923-8F51-481C-9428-D4804C6CD453}" destId="{C3986598-12E8-49B6-AE58-A5CB0AE7FD0C}" srcOrd="0" destOrd="0" presId="urn:microsoft.com/office/officeart/2005/8/layout/hierarchy2"/>
    <dgm:cxn modelId="{75C65CB4-C272-4333-96BC-735EE127A769}" type="presParOf" srcId="{3016E923-8F51-481C-9428-D4804C6CD453}" destId="{26B31AB0-9AAE-44B1-9B73-74DDEE333331}" srcOrd="1" destOrd="0" presId="urn:microsoft.com/office/officeart/2005/8/layout/hierarchy2"/>
    <dgm:cxn modelId="{5961AD0C-8BC8-46F8-BEBB-13F09198F82B}" type="presParOf" srcId="{26B31AB0-9AAE-44B1-9B73-74DDEE333331}" destId="{6A923174-B47A-4EBF-88CE-15BD8F93B6C2}" srcOrd="0" destOrd="0" presId="urn:microsoft.com/office/officeart/2005/8/layout/hierarchy2"/>
    <dgm:cxn modelId="{BB65F82D-1441-4F56-9120-A0138D086553}" type="presParOf" srcId="{6A923174-B47A-4EBF-88CE-15BD8F93B6C2}" destId="{42621CC6-C573-46D7-96D6-70697A876874}" srcOrd="0" destOrd="0" presId="urn:microsoft.com/office/officeart/2005/8/layout/hierarchy2"/>
    <dgm:cxn modelId="{BF8EF9B4-4234-4CD3-8D42-D1466050F402}" type="presParOf" srcId="{26B31AB0-9AAE-44B1-9B73-74DDEE333331}" destId="{A15D27E2-5477-4FE1-906D-A153D992D053}" srcOrd="1" destOrd="0" presId="urn:microsoft.com/office/officeart/2005/8/layout/hierarchy2"/>
    <dgm:cxn modelId="{B93992B6-8B28-4EEF-81E2-E05F4EF01236}" type="presParOf" srcId="{A15D27E2-5477-4FE1-906D-A153D992D053}" destId="{E3648CA4-DD03-4DF1-8269-6D7427AAEF4E}" srcOrd="0" destOrd="0" presId="urn:microsoft.com/office/officeart/2005/8/layout/hierarchy2"/>
    <dgm:cxn modelId="{6BA2B9D2-F2B0-4364-B0EC-21495DE66D03}" type="presParOf" srcId="{A15D27E2-5477-4FE1-906D-A153D992D053}" destId="{0CF75A1D-F726-4266-A19F-5B38147B3571}" srcOrd="1" destOrd="0" presId="urn:microsoft.com/office/officeart/2005/8/layout/hierarchy2"/>
    <dgm:cxn modelId="{551786B2-EA5A-4870-92AE-D81F2EAC6548}" type="presParOf" srcId="{26B31AB0-9AAE-44B1-9B73-74DDEE333331}" destId="{1BB2EC16-90F9-4932-99A0-DF0541F93481}" srcOrd="2" destOrd="0" presId="urn:microsoft.com/office/officeart/2005/8/layout/hierarchy2"/>
    <dgm:cxn modelId="{07A4BAC8-5C2C-43D1-8641-62D66B149232}" type="presParOf" srcId="{1BB2EC16-90F9-4932-99A0-DF0541F93481}" destId="{183A3DCD-1D2A-443D-AB1F-925C6CC0CDF4}" srcOrd="0" destOrd="0" presId="urn:microsoft.com/office/officeart/2005/8/layout/hierarchy2"/>
    <dgm:cxn modelId="{84F4A547-0EEF-4AEC-9A28-E074847CD681}" type="presParOf" srcId="{26B31AB0-9AAE-44B1-9B73-74DDEE333331}" destId="{B3AD6C45-2381-49DC-BC37-8E1F79978F32}" srcOrd="3" destOrd="0" presId="urn:microsoft.com/office/officeart/2005/8/layout/hierarchy2"/>
    <dgm:cxn modelId="{217127B1-D813-40A5-8947-97FB199E465E}" type="presParOf" srcId="{B3AD6C45-2381-49DC-BC37-8E1F79978F32}" destId="{645F0682-27B0-478C-8CE8-20C35BE01192}" srcOrd="0" destOrd="0" presId="urn:microsoft.com/office/officeart/2005/8/layout/hierarchy2"/>
    <dgm:cxn modelId="{486F3CB1-DD23-4537-B873-3EAD6B3657B2}" type="presParOf" srcId="{B3AD6C45-2381-49DC-BC37-8E1F79978F32}" destId="{EAC88E78-83A5-48A5-BAA8-4504F404BE3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DFDD98-A169-4D08-AE9A-EDF4E7C951C7}" type="doc">
      <dgm:prSet loTypeId="urn:microsoft.com/office/officeart/2005/8/layout/hierarchy2" loCatId="hierarchy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C37A9EB1-363D-4757-B595-5110DCC44A5B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Goods</a:t>
          </a:r>
        </a:p>
      </dgm:t>
    </dgm:pt>
    <dgm:pt modelId="{9F65AF5E-16AC-48E7-A2FE-B2792F2C620F}" type="parTrans" cxnId="{B4037C8E-25BD-48A5-90BD-E11B09805D3A}">
      <dgm:prSet/>
      <dgm:spPr/>
      <dgm:t>
        <a:bodyPr/>
        <a:lstStyle/>
        <a:p>
          <a:endParaRPr lang="en-US"/>
        </a:p>
      </dgm:t>
    </dgm:pt>
    <dgm:pt modelId="{70F6D4E4-1720-40CF-9659-19A5C3C5B286}" type="sibTrans" cxnId="{B4037C8E-25BD-48A5-90BD-E11B09805D3A}">
      <dgm:prSet/>
      <dgm:spPr/>
      <dgm:t>
        <a:bodyPr/>
        <a:lstStyle/>
        <a:p>
          <a:endParaRPr lang="en-US"/>
        </a:p>
      </dgm:t>
    </dgm:pt>
    <dgm:pt modelId="{1BA69C76-905A-4030-B24A-AE5BA7BD968F}">
      <dgm:prSet phldrT="[Text]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Actual v/s COPPY</a:t>
          </a:r>
        </a:p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-7.44%</a:t>
          </a:r>
        </a:p>
      </dgm:t>
    </dgm:pt>
    <dgm:pt modelId="{31E1DD86-CF7E-4A86-BF13-2C8B668959A0}" type="parTrans" cxnId="{0BF722A2-43E9-412F-9751-EFF99CA3F4A0}">
      <dgm:prSet/>
      <dgm:spPr/>
      <dgm:t>
        <a:bodyPr/>
        <a:lstStyle/>
        <a:p>
          <a:endParaRPr lang="en-US"/>
        </a:p>
      </dgm:t>
    </dgm:pt>
    <dgm:pt modelId="{723BAD18-C11E-4176-88B3-108172B79654}" type="sibTrans" cxnId="{0BF722A2-43E9-412F-9751-EFF99CA3F4A0}">
      <dgm:prSet/>
      <dgm:spPr/>
      <dgm:t>
        <a:bodyPr/>
        <a:lstStyle/>
        <a:p>
          <a:endParaRPr lang="en-US"/>
        </a:p>
      </dgm:t>
    </dgm:pt>
    <dgm:pt modelId="{52706E5E-E7DF-40C7-A37B-6D8DCD19928D}">
      <dgm:prSet phldrT="[Text]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Actual v/s BP</a:t>
          </a:r>
        </a:p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-12.83%</a:t>
          </a:r>
        </a:p>
      </dgm:t>
    </dgm:pt>
    <dgm:pt modelId="{5F770C78-7194-44E3-9E4A-FD53478E754F}" type="parTrans" cxnId="{FA06EA7D-2B8B-4B63-A94F-585C5CF7F1F0}">
      <dgm:prSet/>
      <dgm:spPr/>
      <dgm:t>
        <a:bodyPr/>
        <a:lstStyle/>
        <a:p>
          <a:endParaRPr lang="en-US"/>
        </a:p>
      </dgm:t>
    </dgm:pt>
    <dgm:pt modelId="{2501A18F-0751-407B-AB94-2CB54FDBBB19}" type="sibTrans" cxnId="{FA06EA7D-2B8B-4B63-A94F-585C5CF7F1F0}">
      <dgm:prSet/>
      <dgm:spPr/>
      <dgm:t>
        <a:bodyPr/>
        <a:lstStyle/>
        <a:p>
          <a:endParaRPr lang="en-US"/>
        </a:p>
      </dgm:t>
    </dgm:pt>
    <dgm:pt modelId="{03C965B7-25AE-41EF-9F06-6F10967F2C12}" type="pres">
      <dgm:prSet presAssocID="{82DFDD98-A169-4D08-AE9A-EDF4E7C951C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016E923-8F51-481C-9428-D4804C6CD453}" type="pres">
      <dgm:prSet presAssocID="{C37A9EB1-363D-4757-B595-5110DCC44A5B}" presName="root1" presStyleCnt="0"/>
      <dgm:spPr/>
    </dgm:pt>
    <dgm:pt modelId="{C3986598-12E8-49B6-AE58-A5CB0AE7FD0C}" type="pres">
      <dgm:prSet presAssocID="{C37A9EB1-363D-4757-B595-5110DCC44A5B}" presName="LevelOneTextNode" presStyleLbl="node0" presStyleIdx="0" presStyleCnt="1">
        <dgm:presLayoutVars>
          <dgm:chPref val="3"/>
        </dgm:presLayoutVars>
      </dgm:prSet>
      <dgm:spPr/>
    </dgm:pt>
    <dgm:pt modelId="{26B31AB0-9AAE-44B1-9B73-74DDEE333331}" type="pres">
      <dgm:prSet presAssocID="{C37A9EB1-363D-4757-B595-5110DCC44A5B}" presName="level2hierChild" presStyleCnt="0"/>
      <dgm:spPr/>
    </dgm:pt>
    <dgm:pt modelId="{6A923174-B47A-4EBF-88CE-15BD8F93B6C2}" type="pres">
      <dgm:prSet presAssocID="{31E1DD86-CF7E-4A86-BF13-2C8B668959A0}" presName="conn2-1" presStyleLbl="parChTrans1D2" presStyleIdx="0" presStyleCnt="2"/>
      <dgm:spPr/>
    </dgm:pt>
    <dgm:pt modelId="{42621CC6-C573-46D7-96D6-70697A876874}" type="pres">
      <dgm:prSet presAssocID="{31E1DD86-CF7E-4A86-BF13-2C8B668959A0}" presName="connTx" presStyleLbl="parChTrans1D2" presStyleIdx="0" presStyleCnt="2"/>
      <dgm:spPr/>
    </dgm:pt>
    <dgm:pt modelId="{A15D27E2-5477-4FE1-906D-A153D992D053}" type="pres">
      <dgm:prSet presAssocID="{1BA69C76-905A-4030-B24A-AE5BA7BD968F}" presName="root2" presStyleCnt="0"/>
      <dgm:spPr/>
    </dgm:pt>
    <dgm:pt modelId="{E3648CA4-DD03-4DF1-8269-6D7427AAEF4E}" type="pres">
      <dgm:prSet presAssocID="{1BA69C76-905A-4030-B24A-AE5BA7BD968F}" presName="LevelTwoTextNode" presStyleLbl="node2" presStyleIdx="0" presStyleCnt="2">
        <dgm:presLayoutVars>
          <dgm:chPref val="3"/>
        </dgm:presLayoutVars>
      </dgm:prSet>
      <dgm:spPr/>
    </dgm:pt>
    <dgm:pt modelId="{0CF75A1D-F726-4266-A19F-5B38147B3571}" type="pres">
      <dgm:prSet presAssocID="{1BA69C76-905A-4030-B24A-AE5BA7BD968F}" presName="level3hierChild" presStyleCnt="0"/>
      <dgm:spPr/>
    </dgm:pt>
    <dgm:pt modelId="{1BB2EC16-90F9-4932-99A0-DF0541F93481}" type="pres">
      <dgm:prSet presAssocID="{5F770C78-7194-44E3-9E4A-FD53478E754F}" presName="conn2-1" presStyleLbl="parChTrans1D2" presStyleIdx="1" presStyleCnt="2"/>
      <dgm:spPr/>
    </dgm:pt>
    <dgm:pt modelId="{183A3DCD-1D2A-443D-AB1F-925C6CC0CDF4}" type="pres">
      <dgm:prSet presAssocID="{5F770C78-7194-44E3-9E4A-FD53478E754F}" presName="connTx" presStyleLbl="parChTrans1D2" presStyleIdx="1" presStyleCnt="2"/>
      <dgm:spPr/>
    </dgm:pt>
    <dgm:pt modelId="{B3AD6C45-2381-49DC-BC37-8E1F79978F32}" type="pres">
      <dgm:prSet presAssocID="{52706E5E-E7DF-40C7-A37B-6D8DCD19928D}" presName="root2" presStyleCnt="0"/>
      <dgm:spPr/>
    </dgm:pt>
    <dgm:pt modelId="{645F0682-27B0-478C-8CE8-20C35BE01192}" type="pres">
      <dgm:prSet presAssocID="{52706E5E-E7DF-40C7-A37B-6D8DCD19928D}" presName="LevelTwoTextNode" presStyleLbl="node2" presStyleIdx="1" presStyleCnt="2">
        <dgm:presLayoutVars>
          <dgm:chPref val="3"/>
        </dgm:presLayoutVars>
      </dgm:prSet>
      <dgm:spPr/>
    </dgm:pt>
    <dgm:pt modelId="{EAC88E78-83A5-48A5-BAA8-4504F404BE3B}" type="pres">
      <dgm:prSet presAssocID="{52706E5E-E7DF-40C7-A37B-6D8DCD19928D}" presName="level3hierChild" presStyleCnt="0"/>
      <dgm:spPr/>
    </dgm:pt>
  </dgm:ptLst>
  <dgm:cxnLst>
    <dgm:cxn modelId="{EDB2D711-D9AD-46A2-88D4-D4B7F33832AD}" type="presOf" srcId="{31E1DD86-CF7E-4A86-BF13-2C8B668959A0}" destId="{6A923174-B47A-4EBF-88CE-15BD8F93B6C2}" srcOrd="0" destOrd="0" presId="urn:microsoft.com/office/officeart/2005/8/layout/hierarchy2"/>
    <dgm:cxn modelId="{1D284C1F-6AE9-4038-85EB-872BE777608E}" type="presOf" srcId="{1BA69C76-905A-4030-B24A-AE5BA7BD968F}" destId="{E3648CA4-DD03-4DF1-8269-6D7427AAEF4E}" srcOrd="0" destOrd="0" presId="urn:microsoft.com/office/officeart/2005/8/layout/hierarchy2"/>
    <dgm:cxn modelId="{B4BACA5D-C2E3-43D4-8CDB-609B442FCAEB}" type="presOf" srcId="{5F770C78-7194-44E3-9E4A-FD53478E754F}" destId="{183A3DCD-1D2A-443D-AB1F-925C6CC0CDF4}" srcOrd="1" destOrd="0" presId="urn:microsoft.com/office/officeart/2005/8/layout/hierarchy2"/>
    <dgm:cxn modelId="{311F6B5A-DD01-4BE5-8BAA-D00C2BA7184F}" type="presOf" srcId="{5F770C78-7194-44E3-9E4A-FD53478E754F}" destId="{1BB2EC16-90F9-4932-99A0-DF0541F93481}" srcOrd="0" destOrd="0" presId="urn:microsoft.com/office/officeart/2005/8/layout/hierarchy2"/>
    <dgm:cxn modelId="{517F5A7B-521C-4288-92B4-BCBE24FF884B}" type="presOf" srcId="{C37A9EB1-363D-4757-B595-5110DCC44A5B}" destId="{C3986598-12E8-49B6-AE58-A5CB0AE7FD0C}" srcOrd="0" destOrd="0" presId="urn:microsoft.com/office/officeart/2005/8/layout/hierarchy2"/>
    <dgm:cxn modelId="{FA06EA7D-2B8B-4B63-A94F-585C5CF7F1F0}" srcId="{C37A9EB1-363D-4757-B595-5110DCC44A5B}" destId="{52706E5E-E7DF-40C7-A37B-6D8DCD19928D}" srcOrd="1" destOrd="0" parTransId="{5F770C78-7194-44E3-9E4A-FD53478E754F}" sibTransId="{2501A18F-0751-407B-AB94-2CB54FDBBB19}"/>
    <dgm:cxn modelId="{B4037C8E-25BD-48A5-90BD-E11B09805D3A}" srcId="{82DFDD98-A169-4D08-AE9A-EDF4E7C951C7}" destId="{C37A9EB1-363D-4757-B595-5110DCC44A5B}" srcOrd="0" destOrd="0" parTransId="{9F65AF5E-16AC-48E7-A2FE-B2792F2C620F}" sibTransId="{70F6D4E4-1720-40CF-9659-19A5C3C5B286}"/>
    <dgm:cxn modelId="{0BF722A2-43E9-412F-9751-EFF99CA3F4A0}" srcId="{C37A9EB1-363D-4757-B595-5110DCC44A5B}" destId="{1BA69C76-905A-4030-B24A-AE5BA7BD968F}" srcOrd="0" destOrd="0" parTransId="{31E1DD86-CF7E-4A86-BF13-2C8B668959A0}" sibTransId="{723BAD18-C11E-4176-88B3-108172B79654}"/>
    <dgm:cxn modelId="{E1F259AA-C82F-4046-981D-38EE13114A72}" type="presOf" srcId="{52706E5E-E7DF-40C7-A37B-6D8DCD19928D}" destId="{645F0682-27B0-478C-8CE8-20C35BE01192}" srcOrd="0" destOrd="0" presId="urn:microsoft.com/office/officeart/2005/8/layout/hierarchy2"/>
    <dgm:cxn modelId="{FA1ECDEF-0FC2-4B47-AFF0-B8B6F552AA4A}" type="presOf" srcId="{31E1DD86-CF7E-4A86-BF13-2C8B668959A0}" destId="{42621CC6-C573-46D7-96D6-70697A876874}" srcOrd="1" destOrd="0" presId="urn:microsoft.com/office/officeart/2005/8/layout/hierarchy2"/>
    <dgm:cxn modelId="{B07411FC-17F8-4ED6-82BF-62CA8EBD50B9}" type="presOf" srcId="{82DFDD98-A169-4D08-AE9A-EDF4E7C951C7}" destId="{03C965B7-25AE-41EF-9F06-6F10967F2C12}" srcOrd="0" destOrd="0" presId="urn:microsoft.com/office/officeart/2005/8/layout/hierarchy2"/>
    <dgm:cxn modelId="{327F0252-2225-4DF2-A07B-7AE703A5478E}" type="presParOf" srcId="{03C965B7-25AE-41EF-9F06-6F10967F2C12}" destId="{3016E923-8F51-481C-9428-D4804C6CD453}" srcOrd="0" destOrd="0" presId="urn:microsoft.com/office/officeart/2005/8/layout/hierarchy2"/>
    <dgm:cxn modelId="{1F7A2454-DDED-4A40-8C0D-F5E21C1F7AF5}" type="presParOf" srcId="{3016E923-8F51-481C-9428-D4804C6CD453}" destId="{C3986598-12E8-49B6-AE58-A5CB0AE7FD0C}" srcOrd="0" destOrd="0" presId="urn:microsoft.com/office/officeart/2005/8/layout/hierarchy2"/>
    <dgm:cxn modelId="{A7D3EB0D-963B-4BEE-8072-73BD3EBEEE1E}" type="presParOf" srcId="{3016E923-8F51-481C-9428-D4804C6CD453}" destId="{26B31AB0-9AAE-44B1-9B73-74DDEE333331}" srcOrd="1" destOrd="0" presId="urn:microsoft.com/office/officeart/2005/8/layout/hierarchy2"/>
    <dgm:cxn modelId="{1F2EF97C-5296-4AD3-8873-F03DB83696E1}" type="presParOf" srcId="{26B31AB0-9AAE-44B1-9B73-74DDEE333331}" destId="{6A923174-B47A-4EBF-88CE-15BD8F93B6C2}" srcOrd="0" destOrd="0" presId="urn:microsoft.com/office/officeart/2005/8/layout/hierarchy2"/>
    <dgm:cxn modelId="{CF2DE368-A040-4B7E-B50D-A54546EDE43F}" type="presParOf" srcId="{6A923174-B47A-4EBF-88CE-15BD8F93B6C2}" destId="{42621CC6-C573-46D7-96D6-70697A876874}" srcOrd="0" destOrd="0" presId="urn:microsoft.com/office/officeart/2005/8/layout/hierarchy2"/>
    <dgm:cxn modelId="{ED2CA001-C35A-4BD2-A729-79B3A9244A82}" type="presParOf" srcId="{26B31AB0-9AAE-44B1-9B73-74DDEE333331}" destId="{A15D27E2-5477-4FE1-906D-A153D992D053}" srcOrd="1" destOrd="0" presId="urn:microsoft.com/office/officeart/2005/8/layout/hierarchy2"/>
    <dgm:cxn modelId="{7F1A4FB5-3F11-4A70-BCBA-053CC08C30ED}" type="presParOf" srcId="{A15D27E2-5477-4FE1-906D-A153D992D053}" destId="{E3648CA4-DD03-4DF1-8269-6D7427AAEF4E}" srcOrd="0" destOrd="0" presId="urn:microsoft.com/office/officeart/2005/8/layout/hierarchy2"/>
    <dgm:cxn modelId="{5AC9A075-73B5-4F8C-940E-51172A415A78}" type="presParOf" srcId="{A15D27E2-5477-4FE1-906D-A153D992D053}" destId="{0CF75A1D-F726-4266-A19F-5B38147B3571}" srcOrd="1" destOrd="0" presId="urn:microsoft.com/office/officeart/2005/8/layout/hierarchy2"/>
    <dgm:cxn modelId="{F1990A91-A9FC-421F-85A4-587149637ED6}" type="presParOf" srcId="{26B31AB0-9AAE-44B1-9B73-74DDEE333331}" destId="{1BB2EC16-90F9-4932-99A0-DF0541F93481}" srcOrd="2" destOrd="0" presId="urn:microsoft.com/office/officeart/2005/8/layout/hierarchy2"/>
    <dgm:cxn modelId="{7162F31E-9888-421A-A961-D24727081AD2}" type="presParOf" srcId="{1BB2EC16-90F9-4932-99A0-DF0541F93481}" destId="{183A3DCD-1D2A-443D-AB1F-925C6CC0CDF4}" srcOrd="0" destOrd="0" presId="urn:microsoft.com/office/officeart/2005/8/layout/hierarchy2"/>
    <dgm:cxn modelId="{64ED3004-C204-469D-9334-2B84F4E12E81}" type="presParOf" srcId="{26B31AB0-9AAE-44B1-9B73-74DDEE333331}" destId="{B3AD6C45-2381-49DC-BC37-8E1F79978F32}" srcOrd="3" destOrd="0" presId="urn:microsoft.com/office/officeart/2005/8/layout/hierarchy2"/>
    <dgm:cxn modelId="{AA752F88-56BD-442B-894B-02E024034A21}" type="presParOf" srcId="{B3AD6C45-2381-49DC-BC37-8E1F79978F32}" destId="{645F0682-27B0-478C-8CE8-20C35BE01192}" srcOrd="0" destOrd="0" presId="urn:microsoft.com/office/officeart/2005/8/layout/hierarchy2"/>
    <dgm:cxn modelId="{90ABDEC8-35E5-4ACC-B40C-9C301495C727}" type="presParOf" srcId="{B3AD6C45-2381-49DC-BC37-8E1F79978F32}" destId="{EAC88E78-83A5-48A5-BAA8-4504F404BE3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986598-12E8-49B6-AE58-A5CB0AE7FD0C}">
      <dsp:nvSpPr>
        <dsp:cNvPr id="0" name=""/>
        <dsp:cNvSpPr/>
      </dsp:nvSpPr>
      <dsp:spPr>
        <a:xfrm>
          <a:off x="188" y="524856"/>
          <a:ext cx="1547414" cy="773707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Passenger</a:t>
          </a:r>
        </a:p>
      </dsp:txBody>
      <dsp:txXfrm>
        <a:off x="22849" y="547517"/>
        <a:ext cx="1502092" cy="728385"/>
      </dsp:txXfrm>
    </dsp:sp>
    <dsp:sp modelId="{6A923174-B47A-4EBF-88CE-15BD8F93B6C2}">
      <dsp:nvSpPr>
        <dsp:cNvPr id="0" name=""/>
        <dsp:cNvSpPr/>
      </dsp:nvSpPr>
      <dsp:spPr>
        <a:xfrm rot="19457599">
          <a:off x="1475956" y="651081"/>
          <a:ext cx="762258" cy="76376"/>
        </a:xfrm>
        <a:custGeom>
          <a:avLst/>
          <a:gdLst/>
          <a:ahLst/>
          <a:cxnLst/>
          <a:rect l="0" t="0" r="0" b="0"/>
          <a:pathLst>
            <a:path>
              <a:moveTo>
                <a:pt x="0" y="38188"/>
              </a:moveTo>
              <a:lnTo>
                <a:pt x="762258" y="381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38029" y="670213"/>
        <a:ext cx="38112" cy="38112"/>
      </dsp:txXfrm>
    </dsp:sp>
    <dsp:sp modelId="{E3648CA4-DD03-4DF1-8269-6D7427AAEF4E}">
      <dsp:nvSpPr>
        <dsp:cNvPr id="0" name=""/>
        <dsp:cNvSpPr/>
      </dsp:nvSpPr>
      <dsp:spPr>
        <a:xfrm>
          <a:off x="2166568" y="79974"/>
          <a:ext cx="1547414" cy="7737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Actual v/s COPPY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21.05%</a:t>
          </a:r>
        </a:p>
      </dsp:txBody>
      <dsp:txXfrm>
        <a:off x="2189229" y="102635"/>
        <a:ext cx="1502092" cy="728385"/>
      </dsp:txXfrm>
    </dsp:sp>
    <dsp:sp modelId="{1BB2EC16-90F9-4932-99A0-DF0541F93481}">
      <dsp:nvSpPr>
        <dsp:cNvPr id="0" name=""/>
        <dsp:cNvSpPr/>
      </dsp:nvSpPr>
      <dsp:spPr>
        <a:xfrm rot="2287062">
          <a:off x="1463688" y="1116415"/>
          <a:ext cx="786982" cy="76376"/>
        </a:xfrm>
        <a:custGeom>
          <a:avLst/>
          <a:gdLst/>
          <a:ahLst/>
          <a:cxnLst/>
          <a:rect l="0" t="0" r="0" b="0"/>
          <a:pathLst>
            <a:path>
              <a:moveTo>
                <a:pt x="0" y="38188"/>
              </a:moveTo>
              <a:lnTo>
                <a:pt x="786982" y="381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37505" y="1134929"/>
        <a:ext cx="39349" cy="39349"/>
      </dsp:txXfrm>
    </dsp:sp>
    <dsp:sp modelId="{645F0682-27B0-478C-8CE8-20C35BE01192}">
      <dsp:nvSpPr>
        <dsp:cNvPr id="0" name=""/>
        <dsp:cNvSpPr/>
      </dsp:nvSpPr>
      <dsp:spPr>
        <a:xfrm>
          <a:off x="2166757" y="1010644"/>
          <a:ext cx="1547414" cy="7737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Actual v/s B.P.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9.66%</a:t>
          </a:r>
        </a:p>
      </dsp:txBody>
      <dsp:txXfrm>
        <a:off x="2189418" y="1033305"/>
        <a:ext cx="1502092" cy="7283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986598-12E8-49B6-AE58-A5CB0AE7FD0C}">
      <dsp:nvSpPr>
        <dsp:cNvPr id="0" name=""/>
        <dsp:cNvSpPr/>
      </dsp:nvSpPr>
      <dsp:spPr>
        <a:xfrm>
          <a:off x="209843" y="382628"/>
          <a:ext cx="1327001" cy="663500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Goods</a:t>
          </a:r>
        </a:p>
      </dsp:txBody>
      <dsp:txXfrm>
        <a:off x="229276" y="402061"/>
        <a:ext cx="1288135" cy="624634"/>
      </dsp:txXfrm>
    </dsp:sp>
    <dsp:sp modelId="{6A923174-B47A-4EBF-88CE-15BD8F93B6C2}">
      <dsp:nvSpPr>
        <dsp:cNvPr id="0" name=""/>
        <dsp:cNvSpPr/>
      </dsp:nvSpPr>
      <dsp:spPr>
        <a:xfrm rot="19457599">
          <a:off x="1475403" y="481827"/>
          <a:ext cx="653682" cy="83590"/>
        </a:xfrm>
        <a:custGeom>
          <a:avLst/>
          <a:gdLst/>
          <a:ahLst/>
          <a:cxnLst/>
          <a:rect l="0" t="0" r="0" b="0"/>
          <a:pathLst>
            <a:path>
              <a:moveTo>
                <a:pt x="0" y="41795"/>
              </a:moveTo>
              <a:lnTo>
                <a:pt x="653682" y="417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85902" y="507280"/>
        <a:ext cx="32684" cy="32684"/>
      </dsp:txXfrm>
    </dsp:sp>
    <dsp:sp modelId="{E3648CA4-DD03-4DF1-8269-6D7427AAEF4E}">
      <dsp:nvSpPr>
        <dsp:cNvPr id="0" name=""/>
        <dsp:cNvSpPr/>
      </dsp:nvSpPr>
      <dsp:spPr>
        <a:xfrm>
          <a:off x="2067645" y="1115"/>
          <a:ext cx="1327001" cy="6635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Actual v/s COPPY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-7.44%</a:t>
          </a:r>
        </a:p>
      </dsp:txBody>
      <dsp:txXfrm>
        <a:off x="2087078" y="20548"/>
        <a:ext cx="1288135" cy="624634"/>
      </dsp:txXfrm>
    </dsp:sp>
    <dsp:sp modelId="{1BB2EC16-90F9-4932-99A0-DF0541F93481}">
      <dsp:nvSpPr>
        <dsp:cNvPr id="0" name=""/>
        <dsp:cNvSpPr/>
      </dsp:nvSpPr>
      <dsp:spPr>
        <a:xfrm rot="2142401">
          <a:off x="1475403" y="863340"/>
          <a:ext cx="653682" cy="83590"/>
        </a:xfrm>
        <a:custGeom>
          <a:avLst/>
          <a:gdLst/>
          <a:ahLst/>
          <a:cxnLst/>
          <a:rect l="0" t="0" r="0" b="0"/>
          <a:pathLst>
            <a:path>
              <a:moveTo>
                <a:pt x="0" y="41795"/>
              </a:moveTo>
              <a:lnTo>
                <a:pt x="653682" y="417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85902" y="888793"/>
        <a:ext cx="32684" cy="32684"/>
      </dsp:txXfrm>
    </dsp:sp>
    <dsp:sp modelId="{645F0682-27B0-478C-8CE8-20C35BE01192}">
      <dsp:nvSpPr>
        <dsp:cNvPr id="0" name=""/>
        <dsp:cNvSpPr/>
      </dsp:nvSpPr>
      <dsp:spPr>
        <a:xfrm>
          <a:off x="2067645" y="764141"/>
          <a:ext cx="1327001" cy="6635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Actual v/s BP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-12.83%</a:t>
          </a:r>
        </a:p>
      </dsp:txBody>
      <dsp:txXfrm>
        <a:off x="2087078" y="783574"/>
        <a:ext cx="1288135" cy="6246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495" cy="502989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109" y="0"/>
            <a:ext cx="2985495" cy="502989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16961D7-7988-4516-B8A9-662F925F4493}" type="datetimeFigureOut">
              <a:rPr lang="en-IN"/>
              <a:pPr>
                <a:defRPr/>
              </a:pPr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1325" y="1252538"/>
            <a:ext cx="6005513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9440" y="4821164"/>
            <a:ext cx="5509283" cy="394521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5725"/>
            <a:ext cx="2985495" cy="502989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109" y="9515725"/>
            <a:ext cx="2985495" cy="502989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7E2D053-F0CD-487B-89A4-1600911D4F0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E2D053-F0CD-487B-89A4-1600911D4F00}" type="slidenum">
              <a:rPr lang="en-IN" altLang="en-US" smtClean="0"/>
              <a:pPr>
                <a:defRPr/>
              </a:pPr>
              <a:t>3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38388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472817-9D8F-47E0-B822-EC634734FB83}" type="slidenum">
              <a:rPr lang="en-IN" smtClean="0"/>
              <a:pPr>
                <a:defRPr/>
              </a:pPr>
              <a:t>4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E2D053-F0CD-487B-89A4-1600911D4F00}" type="slidenum">
              <a:rPr lang="en-IN" altLang="en-US" smtClean="0"/>
              <a:pPr>
                <a:defRPr/>
              </a:pPr>
              <a:t>6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004554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E2D053-F0CD-487B-89A4-1600911D4F00}" type="slidenum">
              <a:rPr lang="en-IN" altLang="en-US" smtClean="0"/>
              <a:pPr>
                <a:defRPr/>
              </a:pPr>
              <a:t>7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692613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E2D053-F0CD-487B-89A4-1600911D4F00}" type="slidenum">
              <a:rPr lang="en-IN" altLang="en-US" smtClean="0"/>
              <a:pPr>
                <a:defRPr/>
              </a:pPr>
              <a:t>10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219897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E2D053-F0CD-487B-89A4-1600911D4F00}" type="slidenum">
              <a:rPr lang="en-IN" altLang="en-US" smtClean="0"/>
              <a:pPr>
                <a:defRPr/>
              </a:pPr>
              <a:t>13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71389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E2D053-F0CD-487B-89A4-1600911D4F00}" type="slidenum">
              <a:rPr lang="en-IN" altLang="en-US" smtClean="0"/>
              <a:pPr>
                <a:defRPr/>
              </a:pPr>
              <a:t>15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741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13A48F-BE3E-4CE6-B6D7-3DCB8F2E2357}" type="datetimeFigureOut">
              <a:rPr lang="en-IN"/>
              <a:pPr>
                <a:defRPr/>
              </a:pPr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D47B3-F38B-4EB0-8A8E-F7F687664A4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1F1BD-D240-4F11-AD65-B3F71D9899A2}" type="datetimeFigureOut">
              <a:rPr lang="en-IN"/>
              <a:pPr>
                <a:defRPr/>
              </a:pPr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6521E-7A0E-4618-B14E-54BF5BC8642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EC936-BD9D-4FA7-9DC6-E2E193FB9C4F}" type="datetimeFigureOut">
              <a:rPr lang="en-IN"/>
              <a:pPr>
                <a:defRPr/>
              </a:pPr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13081-A3E5-455E-A787-4BA130645AB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57F9D-793B-4C25-8C1B-AA86B8676F32}" type="datetimeFigureOut">
              <a:rPr lang="en-IN"/>
              <a:pPr>
                <a:defRPr/>
              </a:pPr>
              <a:t>08-09-2026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5D8A74-1164-4A61-BED2-3506ECE46572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A8F88-CB94-4EE6-B15E-3D7F1F985DF5}" type="datetimeFigureOut">
              <a:rPr lang="en-IN"/>
              <a:pPr>
                <a:defRPr/>
              </a:pPr>
              <a:t>08-09-2026</a:t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36F1D-CDE2-4C16-9363-7094A7BF1B4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3EACC-AE48-4955-B94B-F7FEDA451051}" type="datetimeFigureOut">
              <a:rPr lang="en-IN"/>
              <a:pPr>
                <a:defRPr/>
              </a:pPr>
              <a:t>08-09-2026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014CC-F992-432A-AF1F-DBB6B32EBCD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3BBBB3-0046-45B5-B99C-8F2B4F215852}" type="datetimeFigureOut">
              <a:rPr lang="en-IN"/>
              <a:pPr>
                <a:defRPr/>
              </a:pPr>
              <a:t>08-09-2026</a:t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607D9-D91A-482C-8451-A08EE71A9CC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EB0094-B017-4111-9292-8627CB279C4E}" type="datetimeFigureOut">
              <a:rPr lang="en-IN"/>
              <a:pPr>
                <a:defRPr/>
              </a:pPr>
              <a:t>08-09-2026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7B8D88-1FD6-4EF0-B65E-56D880346EB6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DBC14C-249C-47EE-8D85-FEE356CE02D4}" type="datetimeFigureOut">
              <a:rPr lang="en-IN"/>
              <a:pPr>
                <a:defRPr/>
              </a:pPr>
              <a:t>08-09-2026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06F289-3F36-44C4-AEF1-788C308CA07C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AC2751-D5ED-45F3-910C-6B6A7EA299A9}" type="datetimeFigureOut">
              <a:rPr lang="en-IN"/>
              <a:pPr>
                <a:defRPr/>
              </a:pPr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769C50-9E53-48A3-BEB5-E886497E6BD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E1F1E-3C83-47E5-8C7E-38730164EF94}" type="datetimeFigureOut">
              <a:rPr lang="en-IN"/>
              <a:pPr>
                <a:defRPr/>
              </a:pPr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B3246-FE34-45DB-9C75-EA803ADD556D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FD9910D-00A1-4816-82D1-A2B15C42BDBC}" type="datetimeFigureOut">
              <a:rPr lang="en-IN"/>
              <a:pPr>
                <a:defRPr/>
              </a:pPr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33C519B-F76D-4113-922E-B3535081477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chart" Target="../charts/chart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D1D901D-B2F8-4CFA-A6D2-651DEDDEE22D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3075" name="Rectangle 6"/>
          <p:cNvSpPr>
            <a:spLocks noChangeArrowheads="1"/>
          </p:cNvSpPr>
          <p:nvPr/>
        </p:nvSpPr>
        <p:spPr bwMode="auto">
          <a:xfrm>
            <a:off x="2679700" y="1733550"/>
            <a:ext cx="7208838" cy="258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5400" b="1" dirty="0">
                <a:solidFill>
                  <a:srgbClr val="1237EE"/>
                </a:solidFill>
                <a:latin typeface="Times New Roman" pitchFamily="18" charset="0"/>
                <a:cs typeface="Times New Roman" pitchFamily="18" charset="0"/>
              </a:rPr>
              <a:t>Financial Review </a:t>
            </a:r>
          </a:p>
          <a:p>
            <a:pPr algn="ctr"/>
            <a:r>
              <a:rPr lang="en-US" altLang="en-US" sz="5400" b="1" dirty="0">
                <a:solidFill>
                  <a:srgbClr val="1237EE"/>
                </a:solidFill>
                <a:latin typeface="Times New Roman" pitchFamily="18" charset="0"/>
                <a:cs typeface="Times New Roman" pitchFamily="18" charset="0"/>
              </a:rPr>
              <a:t>Northern  Railway</a:t>
            </a:r>
          </a:p>
          <a:p>
            <a:pPr algn="ctr"/>
            <a:r>
              <a:rPr lang="en-US" altLang="en-US" sz="5400" b="1" dirty="0">
                <a:solidFill>
                  <a:srgbClr val="1237EE"/>
                </a:solidFill>
                <a:latin typeface="Times New Roman" pitchFamily="18" charset="0"/>
                <a:cs typeface="Times New Roman" pitchFamily="18" charset="0"/>
              </a:rPr>
              <a:t>AUG-2026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11096625" y="0"/>
            <a:ext cx="1095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342900"/>
            <a:r>
              <a:rPr lang="en-IN" altLang="en-US" b="1">
                <a:solidFill>
                  <a:srgbClr val="000000"/>
                </a:solidFill>
                <a:latin typeface="Times New Roman" pitchFamily="18" charset="0"/>
                <a:ea typeface="Trebuchet MS" pitchFamily="34" charset="0"/>
                <a:cs typeface="Times New Roman" pitchFamily="18" charset="0"/>
                <a:sym typeface="Trebuchet MS" pitchFamily="34" charset="0"/>
              </a:rPr>
              <a:t>Accounts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02DB1-D9E8-A93E-71C1-9AC04C39F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253"/>
            <a:ext cx="10515600" cy="981075"/>
          </a:xfrm>
        </p:spPr>
        <p:txBody>
          <a:bodyPr/>
          <a:lstStyle/>
          <a:p>
            <a:pPr algn="ctr"/>
            <a:r>
              <a:rPr lang="en-IN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Performance of 2026–27 : OWE and Revenue- Target vs Actual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034649" y="670996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/>
        </p:nvGraphicFramePr>
        <p:xfrm>
          <a:off x="612322" y="1379763"/>
          <a:ext cx="10989128" cy="5102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9334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BD74-89F3-F96F-8F7B-79B31053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132" y="21946"/>
            <a:ext cx="10515600" cy="735013"/>
          </a:xfrm>
        </p:spPr>
        <p:txBody>
          <a:bodyPr/>
          <a:lstStyle/>
          <a:p>
            <a:pPr algn="ctr"/>
            <a:r>
              <a:rPr lang="en-IN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Operating Ratio of NR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26269" y="5565913"/>
          <a:ext cx="10416546" cy="11875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75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2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8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258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2503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Heads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latin typeface="Times New Roman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Target </a:t>
                      </a:r>
                      <a:br>
                        <a:rPr lang="en-US" sz="1600" b="1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</a:br>
                      <a:r>
                        <a:rPr lang="en-US" sz="1600" b="1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2026-27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latin typeface="Times New Roman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COPPY   </a:t>
                      </a:r>
                      <a:br>
                        <a:rPr lang="en-US" sz="1600" b="1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</a:br>
                      <a:r>
                        <a:rPr lang="en-US" sz="1600" b="1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AUGUST'25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latin typeface="Times New Roman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Actual to end </a:t>
                      </a:r>
                      <a:br>
                        <a:rPr lang="en-US" sz="1600" b="1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</a:br>
                      <a:r>
                        <a:rPr lang="en-US" sz="1600" b="1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AUGUST'26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latin typeface="Times New Roman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Variation to  COPPY 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latin typeface="Times New Roman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059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Operating Ratio(%)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latin typeface="Times New Roman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u="none" strike="noStrik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itchFamily="18" charset="0"/>
                        </a:rPr>
                        <a:t>149.10</a:t>
                      </a:r>
                      <a:endParaRPr lang="en-US" sz="1600" b="1" i="0" u="none" strike="noStrike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600" b="1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167.22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latin typeface="Times New Roman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600" b="1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159.98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latin typeface="Times New Roman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i="0" u="none" strike="noStrike" baseline="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7.34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9291338-E754-86E6-7518-3C04AFA7B8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7527299"/>
              </p:ext>
            </p:extLst>
          </p:nvPr>
        </p:nvGraphicFramePr>
        <p:xfrm>
          <a:off x="1126269" y="987879"/>
          <a:ext cx="10416545" cy="4490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34645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979158" y="0"/>
            <a:ext cx="10013828" cy="836341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Apportioned</a:t>
            </a:r>
            <a:r>
              <a:rPr lang="en-US" sz="4800" b="1" dirty="0">
                <a:solidFill>
                  <a:srgbClr val="002060"/>
                </a:solidFill>
              </a:rPr>
              <a:t> </a:t>
            </a:r>
            <a:r>
              <a:rPr lang="en-US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Revenue up to AUGUST’26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E3C394-B933-464C-BE62-A59576482AAE}" type="slidenum">
              <a:rPr lang="en-IN"/>
              <a:pPr>
                <a:defRPr/>
              </a:pPr>
              <a:t>4</a:t>
            </a:fld>
            <a:endParaRPr lang="en-IN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52FEE60-2E26-4695-A0DC-17F8667DFD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4818706"/>
              </p:ext>
            </p:extLst>
          </p:nvPr>
        </p:nvGraphicFramePr>
        <p:xfrm>
          <a:off x="1474788" y="5034578"/>
          <a:ext cx="3714172" cy="1823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CBB843D-1AAC-4A65-A815-47AD7032AB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928019"/>
              </p:ext>
            </p:extLst>
          </p:nvPr>
        </p:nvGraphicFramePr>
        <p:xfrm>
          <a:off x="6668655" y="5110154"/>
          <a:ext cx="3604490" cy="1428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082151" y="492866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C4B9EA9-4A63-29FB-EE69-532D4113BBEC}"/>
              </a:ext>
            </a:extLst>
          </p:cNvPr>
          <p:cNvGraphicFramePr>
            <a:graphicFrameLocks/>
          </p:cNvGraphicFramePr>
          <p:nvPr/>
        </p:nvGraphicFramePr>
        <p:xfrm>
          <a:off x="1151164" y="1004207"/>
          <a:ext cx="10507436" cy="4101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4591FC5-D3BB-B8E0-4012-24C8E633D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08" y="141191"/>
            <a:ext cx="10515600" cy="676866"/>
          </a:xfrm>
        </p:spPr>
        <p:txBody>
          <a:bodyPr/>
          <a:lstStyle/>
          <a:p>
            <a:pPr algn="ctr"/>
            <a:r>
              <a:rPr lang="en-IN" sz="3600" b="1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Demand-wise OWE Expenditure </a:t>
            </a:r>
            <a:endParaRPr lang="en-IN" sz="3600" b="1" dirty="0">
              <a:solidFill>
                <a:srgbClr val="1237EE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149765" y="588907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crore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E775088-4323-7FEF-8530-4069BCB397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1940235"/>
              </p:ext>
            </p:extLst>
          </p:nvPr>
        </p:nvGraphicFramePr>
        <p:xfrm>
          <a:off x="719847" y="927460"/>
          <a:ext cx="10992255" cy="5414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675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B7F1698-003C-6711-201E-9F4D17314A0E}"/>
              </a:ext>
            </a:extLst>
          </p:cNvPr>
          <p:cNvSpPr txBox="1">
            <a:spLocks/>
          </p:cNvSpPr>
          <p:nvPr/>
        </p:nvSpPr>
        <p:spPr>
          <a:xfrm>
            <a:off x="838200" y="89551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IN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DLI OWE up to AUGUST ‘26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058400" y="350362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3FB7CBE-F1E6-4CED-E0C3-DC50E5D5AC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2638066"/>
              </p:ext>
            </p:extLst>
          </p:nvPr>
        </p:nvGraphicFramePr>
        <p:xfrm>
          <a:off x="580417" y="939679"/>
          <a:ext cx="11031165" cy="5635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75432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35CC3-AC70-848D-5657-A759440A0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E7DC6A-2099-964B-B91D-BDE2A6E78EB0}"/>
              </a:ext>
            </a:extLst>
          </p:cNvPr>
          <p:cNvSpPr txBox="1">
            <a:spLocks/>
          </p:cNvSpPr>
          <p:nvPr/>
        </p:nvSpPr>
        <p:spPr>
          <a:xfrm>
            <a:off x="838200" y="109242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IN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FZR OWE up to AUGUST ‘26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093567" y="362236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71EF269-5120-7BDB-3352-C6D7277C47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8332584"/>
              </p:ext>
            </p:extLst>
          </p:nvPr>
        </p:nvGraphicFramePr>
        <p:xfrm>
          <a:off x="838200" y="788458"/>
          <a:ext cx="10805809" cy="596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81051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79761-F965-E472-D1CA-8C782928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1A5593-E883-3C79-FB4F-CE912CAF8514}"/>
              </a:ext>
            </a:extLst>
          </p:cNvPr>
          <p:cNvSpPr txBox="1">
            <a:spLocks/>
          </p:cNvSpPr>
          <p:nvPr/>
        </p:nvSpPr>
        <p:spPr>
          <a:xfrm>
            <a:off x="838200" y="163407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IN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JAT OWE up to AUGUST ‘26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082151" y="338486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B7124A1-9837-8FBA-E2A3-A4695F6938EA}"/>
              </a:ext>
            </a:extLst>
          </p:cNvPr>
          <p:cNvGraphicFramePr>
            <a:graphicFrameLocks/>
          </p:cNvGraphicFramePr>
          <p:nvPr/>
        </p:nvGraphicFramePr>
        <p:xfrm>
          <a:off x="544749" y="852119"/>
          <a:ext cx="11128442" cy="5772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20731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46F10-71DA-9FA4-5EA6-A6CF476CE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9FF49F-BCE6-88D9-536A-F82D95AA2A1B}"/>
              </a:ext>
            </a:extLst>
          </p:cNvPr>
          <p:cNvSpPr txBox="1">
            <a:spLocks/>
          </p:cNvSpPr>
          <p:nvPr/>
        </p:nvSpPr>
        <p:spPr>
          <a:xfrm>
            <a:off x="838200" y="18114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IN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LKO OWE up to AUGUST ‘26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058400" y="243484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A53AC89-F0A0-3456-97FD-1D5BFD8BCC7D}"/>
              </a:ext>
            </a:extLst>
          </p:cNvPr>
          <p:cNvGraphicFramePr>
            <a:graphicFrameLocks/>
          </p:cNvGraphicFramePr>
          <p:nvPr/>
        </p:nvGraphicFramePr>
        <p:xfrm>
          <a:off x="651753" y="694981"/>
          <a:ext cx="11144082" cy="5919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36996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7112B-FCC4-A611-C7A0-CAD4703AF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91F488-156F-A5B8-2F1F-733208A51BB9}"/>
              </a:ext>
            </a:extLst>
          </p:cNvPr>
          <p:cNvSpPr txBox="1">
            <a:spLocks/>
          </p:cNvSpPr>
          <p:nvPr/>
        </p:nvSpPr>
        <p:spPr>
          <a:xfrm>
            <a:off x="838200" y="118768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IN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MB OWE up to AUGUST ‘26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165277" y="267235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612FB17-C026-4EC0-DF8B-E2BAAAC2998A}"/>
              </a:ext>
            </a:extLst>
          </p:cNvPr>
          <p:cNvGraphicFramePr>
            <a:graphicFrameLocks/>
          </p:cNvGraphicFramePr>
          <p:nvPr/>
        </p:nvGraphicFramePr>
        <p:xfrm>
          <a:off x="710119" y="754256"/>
          <a:ext cx="10982527" cy="5836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39452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5EAEE-5474-2D40-CFF0-DF712B46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D37244-BA3D-BE70-83DD-9EBD47AA06E2}"/>
              </a:ext>
            </a:extLst>
          </p:cNvPr>
          <p:cNvSpPr txBox="1">
            <a:spLocks/>
          </p:cNvSpPr>
          <p:nvPr/>
        </p:nvSpPr>
        <p:spPr>
          <a:xfrm>
            <a:off x="838200" y="156868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IN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UMB OWE up to AUGUST ‘26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9999023" y="397864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175DA5B-AB98-F407-0F31-E4995E9D0FB0}"/>
              </a:ext>
            </a:extLst>
          </p:cNvPr>
          <p:cNvGraphicFramePr>
            <a:graphicFrameLocks/>
          </p:cNvGraphicFramePr>
          <p:nvPr/>
        </p:nvGraphicFramePr>
        <p:xfrm>
          <a:off x="651754" y="833733"/>
          <a:ext cx="11001982" cy="59464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33809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C8DBD5-19F7-077B-C443-F48A1E1D2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645"/>
            <a:ext cx="10515600" cy="676866"/>
          </a:xfrm>
        </p:spPr>
        <p:txBody>
          <a:bodyPr/>
          <a:lstStyle/>
          <a:p>
            <a:pPr algn="ctr"/>
            <a:r>
              <a:rPr lang="en-IN" sz="28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Controllable PUs- Units with High Expenditure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200904" y="267235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B92D33D-D5C2-39A4-4D73-2B59A4B75243}"/>
              </a:ext>
            </a:extLst>
          </p:cNvPr>
          <p:cNvGraphicFramePr>
            <a:graphicFrameLocks/>
          </p:cNvGraphicFramePr>
          <p:nvPr/>
        </p:nvGraphicFramePr>
        <p:xfrm>
          <a:off x="749030" y="816511"/>
          <a:ext cx="10992255" cy="5457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3679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8BDD166-5E4E-3530-54BE-2DDE81CE7EB5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IN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Net NR Controlled Capex up to AUG‘26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200904" y="302861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F3FBF76-71B7-3AAE-E462-D9C69251CB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5512300"/>
              </p:ext>
            </p:extLst>
          </p:nvPr>
        </p:nvGraphicFramePr>
        <p:xfrm>
          <a:off x="1072055" y="804041"/>
          <a:ext cx="10105697" cy="5479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18426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A6487C0-E916-D557-D6CD-D1A0FE86E9F7}"/>
              </a:ext>
            </a:extLst>
          </p:cNvPr>
          <p:cNvSpPr txBox="1">
            <a:spLocks/>
          </p:cNvSpPr>
          <p:nvPr/>
        </p:nvSpPr>
        <p:spPr>
          <a:xfrm>
            <a:off x="838200" y="163407"/>
            <a:ext cx="10515600" cy="48973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IN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Zonal CAPEX up to AUG‘26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177153" y="267235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48099CC-4CC5-D70F-418B-897AC4370D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1118678"/>
              </p:ext>
            </p:extLst>
          </p:nvPr>
        </p:nvGraphicFramePr>
        <p:xfrm>
          <a:off x="311150" y="709617"/>
          <a:ext cx="11569700" cy="5838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87432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85CA6E-A830-424B-188C-DFF984148070}"/>
              </a:ext>
            </a:extLst>
          </p:cNvPr>
          <p:cNvSpPr txBox="1">
            <a:spLocks/>
          </p:cNvSpPr>
          <p:nvPr/>
        </p:nvSpPr>
        <p:spPr>
          <a:xfrm>
            <a:off x="838200" y="50528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IN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Agency wise CAPEX up to AUG ‘26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046524" y="231609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CEE23F1-F117-3466-9DCB-C0A2CD296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5967361"/>
              </p:ext>
            </p:extLst>
          </p:nvPr>
        </p:nvGraphicFramePr>
        <p:xfrm>
          <a:off x="1229710" y="908475"/>
          <a:ext cx="10124090" cy="5638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59685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EE453C2-55D9-32DA-E722-2F5240B4B81E}"/>
              </a:ext>
            </a:extLst>
          </p:cNvPr>
          <p:cNvSpPr txBox="1">
            <a:spLocks/>
          </p:cNvSpPr>
          <p:nvPr/>
        </p:nvSpPr>
        <p:spPr>
          <a:xfrm>
            <a:off x="838200" y="9657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CAPEX up to AUG ’26 : Construction</a:t>
            </a:r>
            <a:endParaRPr lang="en-US" sz="3200" b="1" dirty="0"/>
          </a:p>
          <a:p>
            <a:pPr algn="ctr"/>
            <a:r>
              <a:rPr lang="en-IN" sz="3200" b="1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094026" y="195983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83FD065-70C7-D96F-8499-D339861605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7145716"/>
              </p:ext>
            </p:extLst>
          </p:nvPr>
        </p:nvGraphicFramePr>
        <p:xfrm>
          <a:off x="773112" y="872849"/>
          <a:ext cx="10645775" cy="5664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11790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528CEA-1E48-D5FB-F827-69FC69E0AB91}"/>
              </a:ext>
            </a:extLst>
          </p:cNvPr>
          <p:cNvSpPr txBox="1">
            <a:spLocks/>
          </p:cNvSpPr>
          <p:nvPr/>
        </p:nvSpPr>
        <p:spPr>
          <a:xfrm>
            <a:off x="506412" y="86203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CAPEX up to AUG’26 : DLI</a:t>
            </a:r>
          </a:p>
          <a:p>
            <a:pPr algn="ctr"/>
            <a:r>
              <a:rPr lang="en-IN" sz="3200" b="1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129651" y="255359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7C62BDF-C7F8-041B-2A34-05780E8E6B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4099482"/>
              </p:ext>
            </p:extLst>
          </p:nvPr>
        </p:nvGraphicFramePr>
        <p:xfrm>
          <a:off x="506412" y="932225"/>
          <a:ext cx="11179175" cy="5670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0034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1C54-5CDB-2EF4-E503-93C888F9E2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4C429-761F-2634-EC3C-47354E7548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F35BFF2-2300-04A9-F54B-86A6BED16911}"/>
              </a:ext>
            </a:extLst>
          </p:cNvPr>
          <p:cNvGraphicFramePr>
            <a:graphicFrameLocks/>
          </p:cNvGraphicFramePr>
          <p:nvPr/>
        </p:nvGraphicFramePr>
        <p:xfrm>
          <a:off x="581025" y="778213"/>
          <a:ext cx="11029950" cy="5632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9EA94AB5-78D2-649A-D2E9-4491F816C633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CAPEX up to AUG’26 : FZR</a:t>
            </a:r>
          </a:p>
          <a:p>
            <a:pPr algn="ctr"/>
            <a:r>
              <a:rPr lang="en-IN" sz="3200" b="1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7260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544A4-3D80-0971-4118-5B78DD76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7E8CE5A-A67D-84F1-48B9-68681AA2CF99}"/>
              </a:ext>
            </a:extLst>
          </p:cNvPr>
          <p:cNvSpPr txBox="1">
            <a:spLocks/>
          </p:cNvSpPr>
          <p:nvPr/>
        </p:nvSpPr>
        <p:spPr>
          <a:xfrm>
            <a:off x="651588" y="0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CAPEX up to AUG’26 : JAT</a:t>
            </a:r>
          </a:p>
          <a:p>
            <a:pPr algn="ctr"/>
            <a:r>
              <a:rPr lang="en-IN" sz="3200" b="1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248404" y="148482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423894F-D781-CBF2-66D6-F4563C20AB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0185806"/>
              </p:ext>
            </p:extLst>
          </p:nvPr>
        </p:nvGraphicFramePr>
        <p:xfrm>
          <a:off x="244475" y="676866"/>
          <a:ext cx="11703050" cy="5928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89990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9595-103D-B8C5-9CC9-F2AB2CDC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F85AEC-7F39-4777-4061-D4BF66A7733C}"/>
              </a:ext>
            </a:extLst>
          </p:cNvPr>
          <p:cNvSpPr txBox="1">
            <a:spLocks/>
          </p:cNvSpPr>
          <p:nvPr/>
        </p:nvSpPr>
        <p:spPr>
          <a:xfrm>
            <a:off x="520959" y="113199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CAPEX up to AUG’26 : LKO</a:t>
            </a:r>
          </a:p>
          <a:p>
            <a:pPr algn="ctr"/>
            <a:r>
              <a:rPr lang="en-IN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260280" y="302861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7CC6CC3-EEE2-1EB8-062A-52CE1DBEA9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8372392"/>
              </p:ext>
            </p:extLst>
          </p:nvPr>
        </p:nvGraphicFramePr>
        <p:xfrm>
          <a:off x="344884" y="790065"/>
          <a:ext cx="11502231" cy="5747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8689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C0638-5832-EF7D-4FBC-A6A040A8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39FA7D-3824-4B90-AC5D-9C3DF5326614}"/>
              </a:ext>
            </a:extLst>
          </p:cNvPr>
          <p:cNvSpPr txBox="1">
            <a:spLocks/>
          </p:cNvSpPr>
          <p:nvPr/>
        </p:nvSpPr>
        <p:spPr>
          <a:xfrm>
            <a:off x="576943" y="159852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CAPEX up to AUG’26 : MB</a:t>
            </a:r>
          </a:p>
          <a:p>
            <a:pPr algn="ctr"/>
            <a:r>
              <a:rPr lang="en-IN" sz="3200" b="1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153402" y="267234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C23F43F-8204-B6B6-5A95-939F138D62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7365528"/>
              </p:ext>
            </p:extLst>
          </p:nvPr>
        </p:nvGraphicFramePr>
        <p:xfrm>
          <a:off x="671512" y="920750"/>
          <a:ext cx="10848975" cy="5670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42592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4D7A1-00B0-B78C-7FB1-F83D4CD5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8C795A-CDC7-DB8A-4D40-76A69CB39F72}"/>
              </a:ext>
            </a:extLst>
          </p:cNvPr>
          <p:cNvSpPr txBox="1">
            <a:spLocks/>
          </p:cNvSpPr>
          <p:nvPr/>
        </p:nvSpPr>
        <p:spPr>
          <a:xfrm>
            <a:off x="623596" y="0"/>
            <a:ext cx="10515600" cy="6768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3600" b="1" dirty="0">
                <a:solidFill>
                  <a:srgbClr val="1237E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CAPEX up to AUG’26 : UMB</a:t>
            </a:r>
          </a:p>
          <a:p>
            <a:pPr algn="ctr"/>
            <a:r>
              <a:rPr lang="en-IN" sz="3200" b="1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4641-D834-1A2E-2AA5-12947EA94F4B}"/>
              </a:ext>
            </a:extLst>
          </p:cNvPr>
          <p:cNvSpPr txBox="1"/>
          <p:nvPr/>
        </p:nvSpPr>
        <p:spPr>
          <a:xfrm>
            <a:off x="10082150" y="184107"/>
            <a:ext cx="1737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(fig. in </a:t>
            </a:r>
            <a:r>
              <a:rPr lang="en-IN" sz="1600" b="1" i="1" dirty="0" err="1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crore</a:t>
            </a:r>
            <a:r>
              <a:rPr lang="en-IN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600" b="1" i="1" dirty="0">
                <a:solidFill>
                  <a:srgbClr val="123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₹)</a:t>
            </a:r>
            <a:endParaRPr lang="en-IN" sz="1600" b="1" i="1" dirty="0">
              <a:solidFill>
                <a:srgbClr val="1237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90C262C-F2DB-9AB7-A5E6-4C2B0AA0BB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7415314"/>
              </p:ext>
            </p:extLst>
          </p:nvPr>
        </p:nvGraphicFramePr>
        <p:xfrm>
          <a:off x="217487" y="697039"/>
          <a:ext cx="11757025" cy="5830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4338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663825" y="2803525"/>
            <a:ext cx="6864350" cy="966788"/>
          </a:xfrm>
        </p:spPr>
        <p:txBody>
          <a:bodyPr/>
          <a:lstStyle/>
          <a:p>
            <a:pPr marL="0" indent="0" algn="ctr" eaLnBrk="1" hangingPunct="1">
              <a:buFont typeface="Arial" pitchFamily="34" charset="0"/>
              <a:buNone/>
            </a:pPr>
            <a:r>
              <a:rPr lang="en-IN" altLang="en-US" sz="54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